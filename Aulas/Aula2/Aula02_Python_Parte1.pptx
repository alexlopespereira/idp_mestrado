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7" r:id="rId1"/>
  </p:sldMasterIdLst>
  <p:notesMasterIdLst>
    <p:notesMasterId r:id="rId56"/>
  </p:notesMasterIdLst>
  <p:sldIdLst>
    <p:sldId id="256" r:id="rId2"/>
    <p:sldId id="704" r:id="rId3"/>
    <p:sldId id="569" r:id="rId4"/>
    <p:sldId id="572" r:id="rId5"/>
    <p:sldId id="570" r:id="rId6"/>
    <p:sldId id="573" r:id="rId7"/>
    <p:sldId id="574" r:id="rId8"/>
    <p:sldId id="571" r:id="rId9"/>
    <p:sldId id="577" r:id="rId10"/>
    <p:sldId id="578" r:id="rId11"/>
    <p:sldId id="576" r:id="rId12"/>
    <p:sldId id="575" r:id="rId13"/>
    <p:sldId id="579" r:id="rId14"/>
    <p:sldId id="580" r:id="rId15"/>
    <p:sldId id="581" r:id="rId16"/>
    <p:sldId id="583" r:id="rId17"/>
    <p:sldId id="584" r:id="rId18"/>
    <p:sldId id="585" r:id="rId19"/>
    <p:sldId id="423" r:id="rId20"/>
    <p:sldId id="430" r:id="rId21"/>
    <p:sldId id="381" r:id="rId22"/>
    <p:sldId id="367" r:id="rId23"/>
    <p:sldId id="426" r:id="rId24"/>
    <p:sldId id="512" r:id="rId25"/>
    <p:sldId id="368" r:id="rId26"/>
    <p:sldId id="375" r:id="rId27"/>
    <p:sldId id="374" r:id="rId28"/>
    <p:sldId id="376" r:id="rId29"/>
    <p:sldId id="411" r:id="rId30"/>
    <p:sldId id="377" r:id="rId31"/>
    <p:sldId id="410" r:id="rId32"/>
    <p:sldId id="369" r:id="rId33"/>
    <p:sldId id="412" r:id="rId34"/>
    <p:sldId id="413" r:id="rId35"/>
    <p:sldId id="429" r:id="rId36"/>
    <p:sldId id="382" r:id="rId37"/>
    <p:sldId id="384" r:id="rId38"/>
    <p:sldId id="385" r:id="rId39"/>
    <p:sldId id="386" r:id="rId40"/>
    <p:sldId id="419" r:id="rId41"/>
    <p:sldId id="427" r:id="rId42"/>
    <p:sldId id="428" r:id="rId43"/>
    <p:sldId id="596" r:id="rId44"/>
    <p:sldId id="403" r:id="rId45"/>
    <p:sldId id="431" r:id="rId46"/>
    <p:sldId id="432" r:id="rId47"/>
    <p:sldId id="601" r:id="rId48"/>
    <p:sldId id="433" r:id="rId49"/>
    <p:sldId id="407" r:id="rId50"/>
    <p:sldId id="408" r:id="rId51"/>
    <p:sldId id="371" r:id="rId52"/>
    <p:sldId id="378" r:id="rId53"/>
    <p:sldId id="441" r:id="rId54"/>
    <p:sldId id="718" r:id="rId55"/>
  </p:sldIdLst>
  <p:sldSz cx="13439775" cy="7559675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9900"/>
    <a:srgbClr val="4F9351"/>
    <a:srgbClr val="5FA961"/>
    <a:srgbClr val="4472C4"/>
    <a:srgbClr val="000000"/>
    <a:srgbClr val="FFF2CC"/>
    <a:srgbClr val="0206BE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364" autoAdjust="0"/>
    <p:restoredTop sz="94660"/>
  </p:normalViewPr>
  <p:slideViewPr>
    <p:cSldViewPr snapToGrid="0">
      <p:cViewPr varScale="1">
        <p:scale>
          <a:sx n="83" d="100"/>
          <a:sy n="83" d="100"/>
        </p:scale>
        <p:origin x="96" y="3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45" d="100"/>
          <a:sy n="45" d="100"/>
        </p:scale>
        <p:origin x="204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7EF262-45FA-453B-A45B-617B8B0F2D48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B8D10AAF-9613-42EA-A6FB-9E7413F3CD47}">
      <dgm:prSet phldrT="[Text]" custT="1"/>
      <dgm:spPr/>
      <dgm:t>
        <a:bodyPr/>
        <a:lstStyle/>
        <a:p>
          <a:r>
            <a:rPr lang="pt-BR" sz="2400" dirty="0"/>
            <a:t>Teoria</a:t>
          </a:r>
        </a:p>
      </dgm:t>
    </dgm:pt>
    <dgm:pt modelId="{9D55FBB0-668B-4C4F-9ED9-6C56981A22B8}" type="parTrans" cxnId="{53A28837-267F-428A-AE8F-61FC48F3A348}">
      <dgm:prSet/>
      <dgm:spPr/>
      <dgm:t>
        <a:bodyPr/>
        <a:lstStyle/>
        <a:p>
          <a:endParaRPr lang="pt-BR" sz="2400"/>
        </a:p>
      </dgm:t>
    </dgm:pt>
    <dgm:pt modelId="{9114A63B-54EF-45AF-8A1E-5FEA1314A49F}" type="sibTrans" cxnId="{53A28837-267F-428A-AE8F-61FC48F3A348}">
      <dgm:prSet custT="1"/>
      <dgm:spPr/>
      <dgm:t>
        <a:bodyPr/>
        <a:lstStyle/>
        <a:p>
          <a:endParaRPr lang="pt-BR" sz="1800"/>
        </a:p>
      </dgm:t>
    </dgm:pt>
    <dgm:pt modelId="{D1D140D9-2DE4-4B13-B670-935443BDAC46}">
      <dgm:prSet phldrT="[Text]" custT="1"/>
      <dgm:spPr/>
      <dgm:t>
        <a:bodyPr/>
        <a:lstStyle/>
        <a:p>
          <a:r>
            <a:rPr lang="pt-BR" sz="2400" dirty="0"/>
            <a:t>Notebook</a:t>
          </a:r>
        </a:p>
      </dgm:t>
    </dgm:pt>
    <dgm:pt modelId="{F20F7F2E-BCA7-4D1F-82CC-44C50CC07F3F}" type="parTrans" cxnId="{008A8C65-DDE6-453E-9E05-C2ACE656A9C3}">
      <dgm:prSet/>
      <dgm:spPr/>
      <dgm:t>
        <a:bodyPr/>
        <a:lstStyle/>
        <a:p>
          <a:endParaRPr lang="pt-BR" sz="2400"/>
        </a:p>
      </dgm:t>
    </dgm:pt>
    <dgm:pt modelId="{66FBCF9C-2373-460A-B9D6-BA4E0A7CA017}" type="sibTrans" cxnId="{008A8C65-DDE6-453E-9E05-C2ACE656A9C3}">
      <dgm:prSet/>
      <dgm:spPr/>
      <dgm:t>
        <a:bodyPr/>
        <a:lstStyle/>
        <a:p>
          <a:endParaRPr lang="pt-BR" sz="2400"/>
        </a:p>
      </dgm:t>
    </dgm:pt>
    <dgm:pt modelId="{9F50DEE9-78B4-4C59-B115-C0034C03E98A}">
      <dgm:prSet phldrT="[Text]" custT="1"/>
      <dgm:spPr/>
      <dgm:t>
        <a:bodyPr/>
        <a:lstStyle/>
        <a:p>
          <a:r>
            <a:rPr lang="pt-BR" sz="2400" dirty="0"/>
            <a:t>Warmup</a:t>
          </a:r>
        </a:p>
      </dgm:t>
    </dgm:pt>
    <dgm:pt modelId="{C6829586-E6BF-48B9-99F5-6F4E7213DEE8}" type="parTrans" cxnId="{7F6E9610-0D1B-4A59-8576-BAB208710087}">
      <dgm:prSet/>
      <dgm:spPr/>
      <dgm:t>
        <a:bodyPr/>
        <a:lstStyle/>
        <a:p>
          <a:endParaRPr lang="pt-BR" sz="2400"/>
        </a:p>
      </dgm:t>
    </dgm:pt>
    <dgm:pt modelId="{8E831C12-4BCC-4869-9605-C88D8483DE5F}" type="sibTrans" cxnId="{7F6E9610-0D1B-4A59-8576-BAB208710087}">
      <dgm:prSet custT="1"/>
      <dgm:spPr/>
      <dgm:t>
        <a:bodyPr/>
        <a:lstStyle/>
        <a:p>
          <a:endParaRPr lang="pt-BR" sz="1800"/>
        </a:p>
      </dgm:t>
    </dgm:pt>
    <dgm:pt modelId="{D424EE43-9470-4496-85B3-19A5AADE097E}">
      <dgm:prSet phldrT="[Text]" custT="1"/>
      <dgm:spPr/>
      <dgm:t>
        <a:bodyPr/>
        <a:lstStyle/>
        <a:p>
          <a:r>
            <a:rPr lang="pt-BR" sz="2400" dirty="0"/>
            <a:t>Resolver; e/ou</a:t>
          </a:r>
        </a:p>
      </dgm:t>
    </dgm:pt>
    <dgm:pt modelId="{A5DC4C91-8757-47B7-8C1B-6E2B53EDCE68}" type="parTrans" cxnId="{2D1B0A61-3C99-4D0A-AF2F-F68D258F9AC6}">
      <dgm:prSet/>
      <dgm:spPr/>
      <dgm:t>
        <a:bodyPr/>
        <a:lstStyle/>
        <a:p>
          <a:endParaRPr lang="pt-BR" sz="2400"/>
        </a:p>
      </dgm:t>
    </dgm:pt>
    <dgm:pt modelId="{E47CD19F-76E5-4247-889A-AADADED606A9}" type="sibTrans" cxnId="{2D1B0A61-3C99-4D0A-AF2F-F68D258F9AC6}">
      <dgm:prSet/>
      <dgm:spPr/>
      <dgm:t>
        <a:bodyPr/>
        <a:lstStyle/>
        <a:p>
          <a:endParaRPr lang="pt-BR" sz="2400"/>
        </a:p>
      </dgm:t>
    </dgm:pt>
    <dgm:pt modelId="{F7B5DB7F-ECAC-4405-BAEA-9DD785072DD6}">
      <dgm:prSet phldrT="[Text]" custT="1"/>
      <dgm:spPr/>
      <dgm:t>
        <a:bodyPr/>
        <a:lstStyle/>
        <a:p>
          <a:r>
            <a:rPr lang="pt-BR" sz="2400" dirty="0"/>
            <a:t>Exercícios</a:t>
          </a:r>
        </a:p>
      </dgm:t>
    </dgm:pt>
    <dgm:pt modelId="{1798A635-78DD-4308-816E-B5B0C894929D}" type="parTrans" cxnId="{3BC59598-F0E2-4793-B1D2-86786CCDF705}">
      <dgm:prSet/>
      <dgm:spPr/>
      <dgm:t>
        <a:bodyPr/>
        <a:lstStyle/>
        <a:p>
          <a:endParaRPr lang="pt-BR" sz="2400"/>
        </a:p>
      </dgm:t>
    </dgm:pt>
    <dgm:pt modelId="{E402032E-FA7B-412E-BE45-0474B407EB8E}" type="sibTrans" cxnId="{3BC59598-F0E2-4793-B1D2-86786CCDF705}">
      <dgm:prSet custT="1"/>
      <dgm:spPr/>
      <dgm:t>
        <a:bodyPr/>
        <a:lstStyle/>
        <a:p>
          <a:endParaRPr lang="pt-BR" sz="1800"/>
        </a:p>
      </dgm:t>
    </dgm:pt>
    <dgm:pt modelId="{07605629-9021-40EF-92EE-71025EB52EE5}">
      <dgm:prSet phldrT="[Text]" custT="1"/>
      <dgm:spPr/>
      <dgm:t>
        <a:bodyPr/>
        <a:lstStyle/>
        <a:p>
          <a:r>
            <a:rPr lang="pt-BR" sz="2400" dirty="0"/>
            <a:t>Resolver</a:t>
          </a:r>
        </a:p>
      </dgm:t>
    </dgm:pt>
    <dgm:pt modelId="{853AD48D-6AAD-40BF-8D26-4417A7F41C43}" type="parTrans" cxnId="{D4670323-B86C-4500-8394-D4158812DD7D}">
      <dgm:prSet/>
      <dgm:spPr/>
      <dgm:t>
        <a:bodyPr/>
        <a:lstStyle/>
        <a:p>
          <a:endParaRPr lang="pt-BR" sz="2400"/>
        </a:p>
      </dgm:t>
    </dgm:pt>
    <dgm:pt modelId="{F4347EFB-7645-4726-895A-7465D11819AF}" type="sibTrans" cxnId="{D4670323-B86C-4500-8394-D4158812DD7D}">
      <dgm:prSet/>
      <dgm:spPr/>
      <dgm:t>
        <a:bodyPr/>
        <a:lstStyle/>
        <a:p>
          <a:endParaRPr lang="pt-BR" sz="2400"/>
        </a:p>
      </dgm:t>
    </dgm:pt>
    <dgm:pt modelId="{E2E50ABC-6575-4F75-BFFA-4082C0F696C1}">
      <dgm:prSet phldrT="[Text]" custT="1"/>
      <dgm:spPr/>
      <dgm:t>
        <a:bodyPr/>
        <a:lstStyle/>
        <a:p>
          <a:r>
            <a:rPr lang="pt-BR" sz="2400" dirty="0"/>
            <a:t>Consultar resolução</a:t>
          </a:r>
        </a:p>
      </dgm:t>
    </dgm:pt>
    <dgm:pt modelId="{D05B3B74-37E8-4DB3-AE29-AE544B8C6D68}" type="parTrans" cxnId="{4C0C65C2-99C1-478C-B462-028C870368E5}">
      <dgm:prSet/>
      <dgm:spPr/>
      <dgm:t>
        <a:bodyPr/>
        <a:lstStyle/>
        <a:p>
          <a:endParaRPr lang="pt-BR" sz="2400"/>
        </a:p>
      </dgm:t>
    </dgm:pt>
    <dgm:pt modelId="{36B57B86-2E66-42DF-A6DC-26B66327A298}" type="sibTrans" cxnId="{4C0C65C2-99C1-478C-B462-028C870368E5}">
      <dgm:prSet/>
      <dgm:spPr/>
      <dgm:t>
        <a:bodyPr/>
        <a:lstStyle/>
        <a:p>
          <a:endParaRPr lang="pt-BR" sz="2400"/>
        </a:p>
      </dgm:t>
    </dgm:pt>
    <dgm:pt modelId="{42B1A588-2075-4555-A632-09D5907D67F1}">
      <dgm:prSet phldrT="[Text]" custT="1"/>
      <dgm:spPr/>
      <dgm:t>
        <a:bodyPr/>
        <a:lstStyle/>
        <a:p>
          <a:r>
            <a:rPr lang="pt-BR" sz="2400" dirty="0"/>
            <a:t>Exercícios Extra</a:t>
          </a:r>
        </a:p>
      </dgm:t>
    </dgm:pt>
    <dgm:pt modelId="{23CA9A58-39B1-4203-B102-79654075A89D}" type="parTrans" cxnId="{FBF8C256-82F6-4683-8D69-D2FE2CAEC642}">
      <dgm:prSet/>
      <dgm:spPr/>
      <dgm:t>
        <a:bodyPr/>
        <a:lstStyle/>
        <a:p>
          <a:endParaRPr lang="pt-BR" sz="2400"/>
        </a:p>
      </dgm:t>
    </dgm:pt>
    <dgm:pt modelId="{6E6C3E13-23D6-40F9-B8AF-E01140E4EB14}" type="sibTrans" cxnId="{FBF8C256-82F6-4683-8D69-D2FE2CAEC642}">
      <dgm:prSet custT="1"/>
      <dgm:spPr/>
      <dgm:t>
        <a:bodyPr/>
        <a:lstStyle/>
        <a:p>
          <a:endParaRPr lang="pt-BR" sz="1800"/>
        </a:p>
      </dgm:t>
    </dgm:pt>
    <dgm:pt modelId="{E8A564B9-DC89-4BD5-865D-2E41E855C87C}">
      <dgm:prSet phldrT="[Text]" custT="1"/>
      <dgm:spPr/>
      <dgm:t>
        <a:bodyPr/>
        <a:lstStyle/>
        <a:p>
          <a:r>
            <a:rPr lang="pt-BR" sz="2400" dirty="0"/>
            <a:t>Resolver</a:t>
          </a:r>
        </a:p>
      </dgm:t>
    </dgm:pt>
    <dgm:pt modelId="{0B99745B-DC4A-4219-B22E-CD04F575E6B4}" type="parTrans" cxnId="{05B8E634-0B19-4E5D-B078-A85E8FE4C2DD}">
      <dgm:prSet/>
      <dgm:spPr/>
      <dgm:t>
        <a:bodyPr/>
        <a:lstStyle/>
        <a:p>
          <a:endParaRPr lang="pt-BR" sz="2400"/>
        </a:p>
      </dgm:t>
    </dgm:pt>
    <dgm:pt modelId="{D146AC9A-31B7-444C-8297-E1E8BAFEFE21}" type="sibTrans" cxnId="{05B8E634-0B19-4E5D-B078-A85E8FE4C2DD}">
      <dgm:prSet/>
      <dgm:spPr/>
      <dgm:t>
        <a:bodyPr/>
        <a:lstStyle/>
        <a:p>
          <a:endParaRPr lang="pt-BR" sz="2400"/>
        </a:p>
      </dgm:t>
    </dgm:pt>
    <dgm:pt modelId="{F967A098-7EEE-418E-A699-FEBAB6897A74}" type="pres">
      <dgm:prSet presAssocID="{BB7EF262-45FA-453B-A45B-617B8B0F2D48}" presName="linearFlow" presStyleCnt="0">
        <dgm:presLayoutVars>
          <dgm:dir/>
          <dgm:animLvl val="lvl"/>
          <dgm:resizeHandles val="exact"/>
        </dgm:presLayoutVars>
      </dgm:prSet>
      <dgm:spPr/>
    </dgm:pt>
    <dgm:pt modelId="{752CC11F-A070-40F8-930B-0FD9C17072A9}" type="pres">
      <dgm:prSet presAssocID="{B8D10AAF-9613-42EA-A6FB-9E7413F3CD47}" presName="composite" presStyleCnt="0"/>
      <dgm:spPr/>
    </dgm:pt>
    <dgm:pt modelId="{02A2167D-4A7E-43C6-91F7-1614F0B75B88}" type="pres">
      <dgm:prSet presAssocID="{B8D10AAF-9613-42EA-A6FB-9E7413F3CD47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7AC996B-C8ED-4B95-B4DA-D0923D501558}" type="pres">
      <dgm:prSet presAssocID="{B8D10AAF-9613-42EA-A6FB-9E7413F3CD47}" presName="parSh" presStyleLbl="node1" presStyleIdx="0" presStyleCnt="4"/>
      <dgm:spPr/>
    </dgm:pt>
    <dgm:pt modelId="{4C904266-0020-45E6-9CBE-A848B0130E36}" type="pres">
      <dgm:prSet presAssocID="{B8D10AAF-9613-42EA-A6FB-9E7413F3CD47}" presName="desTx" presStyleLbl="fgAcc1" presStyleIdx="0" presStyleCnt="4">
        <dgm:presLayoutVars>
          <dgm:bulletEnabled val="1"/>
        </dgm:presLayoutVars>
      </dgm:prSet>
      <dgm:spPr/>
    </dgm:pt>
    <dgm:pt modelId="{030D565F-C305-4D8F-980F-25FF313773FD}" type="pres">
      <dgm:prSet presAssocID="{9114A63B-54EF-45AF-8A1E-5FEA1314A49F}" presName="sibTrans" presStyleLbl="sibTrans2D1" presStyleIdx="0" presStyleCnt="3"/>
      <dgm:spPr/>
    </dgm:pt>
    <dgm:pt modelId="{A0E00729-426B-43FE-8197-09E2B84EA584}" type="pres">
      <dgm:prSet presAssocID="{9114A63B-54EF-45AF-8A1E-5FEA1314A49F}" presName="connTx" presStyleLbl="sibTrans2D1" presStyleIdx="0" presStyleCnt="3"/>
      <dgm:spPr/>
    </dgm:pt>
    <dgm:pt modelId="{EDDBE81F-E12C-4857-9B6E-CA1AA06BB590}" type="pres">
      <dgm:prSet presAssocID="{9F50DEE9-78B4-4C59-B115-C0034C03E98A}" presName="composite" presStyleCnt="0"/>
      <dgm:spPr/>
    </dgm:pt>
    <dgm:pt modelId="{87771BBB-525E-41BB-9E1B-8B4C0E64D6EB}" type="pres">
      <dgm:prSet presAssocID="{9F50DEE9-78B4-4C59-B115-C0034C03E98A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5FE5F4B-3197-4B65-85C5-CAB537D4D51E}" type="pres">
      <dgm:prSet presAssocID="{9F50DEE9-78B4-4C59-B115-C0034C03E98A}" presName="parSh" presStyleLbl="node1" presStyleIdx="1" presStyleCnt="4"/>
      <dgm:spPr/>
    </dgm:pt>
    <dgm:pt modelId="{1F7700EE-17AB-4EEB-89B1-4A50FDA794BD}" type="pres">
      <dgm:prSet presAssocID="{9F50DEE9-78B4-4C59-B115-C0034C03E98A}" presName="desTx" presStyleLbl="fgAcc1" presStyleIdx="1" presStyleCnt="4">
        <dgm:presLayoutVars>
          <dgm:bulletEnabled val="1"/>
        </dgm:presLayoutVars>
      </dgm:prSet>
      <dgm:spPr/>
    </dgm:pt>
    <dgm:pt modelId="{A10B5F1F-EE4C-45EF-A720-889ADA5C7BF6}" type="pres">
      <dgm:prSet presAssocID="{8E831C12-4BCC-4869-9605-C88D8483DE5F}" presName="sibTrans" presStyleLbl="sibTrans2D1" presStyleIdx="1" presStyleCnt="3"/>
      <dgm:spPr/>
    </dgm:pt>
    <dgm:pt modelId="{D762C5BB-E881-455F-9E03-97C301BAA7B9}" type="pres">
      <dgm:prSet presAssocID="{8E831C12-4BCC-4869-9605-C88D8483DE5F}" presName="connTx" presStyleLbl="sibTrans2D1" presStyleIdx="1" presStyleCnt="3"/>
      <dgm:spPr/>
    </dgm:pt>
    <dgm:pt modelId="{A6CE724D-16B2-4D14-9A79-B9DE2B49F5B2}" type="pres">
      <dgm:prSet presAssocID="{F7B5DB7F-ECAC-4405-BAEA-9DD785072DD6}" presName="composite" presStyleCnt="0"/>
      <dgm:spPr/>
    </dgm:pt>
    <dgm:pt modelId="{5787F7B0-26E8-427D-B81F-598E511BFD47}" type="pres">
      <dgm:prSet presAssocID="{F7B5DB7F-ECAC-4405-BAEA-9DD785072DD6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AF126589-E0DE-4952-B00F-0636F0A5F095}" type="pres">
      <dgm:prSet presAssocID="{F7B5DB7F-ECAC-4405-BAEA-9DD785072DD6}" presName="parSh" presStyleLbl="node1" presStyleIdx="2" presStyleCnt="4"/>
      <dgm:spPr/>
    </dgm:pt>
    <dgm:pt modelId="{B2D4784C-9C5C-4B29-A799-14294E4F46F6}" type="pres">
      <dgm:prSet presAssocID="{F7B5DB7F-ECAC-4405-BAEA-9DD785072DD6}" presName="desTx" presStyleLbl="fgAcc1" presStyleIdx="2" presStyleCnt="4">
        <dgm:presLayoutVars>
          <dgm:bulletEnabled val="1"/>
        </dgm:presLayoutVars>
      </dgm:prSet>
      <dgm:spPr/>
    </dgm:pt>
    <dgm:pt modelId="{0B7243C2-8760-4D1E-BFD2-8D6C405958CE}" type="pres">
      <dgm:prSet presAssocID="{E402032E-FA7B-412E-BE45-0474B407EB8E}" presName="sibTrans" presStyleLbl="sibTrans2D1" presStyleIdx="2" presStyleCnt="3"/>
      <dgm:spPr/>
    </dgm:pt>
    <dgm:pt modelId="{001E0324-6999-4F8D-9D23-A15B0AA37ED6}" type="pres">
      <dgm:prSet presAssocID="{E402032E-FA7B-412E-BE45-0474B407EB8E}" presName="connTx" presStyleLbl="sibTrans2D1" presStyleIdx="2" presStyleCnt="3"/>
      <dgm:spPr/>
    </dgm:pt>
    <dgm:pt modelId="{118004B0-54E0-4476-ABAA-99895650EC55}" type="pres">
      <dgm:prSet presAssocID="{42B1A588-2075-4555-A632-09D5907D67F1}" presName="composite" presStyleCnt="0"/>
      <dgm:spPr/>
    </dgm:pt>
    <dgm:pt modelId="{537D9385-EBE4-4ED1-9C45-1EC7FC617C48}" type="pres">
      <dgm:prSet presAssocID="{42B1A588-2075-4555-A632-09D5907D67F1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6211732-8CEF-42AD-879B-364607FB854A}" type="pres">
      <dgm:prSet presAssocID="{42B1A588-2075-4555-A632-09D5907D67F1}" presName="parSh" presStyleLbl="node1" presStyleIdx="3" presStyleCnt="4" custScaleX="132493"/>
      <dgm:spPr/>
    </dgm:pt>
    <dgm:pt modelId="{148B5565-F1BE-4A6D-ABA3-CAC3ED53255A}" type="pres">
      <dgm:prSet presAssocID="{42B1A588-2075-4555-A632-09D5907D67F1}" presName="desTx" presStyleLbl="fgAcc1" presStyleIdx="3" presStyleCnt="4">
        <dgm:presLayoutVars>
          <dgm:bulletEnabled val="1"/>
        </dgm:presLayoutVars>
      </dgm:prSet>
      <dgm:spPr/>
    </dgm:pt>
  </dgm:ptLst>
  <dgm:cxnLst>
    <dgm:cxn modelId="{C6A3AA0C-3551-41B5-9651-314050BEE232}" type="presOf" srcId="{B8D10AAF-9613-42EA-A6FB-9E7413F3CD47}" destId="{02A2167D-4A7E-43C6-91F7-1614F0B75B88}" srcOrd="0" destOrd="0" presId="urn:microsoft.com/office/officeart/2005/8/layout/process3"/>
    <dgm:cxn modelId="{7F6E9610-0D1B-4A59-8576-BAB208710087}" srcId="{BB7EF262-45FA-453B-A45B-617B8B0F2D48}" destId="{9F50DEE9-78B4-4C59-B115-C0034C03E98A}" srcOrd="1" destOrd="0" parTransId="{C6829586-E6BF-48B9-99F5-6F4E7213DEE8}" sibTransId="{8E831C12-4BCC-4869-9605-C88D8483DE5F}"/>
    <dgm:cxn modelId="{6F3F9017-22C4-4623-B871-716263D3A518}" type="presOf" srcId="{8E831C12-4BCC-4869-9605-C88D8483DE5F}" destId="{A10B5F1F-EE4C-45EF-A720-889ADA5C7BF6}" srcOrd="0" destOrd="0" presId="urn:microsoft.com/office/officeart/2005/8/layout/process3"/>
    <dgm:cxn modelId="{E20DDB1F-62BF-433F-A91E-B8CFA8F6B312}" type="presOf" srcId="{BB7EF262-45FA-453B-A45B-617B8B0F2D48}" destId="{F967A098-7EEE-418E-A699-FEBAB6897A74}" srcOrd="0" destOrd="0" presId="urn:microsoft.com/office/officeart/2005/8/layout/process3"/>
    <dgm:cxn modelId="{010E4822-2826-489C-AC39-44718389940C}" type="presOf" srcId="{42B1A588-2075-4555-A632-09D5907D67F1}" destId="{537D9385-EBE4-4ED1-9C45-1EC7FC617C48}" srcOrd="0" destOrd="0" presId="urn:microsoft.com/office/officeart/2005/8/layout/process3"/>
    <dgm:cxn modelId="{D4670323-B86C-4500-8394-D4158812DD7D}" srcId="{F7B5DB7F-ECAC-4405-BAEA-9DD785072DD6}" destId="{07605629-9021-40EF-92EE-71025EB52EE5}" srcOrd="0" destOrd="0" parTransId="{853AD48D-6AAD-40BF-8D26-4417A7F41C43}" sibTransId="{F4347EFB-7645-4726-895A-7465D11819AF}"/>
    <dgm:cxn modelId="{FA8BE426-CA7D-4607-B97C-DF2ACE070606}" type="presOf" srcId="{8E831C12-4BCC-4869-9605-C88D8483DE5F}" destId="{D762C5BB-E881-455F-9E03-97C301BAA7B9}" srcOrd="1" destOrd="0" presId="urn:microsoft.com/office/officeart/2005/8/layout/process3"/>
    <dgm:cxn modelId="{57008C2C-D3AB-49AF-910F-AA1CAC796CCA}" type="presOf" srcId="{E402032E-FA7B-412E-BE45-0474B407EB8E}" destId="{001E0324-6999-4F8D-9D23-A15B0AA37ED6}" srcOrd="1" destOrd="0" presId="urn:microsoft.com/office/officeart/2005/8/layout/process3"/>
    <dgm:cxn modelId="{05B8E634-0B19-4E5D-B078-A85E8FE4C2DD}" srcId="{42B1A588-2075-4555-A632-09D5907D67F1}" destId="{E8A564B9-DC89-4BD5-865D-2E41E855C87C}" srcOrd="0" destOrd="0" parTransId="{0B99745B-DC4A-4219-B22E-CD04F575E6B4}" sibTransId="{D146AC9A-31B7-444C-8297-E1E8BAFEFE21}"/>
    <dgm:cxn modelId="{53A28837-267F-428A-AE8F-61FC48F3A348}" srcId="{BB7EF262-45FA-453B-A45B-617B8B0F2D48}" destId="{B8D10AAF-9613-42EA-A6FB-9E7413F3CD47}" srcOrd="0" destOrd="0" parTransId="{9D55FBB0-668B-4C4F-9ED9-6C56981A22B8}" sibTransId="{9114A63B-54EF-45AF-8A1E-5FEA1314A49F}"/>
    <dgm:cxn modelId="{9E69553B-BEEE-4DBC-B7F4-725CF2F463B0}" type="presOf" srcId="{F7B5DB7F-ECAC-4405-BAEA-9DD785072DD6}" destId="{5787F7B0-26E8-427D-B81F-598E511BFD47}" srcOrd="0" destOrd="0" presId="urn:microsoft.com/office/officeart/2005/8/layout/process3"/>
    <dgm:cxn modelId="{458DCC3F-E579-4FCA-913C-64DB6AF568EE}" type="presOf" srcId="{E402032E-FA7B-412E-BE45-0474B407EB8E}" destId="{0B7243C2-8760-4D1E-BFD2-8D6C405958CE}" srcOrd="0" destOrd="0" presId="urn:microsoft.com/office/officeart/2005/8/layout/process3"/>
    <dgm:cxn modelId="{49F5CC5D-8DFF-4495-B865-4C60E4F19164}" type="presOf" srcId="{F7B5DB7F-ECAC-4405-BAEA-9DD785072DD6}" destId="{AF126589-E0DE-4952-B00F-0636F0A5F095}" srcOrd="1" destOrd="0" presId="urn:microsoft.com/office/officeart/2005/8/layout/process3"/>
    <dgm:cxn modelId="{2D1B0A61-3C99-4D0A-AF2F-F68D258F9AC6}" srcId="{9F50DEE9-78B4-4C59-B115-C0034C03E98A}" destId="{D424EE43-9470-4496-85B3-19A5AADE097E}" srcOrd="0" destOrd="0" parTransId="{A5DC4C91-8757-47B7-8C1B-6E2B53EDCE68}" sibTransId="{E47CD19F-76E5-4247-889A-AADADED606A9}"/>
    <dgm:cxn modelId="{008A8C65-DDE6-453E-9E05-C2ACE656A9C3}" srcId="{B8D10AAF-9613-42EA-A6FB-9E7413F3CD47}" destId="{D1D140D9-2DE4-4B13-B670-935443BDAC46}" srcOrd="0" destOrd="0" parTransId="{F20F7F2E-BCA7-4D1F-82CC-44C50CC07F3F}" sibTransId="{66FBCF9C-2373-460A-B9D6-BA4E0A7CA017}"/>
    <dgm:cxn modelId="{94774E46-83D9-47AB-9E15-560A6B317DD0}" type="presOf" srcId="{42B1A588-2075-4555-A632-09D5907D67F1}" destId="{E6211732-8CEF-42AD-879B-364607FB854A}" srcOrd="1" destOrd="0" presId="urn:microsoft.com/office/officeart/2005/8/layout/process3"/>
    <dgm:cxn modelId="{DA193E53-286B-4B30-88B0-1C8AE5301AE0}" type="presOf" srcId="{9F50DEE9-78B4-4C59-B115-C0034C03E98A}" destId="{87771BBB-525E-41BB-9E1B-8B4C0E64D6EB}" srcOrd="0" destOrd="0" presId="urn:microsoft.com/office/officeart/2005/8/layout/process3"/>
    <dgm:cxn modelId="{FBF8C256-82F6-4683-8D69-D2FE2CAEC642}" srcId="{BB7EF262-45FA-453B-A45B-617B8B0F2D48}" destId="{42B1A588-2075-4555-A632-09D5907D67F1}" srcOrd="3" destOrd="0" parTransId="{23CA9A58-39B1-4203-B102-79654075A89D}" sibTransId="{6E6C3E13-23D6-40F9-B8AF-E01140E4EB14}"/>
    <dgm:cxn modelId="{41089658-0A53-4F63-B9C4-9010B91C8F51}" type="presOf" srcId="{E2E50ABC-6575-4F75-BFFA-4082C0F696C1}" destId="{1F7700EE-17AB-4EEB-89B1-4A50FDA794BD}" srcOrd="0" destOrd="1" presId="urn:microsoft.com/office/officeart/2005/8/layout/process3"/>
    <dgm:cxn modelId="{F8AD8C82-CA99-4801-B8B6-DFA3BA99EBB3}" type="presOf" srcId="{9F50DEE9-78B4-4C59-B115-C0034C03E98A}" destId="{D5FE5F4B-3197-4B65-85C5-CAB537D4D51E}" srcOrd="1" destOrd="0" presId="urn:microsoft.com/office/officeart/2005/8/layout/process3"/>
    <dgm:cxn modelId="{2891088E-129D-4303-91E0-0559FD18CF9C}" type="presOf" srcId="{B8D10AAF-9613-42EA-A6FB-9E7413F3CD47}" destId="{D7AC996B-C8ED-4B95-B4DA-D0923D501558}" srcOrd="1" destOrd="0" presId="urn:microsoft.com/office/officeart/2005/8/layout/process3"/>
    <dgm:cxn modelId="{3BC59598-F0E2-4793-B1D2-86786CCDF705}" srcId="{BB7EF262-45FA-453B-A45B-617B8B0F2D48}" destId="{F7B5DB7F-ECAC-4405-BAEA-9DD785072DD6}" srcOrd="2" destOrd="0" parTransId="{1798A635-78DD-4308-816E-B5B0C894929D}" sibTransId="{E402032E-FA7B-412E-BE45-0474B407EB8E}"/>
    <dgm:cxn modelId="{6548229B-16E4-4AAA-B5F7-D3CED7A98CFC}" type="presOf" srcId="{D424EE43-9470-4496-85B3-19A5AADE097E}" destId="{1F7700EE-17AB-4EEB-89B1-4A50FDA794BD}" srcOrd="0" destOrd="0" presId="urn:microsoft.com/office/officeart/2005/8/layout/process3"/>
    <dgm:cxn modelId="{7CE3B2BC-11C3-411E-9C1B-E4B0B89C5D37}" type="presOf" srcId="{9114A63B-54EF-45AF-8A1E-5FEA1314A49F}" destId="{A0E00729-426B-43FE-8197-09E2B84EA584}" srcOrd="1" destOrd="0" presId="urn:microsoft.com/office/officeart/2005/8/layout/process3"/>
    <dgm:cxn modelId="{4C0C65C2-99C1-478C-B462-028C870368E5}" srcId="{9F50DEE9-78B4-4C59-B115-C0034C03E98A}" destId="{E2E50ABC-6575-4F75-BFFA-4082C0F696C1}" srcOrd="1" destOrd="0" parTransId="{D05B3B74-37E8-4DB3-AE29-AE544B8C6D68}" sibTransId="{36B57B86-2E66-42DF-A6DC-26B66327A298}"/>
    <dgm:cxn modelId="{92A89FC3-87FC-472A-BD31-B2AA5B8E1A25}" type="presOf" srcId="{D1D140D9-2DE4-4B13-B670-935443BDAC46}" destId="{4C904266-0020-45E6-9CBE-A848B0130E36}" srcOrd="0" destOrd="0" presId="urn:microsoft.com/office/officeart/2005/8/layout/process3"/>
    <dgm:cxn modelId="{012DB1C4-7AD9-4C99-85D1-740818CCC92A}" type="presOf" srcId="{07605629-9021-40EF-92EE-71025EB52EE5}" destId="{B2D4784C-9C5C-4B29-A799-14294E4F46F6}" srcOrd="0" destOrd="0" presId="urn:microsoft.com/office/officeart/2005/8/layout/process3"/>
    <dgm:cxn modelId="{F755DFE4-6392-463B-8BC6-E8EFE22F08C5}" type="presOf" srcId="{9114A63B-54EF-45AF-8A1E-5FEA1314A49F}" destId="{030D565F-C305-4D8F-980F-25FF313773FD}" srcOrd="0" destOrd="0" presId="urn:microsoft.com/office/officeart/2005/8/layout/process3"/>
    <dgm:cxn modelId="{C0D7E6EE-7521-4D0B-A9C8-9991464D73A4}" type="presOf" srcId="{E8A564B9-DC89-4BD5-865D-2E41E855C87C}" destId="{148B5565-F1BE-4A6D-ABA3-CAC3ED53255A}" srcOrd="0" destOrd="0" presId="urn:microsoft.com/office/officeart/2005/8/layout/process3"/>
    <dgm:cxn modelId="{76951D22-8517-465F-A3D6-B0B9E98E2AA2}" type="presParOf" srcId="{F967A098-7EEE-418E-A699-FEBAB6897A74}" destId="{752CC11F-A070-40F8-930B-0FD9C17072A9}" srcOrd="0" destOrd="0" presId="urn:microsoft.com/office/officeart/2005/8/layout/process3"/>
    <dgm:cxn modelId="{1DB96A91-3724-4669-8741-BC385EC2B9D4}" type="presParOf" srcId="{752CC11F-A070-40F8-930B-0FD9C17072A9}" destId="{02A2167D-4A7E-43C6-91F7-1614F0B75B88}" srcOrd="0" destOrd="0" presId="urn:microsoft.com/office/officeart/2005/8/layout/process3"/>
    <dgm:cxn modelId="{ADF58CF0-2185-4B54-8443-966ACD38277C}" type="presParOf" srcId="{752CC11F-A070-40F8-930B-0FD9C17072A9}" destId="{D7AC996B-C8ED-4B95-B4DA-D0923D501558}" srcOrd="1" destOrd="0" presId="urn:microsoft.com/office/officeart/2005/8/layout/process3"/>
    <dgm:cxn modelId="{C63CCFA4-EE20-4756-B6FB-A9B15336D6B4}" type="presParOf" srcId="{752CC11F-A070-40F8-930B-0FD9C17072A9}" destId="{4C904266-0020-45E6-9CBE-A848B0130E36}" srcOrd="2" destOrd="0" presId="urn:microsoft.com/office/officeart/2005/8/layout/process3"/>
    <dgm:cxn modelId="{308D3FC6-A239-418A-9E4A-ECDE03C90A96}" type="presParOf" srcId="{F967A098-7EEE-418E-A699-FEBAB6897A74}" destId="{030D565F-C305-4D8F-980F-25FF313773FD}" srcOrd="1" destOrd="0" presId="urn:microsoft.com/office/officeart/2005/8/layout/process3"/>
    <dgm:cxn modelId="{C6657D6D-143C-41FE-8610-CB6C784CDABC}" type="presParOf" srcId="{030D565F-C305-4D8F-980F-25FF313773FD}" destId="{A0E00729-426B-43FE-8197-09E2B84EA584}" srcOrd="0" destOrd="0" presId="urn:microsoft.com/office/officeart/2005/8/layout/process3"/>
    <dgm:cxn modelId="{4D89BEAF-22C7-412A-8672-8CD8A54F5F59}" type="presParOf" srcId="{F967A098-7EEE-418E-A699-FEBAB6897A74}" destId="{EDDBE81F-E12C-4857-9B6E-CA1AA06BB590}" srcOrd="2" destOrd="0" presId="urn:microsoft.com/office/officeart/2005/8/layout/process3"/>
    <dgm:cxn modelId="{F54AAA32-8CB5-478B-80F5-4325A7717440}" type="presParOf" srcId="{EDDBE81F-E12C-4857-9B6E-CA1AA06BB590}" destId="{87771BBB-525E-41BB-9E1B-8B4C0E64D6EB}" srcOrd="0" destOrd="0" presId="urn:microsoft.com/office/officeart/2005/8/layout/process3"/>
    <dgm:cxn modelId="{A236F97B-BC2F-4245-93A6-DEE6B8473BFE}" type="presParOf" srcId="{EDDBE81F-E12C-4857-9B6E-CA1AA06BB590}" destId="{D5FE5F4B-3197-4B65-85C5-CAB537D4D51E}" srcOrd="1" destOrd="0" presId="urn:microsoft.com/office/officeart/2005/8/layout/process3"/>
    <dgm:cxn modelId="{8CC7CE02-9C6E-40BB-8CDC-6026D5261FF8}" type="presParOf" srcId="{EDDBE81F-E12C-4857-9B6E-CA1AA06BB590}" destId="{1F7700EE-17AB-4EEB-89B1-4A50FDA794BD}" srcOrd="2" destOrd="0" presId="urn:microsoft.com/office/officeart/2005/8/layout/process3"/>
    <dgm:cxn modelId="{9B6E79C0-1685-48F4-9000-6CE5BCCE2BA2}" type="presParOf" srcId="{F967A098-7EEE-418E-A699-FEBAB6897A74}" destId="{A10B5F1F-EE4C-45EF-A720-889ADA5C7BF6}" srcOrd="3" destOrd="0" presId="urn:microsoft.com/office/officeart/2005/8/layout/process3"/>
    <dgm:cxn modelId="{E6EEE2CE-10DA-40CA-B6D6-4E338BFA9EEB}" type="presParOf" srcId="{A10B5F1F-EE4C-45EF-A720-889ADA5C7BF6}" destId="{D762C5BB-E881-455F-9E03-97C301BAA7B9}" srcOrd="0" destOrd="0" presId="urn:microsoft.com/office/officeart/2005/8/layout/process3"/>
    <dgm:cxn modelId="{40D0DEDD-919F-47C9-A69A-53CDC942FB08}" type="presParOf" srcId="{F967A098-7EEE-418E-A699-FEBAB6897A74}" destId="{A6CE724D-16B2-4D14-9A79-B9DE2B49F5B2}" srcOrd="4" destOrd="0" presId="urn:microsoft.com/office/officeart/2005/8/layout/process3"/>
    <dgm:cxn modelId="{8A1413DE-F44C-417F-A2F4-D0D825451494}" type="presParOf" srcId="{A6CE724D-16B2-4D14-9A79-B9DE2B49F5B2}" destId="{5787F7B0-26E8-427D-B81F-598E511BFD47}" srcOrd="0" destOrd="0" presId="urn:microsoft.com/office/officeart/2005/8/layout/process3"/>
    <dgm:cxn modelId="{7B213EA5-A044-4CDF-88DE-3FEA3523E84A}" type="presParOf" srcId="{A6CE724D-16B2-4D14-9A79-B9DE2B49F5B2}" destId="{AF126589-E0DE-4952-B00F-0636F0A5F095}" srcOrd="1" destOrd="0" presId="urn:microsoft.com/office/officeart/2005/8/layout/process3"/>
    <dgm:cxn modelId="{EBA85C32-C387-4F78-8530-7BA9500BA5D3}" type="presParOf" srcId="{A6CE724D-16B2-4D14-9A79-B9DE2B49F5B2}" destId="{B2D4784C-9C5C-4B29-A799-14294E4F46F6}" srcOrd="2" destOrd="0" presId="urn:microsoft.com/office/officeart/2005/8/layout/process3"/>
    <dgm:cxn modelId="{0301CEEA-6C17-4666-A9C0-A95144773AAD}" type="presParOf" srcId="{F967A098-7EEE-418E-A699-FEBAB6897A74}" destId="{0B7243C2-8760-4D1E-BFD2-8D6C405958CE}" srcOrd="5" destOrd="0" presId="urn:microsoft.com/office/officeart/2005/8/layout/process3"/>
    <dgm:cxn modelId="{208C7485-D312-486F-A4C1-CA50C3188134}" type="presParOf" srcId="{0B7243C2-8760-4D1E-BFD2-8D6C405958CE}" destId="{001E0324-6999-4F8D-9D23-A15B0AA37ED6}" srcOrd="0" destOrd="0" presId="urn:microsoft.com/office/officeart/2005/8/layout/process3"/>
    <dgm:cxn modelId="{1BFC2695-62C4-4AF9-89E8-A6FAC1409272}" type="presParOf" srcId="{F967A098-7EEE-418E-A699-FEBAB6897A74}" destId="{118004B0-54E0-4476-ABAA-99895650EC55}" srcOrd="6" destOrd="0" presId="urn:microsoft.com/office/officeart/2005/8/layout/process3"/>
    <dgm:cxn modelId="{E994CB1F-A19B-4EBC-A4E3-6B28ABC2B2D4}" type="presParOf" srcId="{118004B0-54E0-4476-ABAA-99895650EC55}" destId="{537D9385-EBE4-4ED1-9C45-1EC7FC617C48}" srcOrd="0" destOrd="0" presId="urn:microsoft.com/office/officeart/2005/8/layout/process3"/>
    <dgm:cxn modelId="{F3172265-901C-4B9D-AE5C-AEB51B0EFFCF}" type="presParOf" srcId="{118004B0-54E0-4476-ABAA-99895650EC55}" destId="{E6211732-8CEF-42AD-879B-364607FB854A}" srcOrd="1" destOrd="0" presId="urn:microsoft.com/office/officeart/2005/8/layout/process3"/>
    <dgm:cxn modelId="{C3D6905E-A0FA-4675-A714-6304BE9B3578}" type="presParOf" srcId="{118004B0-54E0-4476-ABAA-99895650EC55}" destId="{148B5565-F1BE-4A6D-ABA3-CAC3ED53255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C996B-C8ED-4B95-B4DA-D0923D501558}">
      <dsp:nvSpPr>
        <dsp:cNvPr id="0" name=""/>
        <dsp:cNvSpPr/>
      </dsp:nvSpPr>
      <dsp:spPr>
        <a:xfrm>
          <a:off x="5851" y="14695"/>
          <a:ext cx="2145836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Teoria</a:t>
          </a:r>
        </a:p>
      </dsp:txBody>
      <dsp:txXfrm>
        <a:off x="5851" y="14695"/>
        <a:ext cx="2145836" cy="835200"/>
      </dsp:txXfrm>
    </dsp:sp>
    <dsp:sp modelId="{4C904266-0020-45E6-9CBE-A848B0130E36}">
      <dsp:nvSpPr>
        <dsp:cNvPr id="0" name=""/>
        <dsp:cNvSpPr/>
      </dsp:nvSpPr>
      <dsp:spPr>
        <a:xfrm>
          <a:off x="445359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Notebook</a:t>
          </a:r>
        </a:p>
      </dsp:txBody>
      <dsp:txXfrm>
        <a:off x="500399" y="904935"/>
        <a:ext cx="2035756" cy="1769120"/>
      </dsp:txXfrm>
    </dsp:sp>
    <dsp:sp modelId="{030D565F-C305-4D8F-980F-25FF313773FD}">
      <dsp:nvSpPr>
        <dsp:cNvPr id="0" name=""/>
        <dsp:cNvSpPr/>
      </dsp:nvSpPr>
      <dsp:spPr>
        <a:xfrm>
          <a:off x="2476988" y="165169"/>
          <a:ext cx="689638" cy="5342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800" kern="1200"/>
        </a:p>
      </dsp:txBody>
      <dsp:txXfrm>
        <a:off x="2476988" y="272019"/>
        <a:ext cx="529363" cy="320551"/>
      </dsp:txXfrm>
    </dsp:sp>
    <dsp:sp modelId="{D5FE5F4B-3197-4B65-85C5-CAB537D4D51E}">
      <dsp:nvSpPr>
        <dsp:cNvPr id="0" name=""/>
        <dsp:cNvSpPr/>
      </dsp:nvSpPr>
      <dsp:spPr>
        <a:xfrm>
          <a:off x="3452891" y="14695"/>
          <a:ext cx="2145836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Warmup</a:t>
          </a:r>
        </a:p>
      </dsp:txBody>
      <dsp:txXfrm>
        <a:off x="3452891" y="14695"/>
        <a:ext cx="2145836" cy="835200"/>
      </dsp:txXfrm>
    </dsp:sp>
    <dsp:sp modelId="{1F7700EE-17AB-4EEB-89B1-4A50FDA794BD}">
      <dsp:nvSpPr>
        <dsp:cNvPr id="0" name=""/>
        <dsp:cNvSpPr/>
      </dsp:nvSpPr>
      <dsp:spPr>
        <a:xfrm>
          <a:off x="3892400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Resolver; e/ou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Consultar resolução</a:t>
          </a:r>
        </a:p>
      </dsp:txBody>
      <dsp:txXfrm>
        <a:off x="3947440" y="904935"/>
        <a:ext cx="2035756" cy="1769120"/>
      </dsp:txXfrm>
    </dsp:sp>
    <dsp:sp modelId="{A10B5F1F-EE4C-45EF-A720-889ADA5C7BF6}">
      <dsp:nvSpPr>
        <dsp:cNvPr id="0" name=""/>
        <dsp:cNvSpPr/>
      </dsp:nvSpPr>
      <dsp:spPr>
        <a:xfrm>
          <a:off x="5924028" y="165169"/>
          <a:ext cx="689638" cy="5342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800" kern="1200"/>
        </a:p>
      </dsp:txBody>
      <dsp:txXfrm>
        <a:off x="5924028" y="272019"/>
        <a:ext cx="529363" cy="320551"/>
      </dsp:txXfrm>
    </dsp:sp>
    <dsp:sp modelId="{AF126589-E0DE-4952-B00F-0636F0A5F095}">
      <dsp:nvSpPr>
        <dsp:cNvPr id="0" name=""/>
        <dsp:cNvSpPr/>
      </dsp:nvSpPr>
      <dsp:spPr>
        <a:xfrm>
          <a:off x="6899932" y="14695"/>
          <a:ext cx="2145836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Exercícios</a:t>
          </a:r>
        </a:p>
      </dsp:txBody>
      <dsp:txXfrm>
        <a:off x="6899932" y="14695"/>
        <a:ext cx="2145836" cy="835200"/>
      </dsp:txXfrm>
    </dsp:sp>
    <dsp:sp modelId="{B2D4784C-9C5C-4B29-A799-14294E4F46F6}">
      <dsp:nvSpPr>
        <dsp:cNvPr id="0" name=""/>
        <dsp:cNvSpPr/>
      </dsp:nvSpPr>
      <dsp:spPr>
        <a:xfrm>
          <a:off x="7339440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Resolver</a:t>
          </a:r>
        </a:p>
      </dsp:txBody>
      <dsp:txXfrm>
        <a:off x="7394480" y="904935"/>
        <a:ext cx="2035756" cy="1769120"/>
      </dsp:txXfrm>
    </dsp:sp>
    <dsp:sp modelId="{0B7243C2-8760-4D1E-BFD2-8D6C405958CE}">
      <dsp:nvSpPr>
        <dsp:cNvPr id="0" name=""/>
        <dsp:cNvSpPr/>
      </dsp:nvSpPr>
      <dsp:spPr>
        <a:xfrm>
          <a:off x="9371069" y="165169"/>
          <a:ext cx="689638" cy="5342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800" kern="1200"/>
        </a:p>
      </dsp:txBody>
      <dsp:txXfrm>
        <a:off x="9371069" y="272019"/>
        <a:ext cx="529363" cy="320551"/>
      </dsp:txXfrm>
    </dsp:sp>
    <dsp:sp modelId="{E6211732-8CEF-42AD-879B-364607FB854A}">
      <dsp:nvSpPr>
        <dsp:cNvPr id="0" name=""/>
        <dsp:cNvSpPr/>
      </dsp:nvSpPr>
      <dsp:spPr>
        <a:xfrm>
          <a:off x="10346972" y="14695"/>
          <a:ext cx="2843082" cy="12527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Exercícios Extra</a:t>
          </a:r>
        </a:p>
      </dsp:txBody>
      <dsp:txXfrm>
        <a:off x="10346972" y="14695"/>
        <a:ext cx="2843082" cy="835200"/>
      </dsp:txXfrm>
    </dsp:sp>
    <dsp:sp modelId="{148B5565-F1BE-4A6D-ABA3-CAC3ED53255A}">
      <dsp:nvSpPr>
        <dsp:cNvPr id="0" name=""/>
        <dsp:cNvSpPr/>
      </dsp:nvSpPr>
      <dsp:spPr>
        <a:xfrm>
          <a:off x="11135104" y="849895"/>
          <a:ext cx="2145836" cy="1879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400" kern="1200" dirty="0"/>
            <a:t>Resolver</a:t>
          </a:r>
        </a:p>
      </dsp:txBody>
      <dsp:txXfrm>
        <a:off x="11190144" y="904935"/>
        <a:ext cx="2035756" cy="17691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F95E83-F819-452B-8E20-EE6471E630CB}" type="datetimeFigureOut">
              <a:rPr lang="pt-BR" smtClean="0"/>
              <a:t>03/09/2025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CFE64D-5E83-4BB0-98A3-EA7F44288D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381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5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9" name="Google Shape;35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6B2307-1DF4-4B6C-8745-19911C901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575" y="1236663"/>
            <a:ext cx="1008062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5695CE-9ADF-4695-973F-B94A6602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79575" y="3970338"/>
            <a:ext cx="1008062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0B15271-8C4C-4144-AAA1-E11F856B3C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ED2C32E-3BA7-4403-B7FE-9AD45FAA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C76F337-2C48-4C20-A3C5-26568CBFF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887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15E83A-A7F4-412D-B6E5-75BED5B68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460500"/>
          </a:xfrm>
        </p:spPr>
        <p:txBody>
          <a:bodyPr/>
          <a:lstStyle>
            <a:lvl1pPr>
              <a:defRPr b="1">
                <a:latin typeface="+mn-lt"/>
                <a:cs typeface="Calibri" panose="020F0502020204030204" pitchFamily="34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9794B5-8E61-4F51-866E-353DAC008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898525" indent="-441325">
              <a:defRPr/>
            </a:lvl2pPr>
            <a:lvl3pPr marL="1341438" indent="-427038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rgbClr val="4F9351"/>
                </a:solidFill>
              </a:defRPr>
            </a:lvl4pPr>
          </a:lstStyle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EF7B50-B233-491C-8D60-554C1AE60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58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7F52E4-0873-48C8-9A25-8D1BA8338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575" y="1884363"/>
            <a:ext cx="11591925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7E0473-D80A-41A2-8D7F-9728BDC76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5059363"/>
            <a:ext cx="11591925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1823BB-E409-446E-9FA4-169D05E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703DA3-324A-4BB3-AF3B-DBDC419C1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444D8F-C7BF-4906-959D-C1E5FC8FF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33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BF44D-0ABA-4A4A-B1DE-C385680D8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64C5D70-D9F7-4302-8339-03BD26C69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3925" y="2012950"/>
            <a:ext cx="5719763" cy="47958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81733-EEBD-4671-936D-1CD22F5C1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6088" y="2012950"/>
            <a:ext cx="5719762" cy="47958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82670C-61C5-4ECA-AE8D-C9606D8E3D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8D664E-C5D0-47B4-90DD-C331E98DB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EDD9BC-C7D2-41D4-9CAC-049465F9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1225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4C2FF7-8E57-4EEC-B05C-F78929E21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513" y="403225"/>
            <a:ext cx="11591925" cy="146050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0AA406-24F0-4482-8DDE-16A6FF597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5513" y="1852613"/>
            <a:ext cx="5686425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5B1A78A-E676-493C-A41D-81276037A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513" y="2760663"/>
            <a:ext cx="5686425" cy="406241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37EA6C-CAB1-4C2C-8AB2-A6AE641D6F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04025" y="1852613"/>
            <a:ext cx="5713413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4DB4E09-6EE1-4147-81C2-FD347EE970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04025" y="2760663"/>
            <a:ext cx="5713413" cy="406241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1C58D5A-4670-47E6-8BCC-49F5A564A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436A7F8-87ED-4E31-AEB2-0E9B539DA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E3CDC0A-D2DC-46F2-B5B8-CE47F883A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455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D84705-A82D-4686-AEF7-34CDC34A1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6AD615F-8454-427E-AD86-A8156FF5CA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33BA903-0849-4795-9BA1-AD4C583CA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6B5A63D-E3A5-4D76-9EAC-B9156DBB9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6670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16A734E-6C30-49D9-BA23-CDA9D0671A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D46FD98-96D7-49D8-AD26-39B3A951E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DE2CCE1-3646-4507-B926-84507D48E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670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0ACE2B-9E5C-4558-AC09-88E21D0F5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513" y="503238"/>
            <a:ext cx="4335462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56E189-DB53-4ECB-A808-CC8AE3C8F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3413" y="1089025"/>
            <a:ext cx="68040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A9B172F-DF1C-40D6-AD0B-CA4682D46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5513" y="2268538"/>
            <a:ext cx="4335462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86D2B4-4CA5-4392-ABF8-AAA1A90DE8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F2BFA58-633F-4C19-97D8-7E3753A08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234F24-B1CF-4936-A7EF-8AD9B8E3A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907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A43B8-66D8-462E-8CE6-D87075856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513" y="503238"/>
            <a:ext cx="4335462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70EF8CF-9861-4ACD-B243-0D4B23079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713413" y="1089025"/>
            <a:ext cx="68040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6E8370-9C08-475A-97BB-C32261D56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25513" y="2268538"/>
            <a:ext cx="4335462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9D3E31D-E390-433F-A1E2-076CF32C6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D89561-3D6F-49E8-B30D-DD0C5F61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DAD3010-909B-4D21-8DD6-56E7D0E83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9716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2B0357-528F-43EE-B29E-F651BB3E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9CA174C-4211-4B14-9E10-5367A111B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6A7263D-E991-404A-9FB6-3821D66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3061D20-8D87-4678-986B-4478E858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F7D0FA-088F-49B5-B8D9-EDDDD53CE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7286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4D1946F-7A2C-482B-AE55-284B8D500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18663" y="403225"/>
            <a:ext cx="2897187" cy="6405563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4AAC260-1710-4886-9FED-FB5FF3466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23925" y="403225"/>
            <a:ext cx="8542338" cy="6405563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430D323-1CB7-4D50-871B-FD2460CC56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925" y="7007225"/>
            <a:ext cx="3024188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A803B4D-4867-4E7F-9DAB-13F27D5F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51350" y="7007225"/>
            <a:ext cx="4537075" cy="4016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227539-D2C3-4C9C-B714-6D1469E1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510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7BD4786-88E0-4341-A17D-EB4CD76BE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1FDBA2-2D4B-4A9D-8973-8ED82BEF2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199"/>
            <a:ext cx="12374879" cy="58239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9CA22-AA7E-4292-A008-BE16173FB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832080" y="7022465"/>
            <a:ext cx="46101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8F4C2-5AD9-4F35-9375-C447F9EA536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48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lang="pt-BR" sz="4400" b="1" i="1" strike="noStrike" kern="1200" spc="-1" dirty="0">
          <a:solidFill>
            <a:schemeClr val="accent1">
              <a:lumMod val="75000"/>
            </a:schemeClr>
          </a:solidFill>
          <a:latin typeface="+mn-lt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898525" indent="-441325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3200" kern="1200">
          <a:solidFill>
            <a:srgbClr val="0206BE"/>
          </a:solidFill>
          <a:latin typeface="+mn-lt"/>
          <a:ea typeface="+mn-ea"/>
          <a:cs typeface="+mn-cs"/>
        </a:defRPr>
      </a:lvl2pPr>
      <a:lvl3pPr marL="1341438" indent="-427038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ü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rgbClr val="5FA96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rive.google.com/file/d/16mpT4kJeVPvn8TlPX3zK5bX0SPNMsnDa/view?usp=sharing" TargetMode="Externa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thedecisionlab.com/reference-guide/psychology/intention-action-gap" TargetMode="External"/><Relationship Id="rId2" Type="http://schemas.openxmlformats.org/officeDocument/2006/relationships/hyperlink" Target="https://en.wikipedia.org/wiki/Commitment_devic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alexlopespereira/mba_enap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alexlopespereira/mba_enap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620486" y="28995"/>
            <a:ext cx="12343474" cy="96641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 algn="ctr">
              <a:lnSpc>
                <a:spcPct val="100000"/>
              </a:lnSpc>
            </a:pPr>
            <a:r>
              <a:rPr lang="pt-BR" sz="4400" b="1" i="1" strike="noStrike" spc="-1" dirty="0">
                <a:solidFill>
                  <a:schemeClr val="accent1">
                    <a:lumMod val="75000"/>
                  </a:schemeClr>
                </a:solidFill>
                <a:latin typeface="Calibri"/>
                <a:ea typeface="DejaVu Sans"/>
              </a:rPr>
              <a:t>Introdução a linguagem Python</a:t>
            </a:r>
            <a:endParaRPr lang="pt-BR" sz="2400" b="0" strike="noStrike" spc="-1" dirty="0">
              <a:solidFill>
                <a:schemeClr val="accent1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4893971" y="7033304"/>
            <a:ext cx="4229535" cy="53461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  <a:spcBef>
                <a:spcPts val="1103"/>
              </a:spcBef>
            </a:pPr>
            <a:r>
              <a:rPr lang="pt-BR" sz="265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Professor: Alex Pereira</a:t>
            </a:r>
            <a:endParaRPr lang="pt-BR" sz="2650" b="0" strike="noStrike" spc="-1" dirty="0">
              <a:latin typeface="Arial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44DF21A-FB58-4DBE-8E3A-00AD2F51F3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49" t="13167" r="26790" b="41736"/>
          <a:stretch/>
        </p:blipFill>
        <p:spPr>
          <a:xfrm>
            <a:off x="11737464" y="28995"/>
            <a:ext cx="1081825" cy="109503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005E810-A406-4B2B-BF3A-BF59C14161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5576" y="1346676"/>
            <a:ext cx="2987588" cy="440791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44720B2-5DE5-464F-995C-E4C31914FD15}"/>
              </a:ext>
            </a:extLst>
          </p:cNvPr>
          <p:cNvSpPr txBox="1"/>
          <p:nvPr/>
        </p:nvSpPr>
        <p:spPr>
          <a:xfrm>
            <a:off x="1041317" y="1355199"/>
            <a:ext cx="4151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Pythonidae (Python family)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F7DED14-DD7F-4B3C-B348-52EC7888FE6E}"/>
              </a:ext>
            </a:extLst>
          </p:cNvPr>
          <p:cNvSpPr txBox="1"/>
          <p:nvPr/>
        </p:nvSpPr>
        <p:spPr>
          <a:xfrm>
            <a:off x="6442693" y="1601891"/>
            <a:ext cx="1367682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9900" dirty="0"/>
              <a:t>?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EE9B3C43-E180-49F7-B85D-835471F59A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103" y="1973278"/>
            <a:ext cx="4726643" cy="37813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09B8EE-C630-405B-8941-C63E3D5DE1D1}"/>
              </a:ext>
            </a:extLst>
          </p:cNvPr>
          <p:cNvSpPr txBox="1"/>
          <p:nvPr/>
        </p:nvSpPr>
        <p:spPr>
          <a:xfrm>
            <a:off x="2180492" y="6361074"/>
            <a:ext cx="8875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Resolução dos Exercícios da Aula 1 </a:t>
            </a:r>
            <a:endParaRPr lang="pt-BR" dirty="0">
              <a:hlinkClick r:id="rId5"/>
            </a:endParaRPr>
          </a:p>
          <a:p>
            <a:r>
              <a:rPr lang="pt-BR" dirty="0">
                <a:hlinkClick r:id="rId5"/>
              </a:rPr>
              <a:t>https://drive.google.com/file/d/16mpT4kJeVPvn8TlPX3zK5bX0SPNMsnDa/view?usp=sharing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DBEA5-B4AC-44B1-6732-A7BA1F6C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Carga Cognitiva e 2 maneiras de usar a 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1C6D8-A2B5-1031-92FE-3D0D66E60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Carga Cognitiva =&gt; Aprendizado</a:t>
            </a:r>
          </a:p>
          <a:p>
            <a:pPr lvl="1"/>
            <a:r>
              <a:rPr lang="en-US"/>
              <a:t>Terceirizar a carga cognitiva para um LLM ao tentar aprender algo</a:t>
            </a:r>
          </a:p>
          <a:p>
            <a:pPr lvl="2"/>
            <a:r>
              <a:rPr lang="en-US"/>
              <a:t>É o mesmo que treinar corrida fazendo o percurso de carro</a:t>
            </a:r>
          </a:p>
          <a:p>
            <a:r>
              <a:rPr lang="en-US"/>
              <a:t>Duas maneiras de usar a IA</a:t>
            </a:r>
          </a:p>
          <a:p>
            <a:pPr lvl="1"/>
            <a:r>
              <a:rPr lang="en-US"/>
              <a:t>Usar para aprender vs Usar para evitar aprender</a:t>
            </a:r>
          </a:p>
          <a:p>
            <a:pPr lvl="2"/>
            <a:r>
              <a:rPr lang="en-US"/>
              <a:t>Qual das duas fazer?</a:t>
            </a:r>
          </a:p>
          <a:p>
            <a:endParaRPr lang="en-US"/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7C532984-6304-EAAC-BC30-49625270A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3573" y="5330758"/>
            <a:ext cx="4652605" cy="209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960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Estruturas de Fluxo Alternativo: Condicional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1D3DAA-06EA-4752-A6A2-8EB565106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936" y="1206500"/>
            <a:ext cx="8343900" cy="635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286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Fluxograma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3" name="Diamond 2">
            <a:extLst>
              <a:ext uri="{FF2B5EF4-FFF2-40B4-BE49-F238E27FC236}">
                <a16:creationId xmlns:a16="http://schemas.microsoft.com/office/drawing/2014/main" id="{ACF8C578-700F-46D1-86CB-9BBB696F21F6}"/>
              </a:ext>
            </a:extLst>
          </p:cNvPr>
          <p:cNvSpPr/>
          <p:nvPr/>
        </p:nvSpPr>
        <p:spPr>
          <a:xfrm>
            <a:off x="19375" y="2428380"/>
            <a:ext cx="6864022" cy="2950384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dirty="0"/>
              <a:t>coffeeEmpty==true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541EFB-4519-4964-B5DE-69216B48CE98}"/>
              </a:ext>
            </a:extLst>
          </p:cNvPr>
          <p:cNvCxnSpPr>
            <a:cxnSpLocks/>
            <a:stCxn id="17" idx="4"/>
            <a:endCxn id="3" idx="0"/>
          </p:cNvCxnSpPr>
          <p:nvPr/>
        </p:nvCxnSpPr>
        <p:spPr>
          <a:xfrm>
            <a:off x="3451386" y="1608328"/>
            <a:ext cx="0" cy="8200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0EA8D7-7BFE-4EAD-B31D-2E16649A2D92}"/>
              </a:ext>
            </a:extLst>
          </p:cNvPr>
          <p:cNvCxnSpPr>
            <a:cxnSpLocks/>
          </p:cNvCxnSpPr>
          <p:nvPr/>
        </p:nvCxnSpPr>
        <p:spPr>
          <a:xfrm>
            <a:off x="3448759" y="5378764"/>
            <a:ext cx="0" cy="90841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B4F96D-6316-4E88-83CD-5B3652FA9209}"/>
              </a:ext>
            </a:extLst>
          </p:cNvPr>
          <p:cNvCxnSpPr>
            <a:cxnSpLocks/>
          </p:cNvCxnSpPr>
          <p:nvPr/>
        </p:nvCxnSpPr>
        <p:spPr>
          <a:xfrm>
            <a:off x="6883397" y="3908242"/>
            <a:ext cx="932793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B021A0E-FFF4-4E07-867F-683294F9E607}"/>
              </a:ext>
            </a:extLst>
          </p:cNvPr>
          <p:cNvSpPr/>
          <p:nvPr/>
        </p:nvSpPr>
        <p:spPr>
          <a:xfrm>
            <a:off x="7821690" y="3406966"/>
            <a:ext cx="3424734" cy="99321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/>
              <a:t>RefillCoffe()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871539-3A69-45CB-BEDC-7BE5E7DDF54B}"/>
              </a:ext>
            </a:extLst>
          </p:cNvPr>
          <p:cNvGrpSpPr/>
          <p:nvPr/>
        </p:nvGrpSpPr>
        <p:grpSpPr>
          <a:xfrm>
            <a:off x="3049365" y="887307"/>
            <a:ext cx="804041" cy="721021"/>
            <a:chOff x="2837793" y="898634"/>
            <a:chExt cx="804041" cy="72102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EB2E93-6F51-443E-9D8A-00F62F68A883}"/>
                </a:ext>
              </a:extLst>
            </p:cNvPr>
            <p:cNvSpPr/>
            <p:nvPr/>
          </p:nvSpPr>
          <p:spPr>
            <a:xfrm>
              <a:off x="2837793" y="898634"/>
              <a:ext cx="804041" cy="72102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E2DBD5-4BCF-4F7E-BE2C-D9FC42ED2D35}"/>
                </a:ext>
              </a:extLst>
            </p:cNvPr>
            <p:cNvSpPr/>
            <p:nvPr/>
          </p:nvSpPr>
          <p:spPr>
            <a:xfrm>
              <a:off x="2990194" y="1019502"/>
              <a:ext cx="493986" cy="4689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C4188D9-83F7-4D1A-A69E-E7CA47AEA70B}"/>
              </a:ext>
            </a:extLst>
          </p:cNvPr>
          <p:cNvSpPr/>
          <p:nvPr/>
        </p:nvSpPr>
        <p:spPr>
          <a:xfrm>
            <a:off x="1640347" y="6287180"/>
            <a:ext cx="3424734" cy="99321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/>
              <a:t>DrinkCoffe()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A7A78EE-8964-4203-A6E9-AA3CC7E218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465" r="9675"/>
          <a:stretch/>
        </p:blipFill>
        <p:spPr>
          <a:xfrm>
            <a:off x="10390410" y="12146"/>
            <a:ext cx="3029990" cy="325590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D735C40-82A5-42E3-A698-A0A5A86289F6}"/>
              </a:ext>
            </a:extLst>
          </p:cNvPr>
          <p:cNvSpPr txBox="1"/>
          <p:nvPr/>
        </p:nvSpPr>
        <p:spPr>
          <a:xfrm>
            <a:off x="6883397" y="3283876"/>
            <a:ext cx="6944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sim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7635FD-A42B-4979-9C83-A2E0E79615DF}"/>
              </a:ext>
            </a:extLst>
          </p:cNvPr>
          <p:cNvSpPr txBox="1"/>
          <p:nvPr/>
        </p:nvSpPr>
        <p:spPr>
          <a:xfrm>
            <a:off x="3562499" y="5484676"/>
            <a:ext cx="734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não</a:t>
            </a:r>
          </a:p>
        </p:txBody>
      </p:sp>
    </p:spTree>
    <p:extLst>
      <p:ext uri="{BB962C8B-B14F-4D97-AF65-F5344CB8AC3E}">
        <p14:creationId xmlns:p14="http://schemas.microsoft.com/office/powerpoint/2010/main" val="1258859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Estruturas de Fluxo Alternativo: Condicional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340EC8-D23F-4824-911C-D9BC5AC95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C71625-35C4-4EBC-8A90-43BA2D4E1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137" y="1063625"/>
            <a:ext cx="8324850" cy="649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98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Fluxograma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413720-1382-45DE-BD38-195616A1D104}"/>
              </a:ext>
            </a:extLst>
          </p:cNvPr>
          <p:cNvSpPr txBox="1"/>
          <p:nvPr/>
        </p:nvSpPr>
        <p:spPr>
          <a:xfrm>
            <a:off x="4435690" y="6989237"/>
            <a:ext cx="4003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! é o operador de negação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08A2D47-FAA8-4ABC-88A9-9979EDC53F86}"/>
              </a:ext>
            </a:extLst>
          </p:cNvPr>
          <p:cNvGrpSpPr/>
          <p:nvPr/>
        </p:nvGrpSpPr>
        <p:grpSpPr>
          <a:xfrm>
            <a:off x="772346" y="898634"/>
            <a:ext cx="6574390" cy="6381757"/>
            <a:chOff x="1429571" y="898634"/>
            <a:chExt cx="6574390" cy="6381757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ACF8C578-700F-46D1-86CB-9BBB696F21F6}"/>
                </a:ext>
              </a:extLst>
            </p:cNvPr>
            <p:cNvSpPr/>
            <p:nvPr/>
          </p:nvSpPr>
          <p:spPr>
            <a:xfrm>
              <a:off x="1429571" y="2428380"/>
              <a:ext cx="3501238" cy="295038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000" dirty="0"/>
                <a:t>! </a:t>
              </a:r>
              <a:r>
                <a:rPr lang="pt-BR" sz="4000" dirty="0" err="1"/>
                <a:t>tired</a:t>
              </a:r>
              <a:r>
                <a:rPr lang="pt-BR" sz="4000" dirty="0"/>
                <a:t>()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5541EFB-4519-4964-B5DE-69216B48CE98}"/>
                </a:ext>
              </a:extLst>
            </p:cNvPr>
            <p:cNvCxnSpPr>
              <a:cxnSpLocks/>
              <a:stCxn id="17" idx="4"/>
              <a:endCxn id="3" idx="0"/>
            </p:cNvCxnSpPr>
            <p:nvPr/>
          </p:nvCxnSpPr>
          <p:spPr>
            <a:xfrm flipH="1">
              <a:off x="3180190" y="1619655"/>
              <a:ext cx="2474" cy="80872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0EA8D7-7BFE-4EAD-B31D-2E16649A2D92}"/>
                </a:ext>
              </a:extLst>
            </p:cNvPr>
            <p:cNvCxnSpPr>
              <a:cxnSpLocks/>
            </p:cNvCxnSpPr>
            <p:nvPr/>
          </p:nvCxnSpPr>
          <p:spPr>
            <a:xfrm>
              <a:off x="3194157" y="5378764"/>
              <a:ext cx="0" cy="90841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1B4F96D-6316-4E88-83CD-5B3652FA9209}"/>
                </a:ext>
              </a:extLst>
            </p:cNvPr>
            <p:cNvCxnSpPr>
              <a:cxnSpLocks/>
            </p:cNvCxnSpPr>
            <p:nvPr/>
          </p:nvCxnSpPr>
          <p:spPr>
            <a:xfrm>
              <a:off x="4959565" y="3903008"/>
              <a:ext cx="726860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B021A0E-FFF4-4E07-867F-683294F9E607}"/>
                </a:ext>
              </a:extLst>
            </p:cNvPr>
            <p:cNvSpPr/>
            <p:nvPr/>
          </p:nvSpPr>
          <p:spPr>
            <a:xfrm>
              <a:off x="5702517" y="3406402"/>
              <a:ext cx="2301444" cy="99321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KeepCoding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EB2E93-6F51-443E-9D8A-00F62F68A883}"/>
                </a:ext>
              </a:extLst>
            </p:cNvPr>
            <p:cNvSpPr/>
            <p:nvPr/>
          </p:nvSpPr>
          <p:spPr>
            <a:xfrm>
              <a:off x="2780643" y="898634"/>
              <a:ext cx="804041" cy="72102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E2DBD5-4BCF-4F7E-BE2C-D9FC42ED2D35}"/>
                </a:ext>
              </a:extLst>
            </p:cNvPr>
            <p:cNvSpPr/>
            <p:nvPr/>
          </p:nvSpPr>
          <p:spPr>
            <a:xfrm>
              <a:off x="2933044" y="1019502"/>
              <a:ext cx="493986" cy="4689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C4188D9-83F7-4D1A-A69E-E7CA47AEA70B}"/>
                </a:ext>
              </a:extLst>
            </p:cNvPr>
            <p:cNvSpPr/>
            <p:nvPr/>
          </p:nvSpPr>
          <p:spPr>
            <a:xfrm>
              <a:off x="1524820" y="6287180"/>
              <a:ext cx="3424734" cy="99321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000" dirty="0"/>
                <a:t>DrinkCoffee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284C9E-6EAA-45BC-BD58-B232D28DF1A4}"/>
                </a:ext>
              </a:extLst>
            </p:cNvPr>
            <p:cNvSpPr txBox="1"/>
            <p:nvPr/>
          </p:nvSpPr>
          <p:spPr>
            <a:xfrm>
              <a:off x="5092915" y="3256617"/>
              <a:ext cx="6944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sim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27C046-77C4-482B-B1E9-89E5733DE942}"/>
                </a:ext>
              </a:extLst>
            </p:cNvPr>
            <p:cNvSpPr txBox="1"/>
            <p:nvPr/>
          </p:nvSpPr>
          <p:spPr>
            <a:xfrm>
              <a:off x="3410099" y="5527158"/>
              <a:ext cx="7344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não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7DEE52A-411F-4495-93B5-F00D687B8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917" y="40889"/>
            <a:ext cx="3501238" cy="2732087"/>
          </a:xfrm>
          <a:prstGeom prst="rect">
            <a:avLst/>
          </a:prstGeom>
        </p:spPr>
      </p:pic>
      <p:sp>
        <p:nvSpPr>
          <p:cNvPr id="18" name="Espaço Reservado para Conteúdo 2">
            <a:extLst>
              <a:ext uri="{FF2B5EF4-FFF2-40B4-BE49-F238E27FC236}">
                <a16:creationId xmlns:a16="http://schemas.microsoft.com/office/drawing/2014/main" id="{9B52B40A-2785-429C-9E4E-2691830AC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39349" y="3256617"/>
            <a:ext cx="5000425" cy="34637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PROGRAMA </a:t>
            </a:r>
            <a:r>
              <a:rPr lang="en-US" sz="3200" dirty="0" err="1"/>
              <a:t>Codificar</a:t>
            </a:r>
            <a:r>
              <a:rPr lang="en-US" sz="3200" dirty="0"/>
              <a:t>:</a:t>
            </a:r>
          </a:p>
          <a:p>
            <a:pPr marL="0" indent="0">
              <a:buNone/>
            </a:pPr>
            <a:r>
              <a:rPr lang="en-US" sz="3200" b="1" dirty="0"/>
              <a:t>se</a:t>
            </a:r>
            <a:r>
              <a:rPr lang="en-US" sz="3200" dirty="0"/>
              <a:t> !</a:t>
            </a:r>
            <a:r>
              <a:rPr lang="en-US" sz="3200" dirty="0" err="1"/>
              <a:t>cansado</a:t>
            </a:r>
            <a:r>
              <a:rPr lang="en-US" sz="3200" dirty="0"/>
              <a:t>() </a:t>
            </a:r>
            <a:r>
              <a:rPr lang="en-US" sz="3200" b="1" dirty="0" err="1"/>
              <a:t>então</a:t>
            </a:r>
            <a:endParaRPr lang="en-US" sz="3200" b="1" dirty="0"/>
          </a:p>
          <a:p>
            <a:pPr marL="0" indent="0">
              <a:buNone/>
            </a:pPr>
            <a:r>
              <a:rPr lang="en-US" sz="3200" dirty="0"/>
              <a:t>	</a:t>
            </a:r>
            <a:r>
              <a:rPr lang="en-US" sz="3200" dirty="0" err="1"/>
              <a:t>continuarCodificando</a:t>
            </a:r>
            <a:r>
              <a:rPr lang="en-US" sz="3200" dirty="0"/>
              <a:t>()</a:t>
            </a:r>
          </a:p>
          <a:p>
            <a:pPr marL="0" indent="0">
              <a:buNone/>
            </a:pPr>
            <a:r>
              <a:rPr lang="en-US" sz="3200" b="1" dirty="0"/>
              <a:t>se </a:t>
            </a:r>
            <a:r>
              <a:rPr lang="en-US" sz="3200" b="1" dirty="0" err="1"/>
              <a:t>não</a:t>
            </a:r>
            <a:endParaRPr lang="en-US" sz="3200" dirty="0"/>
          </a:p>
          <a:p>
            <a:pPr marL="0" indent="0">
              <a:buNone/>
            </a:pPr>
            <a:r>
              <a:rPr lang="en-US" sz="3200" dirty="0"/>
              <a:t>	</a:t>
            </a:r>
            <a:r>
              <a:rPr lang="en-US" sz="3200" dirty="0" err="1"/>
              <a:t>beberCafe</a:t>
            </a:r>
            <a:r>
              <a:rPr lang="en-US" sz="3200" dirty="0"/>
              <a:t>()</a:t>
            </a:r>
          </a:p>
          <a:p>
            <a:pPr marL="0" indent="0">
              <a:buNone/>
            </a:pPr>
            <a:r>
              <a:rPr lang="en-US" sz="3200" b="1" dirty="0"/>
              <a:t>FINALIZAR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8901993-AED4-44EC-B44B-620F65C02637}"/>
              </a:ext>
            </a:extLst>
          </p:cNvPr>
          <p:cNvGrpSpPr/>
          <p:nvPr/>
        </p:nvGrpSpPr>
        <p:grpSpPr>
          <a:xfrm>
            <a:off x="5533239" y="4676775"/>
            <a:ext cx="3867936" cy="1540977"/>
            <a:chOff x="5533239" y="4676775"/>
            <a:chExt cx="3867936" cy="1540977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896E199-FA13-4101-AECD-964C40B80DDD}"/>
                </a:ext>
              </a:extLst>
            </p:cNvPr>
            <p:cNvCxnSpPr>
              <a:cxnSpLocks/>
            </p:cNvCxnSpPr>
            <p:nvPr/>
          </p:nvCxnSpPr>
          <p:spPr>
            <a:xfrm>
              <a:off x="8543925" y="4676775"/>
              <a:ext cx="85725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Speech Bubble: Rectangle with Corners Rounded 29">
              <a:extLst>
                <a:ext uri="{FF2B5EF4-FFF2-40B4-BE49-F238E27FC236}">
                  <a16:creationId xmlns:a16="http://schemas.microsoft.com/office/drawing/2014/main" id="{A707BF2C-B4ED-4C07-BFB1-20C7E4E0E59A}"/>
                </a:ext>
              </a:extLst>
            </p:cNvPr>
            <p:cNvSpPr/>
            <p:nvPr/>
          </p:nvSpPr>
          <p:spPr>
            <a:xfrm>
              <a:off x="5533239" y="5448192"/>
              <a:ext cx="2301427" cy="769560"/>
            </a:xfrm>
            <a:prstGeom prst="wedgeRoundRectCallout">
              <a:avLst>
                <a:gd name="adj1" fmla="val 78083"/>
                <a:gd name="adj2" fmla="val -150388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400" dirty="0"/>
                <a:t>Indentação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06D43EA-1C6A-459D-8A2D-86CE4A155F8F}"/>
              </a:ext>
            </a:extLst>
          </p:cNvPr>
          <p:cNvGrpSpPr/>
          <p:nvPr/>
        </p:nvGrpSpPr>
        <p:grpSpPr>
          <a:xfrm>
            <a:off x="8521363" y="2512487"/>
            <a:ext cx="907863" cy="4476750"/>
            <a:chOff x="7629525" y="1076325"/>
            <a:chExt cx="907863" cy="4476750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106BFF8-F560-4D45-ADCC-A20AE19A63FF}"/>
                </a:ext>
              </a:extLst>
            </p:cNvPr>
            <p:cNvCxnSpPr/>
            <p:nvPr/>
          </p:nvCxnSpPr>
          <p:spPr>
            <a:xfrm>
              <a:off x="7629525" y="1076325"/>
              <a:ext cx="0" cy="4476750"/>
            </a:xfrm>
            <a:prstGeom prst="line">
              <a:avLst/>
            </a:prstGeom>
            <a:ln w="28575"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62344B6-AA2E-4D1B-8659-C1E9E9D0CEFD}"/>
                </a:ext>
              </a:extLst>
            </p:cNvPr>
            <p:cNvCxnSpPr>
              <a:cxnSpLocks/>
            </p:cNvCxnSpPr>
            <p:nvPr/>
          </p:nvCxnSpPr>
          <p:spPr>
            <a:xfrm>
              <a:off x="8537388" y="2821513"/>
              <a:ext cx="0" cy="828675"/>
            </a:xfrm>
            <a:prstGeom prst="line">
              <a:avLst/>
            </a:prstGeom>
            <a:ln w="28575"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725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 fontScale="90000"/>
          </a:bodyPr>
          <a:lstStyle/>
          <a:p>
            <a:r>
              <a:rPr lang="pt-BR" dirty="0"/>
              <a:t>Estruturas de Fluxo Alternativo: Loop/Laço Enquanto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6" name="Diamond 15">
            <a:extLst>
              <a:ext uri="{FF2B5EF4-FFF2-40B4-BE49-F238E27FC236}">
                <a16:creationId xmlns:a16="http://schemas.microsoft.com/office/drawing/2014/main" id="{BD3F44E9-2B95-4E0D-B794-E84C6E6FE36D}"/>
              </a:ext>
            </a:extLst>
          </p:cNvPr>
          <p:cNvSpPr/>
          <p:nvPr/>
        </p:nvSpPr>
        <p:spPr>
          <a:xfrm>
            <a:off x="3552822" y="4398343"/>
            <a:ext cx="4333877" cy="1567615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/>
              <a:t>condição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D43577A-F30F-4FF2-8347-76A1DFD6E6AB}"/>
              </a:ext>
            </a:extLst>
          </p:cNvPr>
          <p:cNvGrpSpPr/>
          <p:nvPr/>
        </p:nvGrpSpPr>
        <p:grpSpPr>
          <a:xfrm>
            <a:off x="5317739" y="1362584"/>
            <a:ext cx="804041" cy="721021"/>
            <a:chOff x="2837793" y="898634"/>
            <a:chExt cx="804041" cy="721021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DC94A3-9ACC-4427-8ADA-1A8D07BC1E71}"/>
                </a:ext>
              </a:extLst>
            </p:cNvPr>
            <p:cNvSpPr/>
            <p:nvPr/>
          </p:nvSpPr>
          <p:spPr>
            <a:xfrm>
              <a:off x="2837793" y="898634"/>
              <a:ext cx="804041" cy="72102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DC53C29-3FEF-4D81-8243-6DEA7AB1BEDE}"/>
                </a:ext>
              </a:extLst>
            </p:cNvPr>
            <p:cNvSpPr/>
            <p:nvPr/>
          </p:nvSpPr>
          <p:spPr>
            <a:xfrm>
              <a:off x="2990194" y="1019502"/>
              <a:ext cx="493986" cy="4689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A2C0C36-596C-456F-A59C-28B8B9386582}"/>
              </a:ext>
            </a:extLst>
          </p:cNvPr>
          <p:cNvSpPr/>
          <p:nvPr/>
        </p:nvSpPr>
        <p:spPr>
          <a:xfrm>
            <a:off x="4007393" y="2804626"/>
            <a:ext cx="3424734" cy="60372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dirty="0"/>
              <a:t>Ação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498B90-2008-4521-9BF7-EF7C795B3A2C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>
            <a:off x="5719760" y="2083605"/>
            <a:ext cx="0" cy="72102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29472F-D521-4DFA-A904-C884402D5285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5719760" y="3408352"/>
            <a:ext cx="0" cy="98999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9DFC2AB-8986-4E27-9270-790EAFE850D4}"/>
              </a:ext>
            </a:extLst>
          </p:cNvPr>
          <p:cNvGrpSpPr/>
          <p:nvPr/>
        </p:nvGrpSpPr>
        <p:grpSpPr>
          <a:xfrm>
            <a:off x="5398700" y="6815138"/>
            <a:ext cx="643591" cy="635803"/>
            <a:chOff x="5470140" y="6815138"/>
            <a:chExt cx="643591" cy="635803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3A0D33F-C2DA-4268-8323-53A5C30B7670}"/>
                </a:ext>
              </a:extLst>
            </p:cNvPr>
            <p:cNvSpPr/>
            <p:nvPr/>
          </p:nvSpPr>
          <p:spPr>
            <a:xfrm>
              <a:off x="5470140" y="6815138"/>
              <a:ext cx="643591" cy="63580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85DE615-595D-4784-9BF4-CAB6A64B495F}"/>
                </a:ext>
              </a:extLst>
            </p:cNvPr>
            <p:cNvCxnSpPr>
              <a:cxnSpLocks/>
              <a:stCxn id="28" idx="1"/>
              <a:endCxn id="28" idx="5"/>
            </p:cNvCxnSpPr>
            <p:nvPr/>
          </p:nvCxnSpPr>
          <p:spPr>
            <a:xfrm>
              <a:off x="5564392" y="6908249"/>
              <a:ext cx="455087" cy="44958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D0F3753-962D-46DA-9603-394129247A73}"/>
                </a:ext>
              </a:extLst>
            </p:cNvPr>
            <p:cNvCxnSpPr>
              <a:stCxn id="28" idx="3"/>
              <a:endCxn id="28" idx="7"/>
            </p:cNvCxnSpPr>
            <p:nvPr/>
          </p:nvCxnSpPr>
          <p:spPr>
            <a:xfrm flipV="1">
              <a:off x="5564392" y="6908249"/>
              <a:ext cx="455087" cy="44958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D5DA73F-9ADA-45E5-B6CA-1161E7EA5EC9}"/>
              </a:ext>
            </a:extLst>
          </p:cNvPr>
          <p:cNvCxnSpPr>
            <a:cxnSpLocks/>
            <a:stCxn id="16" idx="2"/>
            <a:endCxn id="28" idx="0"/>
          </p:cNvCxnSpPr>
          <p:nvPr/>
        </p:nvCxnSpPr>
        <p:spPr>
          <a:xfrm>
            <a:off x="5719761" y="5965958"/>
            <a:ext cx="735" cy="84918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2B6A207-9808-4961-8652-F9B3DEEB507D}"/>
              </a:ext>
            </a:extLst>
          </p:cNvPr>
          <p:cNvSpPr txBox="1"/>
          <p:nvPr/>
        </p:nvSpPr>
        <p:spPr>
          <a:xfrm>
            <a:off x="6116191" y="6113809"/>
            <a:ext cx="734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não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625FF4B1-FAE6-415F-80A9-5308F05F19AC}"/>
              </a:ext>
            </a:extLst>
          </p:cNvPr>
          <p:cNvCxnSpPr>
            <a:cxnSpLocks/>
            <a:endCxn id="20" idx="3"/>
          </p:cNvCxnSpPr>
          <p:nvPr/>
        </p:nvCxnSpPr>
        <p:spPr>
          <a:xfrm rot="16200000" flipV="1">
            <a:off x="7056038" y="3482578"/>
            <a:ext cx="2075662" cy="1323483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547FAB9-7474-4440-B651-7099E278634A}"/>
              </a:ext>
            </a:extLst>
          </p:cNvPr>
          <p:cNvCxnSpPr>
            <a:stCxn id="16" idx="3"/>
          </p:cNvCxnSpPr>
          <p:nvPr/>
        </p:nvCxnSpPr>
        <p:spPr>
          <a:xfrm flipV="1">
            <a:off x="7886699" y="5182150"/>
            <a:ext cx="878431" cy="1"/>
          </a:xfrm>
          <a:prstGeom prst="line">
            <a:avLst/>
          </a:prstGeom>
          <a:ln w="762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7F0582C5-5A4D-4FDD-8C8A-1EE42B40E4EF}"/>
              </a:ext>
            </a:extLst>
          </p:cNvPr>
          <p:cNvSpPr txBox="1"/>
          <p:nvPr/>
        </p:nvSpPr>
        <p:spPr>
          <a:xfrm>
            <a:off x="8150056" y="5265426"/>
            <a:ext cx="6944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sim</a:t>
            </a:r>
          </a:p>
        </p:txBody>
      </p:sp>
    </p:spTree>
    <p:extLst>
      <p:ext uri="{BB962C8B-B14F-4D97-AF65-F5344CB8AC3E}">
        <p14:creationId xmlns:p14="http://schemas.microsoft.com/office/powerpoint/2010/main" val="3648847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 fontScale="90000"/>
          </a:bodyPr>
          <a:lstStyle/>
          <a:p>
            <a:r>
              <a:rPr lang="pt-BR" dirty="0"/>
              <a:t>Estruturas de Fluxo Alternativo: Loop/Laço Enquanto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6" name="Diamond 15">
            <a:extLst>
              <a:ext uri="{FF2B5EF4-FFF2-40B4-BE49-F238E27FC236}">
                <a16:creationId xmlns:a16="http://schemas.microsoft.com/office/drawing/2014/main" id="{BD3F44E9-2B95-4E0D-B794-E84C6E6FE36D}"/>
              </a:ext>
            </a:extLst>
          </p:cNvPr>
          <p:cNvSpPr/>
          <p:nvPr/>
        </p:nvSpPr>
        <p:spPr>
          <a:xfrm>
            <a:off x="413482" y="5016885"/>
            <a:ext cx="4333877" cy="1277005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dirty="0"/>
              <a:t>n &lt;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D43577A-F30F-4FF2-8347-76A1DFD6E6AB}"/>
              </a:ext>
            </a:extLst>
          </p:cNvPr>
          <p:cNvGrpSpPr/>
          <p:nvPr/>
        </p:nvGrpSpPr>
        <p:grpSpPr>
          <a:xfrm>
            <a:off x="2126864" y="1362584"/>
            <a:ext cx="804041" cy="721021"/>
            <a:chOff x="2837793" y="898634"/>
            <a:chExt cx="804041" cy="721021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DC94A3-9ACC-4427-8ADA-1A8D07BC1E71}"/>
                </a:ext>
              </a:extLst>
            </p:cNvPr>
            <p:cNvSpPr/>
            <p:nvPr/>
          </p:nvSpPr>
          <p:spPr>
            <a:xfrm>
              <a:off x="2837793" y="898634"/>
              <a:ext cx="804041" cy="72102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DC53C29-3FEF-4D81-8243-6DEA7AB1BEDE}"/>
                </a:ext>
              </a:extLst>
            </p:cNvPr>
            <p:cNvSpPr/>
            <p:nvPr/>
          </p:nvSpPr>
          <p:spPr>
            <a:xfrm>
              <a:off x="2990194" y="1019502"/>
              <a:ext cx="493986" cy="4689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A2C0C36-596C-456F-A59C-28B8B9386582}"/>
              </a:ext>
            </a:extLst>
          </p:cNvPr>
          <p:cNvSpPr/>
          <p:nvPr/>
        </p:nvSpPr>
        <p:spPr>
          <a:xfrm>
            <a:off x="868054" y="3601301"/>
            <a:ext cx="3424734" cy="86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dirty="0"/>
              <a:t>n = n + 1</a:t>
            </a:r>
          </a:p>
          <a:p>
            <a:pPr algn="ctr"/>
            <a:r>
              <a:rPr lang="pt-BR" sz="2800" dirty="0"/>
              <a:t>imprimir(n)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498B90-2008-4521-9BF7-EF7C795B3A2C}"/>
              </a:ext>
            </a:extLst>
          </p:cNvPr>
          <p:cNvCxnSpPr>
            <a:cxnSpLocks/>
            <a:stCxn id="18" idx="4"/>
            <a:endCxn id="60" idx="0"/>
          </p:cNvCxnSpPr>
          <p:nvPr/>
        </p:nvCxnSpPr>
        <p:spPr>
          <a:xfrm flipH="1">
            <a:off x="2523360" y="2083605"/>
            <a:ext cx="5525" cy="42077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29472F-D521-4DFA-A904-C884402D5285}"/>
              </a:ext>
            </a:extLst>
          </p:cNvPr>
          <p:cNvCxnSpPr>
            <a:cxnSpLocks/>
            <a:stCxn id="20" idx="2"/>
            <a:endCxn id="16" idx="0"/>
          </p:cNvCxnSpPr>
          <p:nvPr/>
        </p:nvCxnSpPr>
        <p:spPr>
          <a:xfrm>
            <a:off x="2580421" y="4469637"/>
            <a:ext cx="0" cy="54724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9DFC2AB-8986-4E27-9270-790EAFE850D4}"/>
              </a:ext>
            </a:extLst>
          </p:cNvPr>
          <p:cNvGrpSpPr/>
          <p:nvPr/>
        </p:nvGrpSpPr>
        <p:grpSpPr>
          <a:xfrm>
            <a:off x="2258625" y="6815138"/>
            <a:ext cx="643591" cy="635803"/>
            <a:chOff x="5470140" y="6815138"/>
            <a:chExt cx="643591" cy="635803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3A0D33F-C2DA-4268-8323-53A5C30B7670}"/>
                </a:ext>
              </a:extLst>
            </p:cNvPr>
            <p:cNvSpPr/>
            <p:nvPr/>
          </p:nvSpPr>
          <p:spPr>
            <a:xfrm>
              <a:off x="5470140" y="6815138"/>
              <a:ext cx="643591" cy="63580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85DE615-595D-4784-9BF4-CAB6A64B495F}"/>
                </a:ext>
              </a:extLst>
            </p:cNvPr>
            <p:cNvCxnSpPr>
              <a:cxnSpLocks/>
              <a:stCxn id="28" idx="1"/>
              <a:endCxn id="28" idx="5"/>
            </p:cNvCxnSpPr>
            <p:nvPr/>
          </p:nvCxnSpPr>
          <p:spPr>
            <a:xfrm>
              <a:off x="5564392" y="6908249"/>
              <a:ext cx="455087" cy="44958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D0F3753-962D-46DA-9603-394129247A73}"/>
                </a:ext>
              </a:extLst>
            </p:cNvPr>
            <p:cNvCxnSpPr>
              <a:stCxn id="28" idx="3"/>
              <a:endCxn id="28" idx="7"/>
            </p:cNvCxnSpPr>
            <p:nvPr/>
          </p:nvCxnSpPr>
          <p:spPr>
            <a:xfrm flipV="1">
              <a:off x="5564392" y="6908249"/>
              <a:ext cx="455087" cy="44958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D5DA73F-9ADA-45E5-B6CA-1161E7EA5EC9}"/>
              </a:ext>
            </a:extLst>
          </p:cNvPr>
          <p:cNvCxnSpPr>
            <a:cxnSpLocks/>
            <a:stCxn id="16" idx="2"/>
            <a:endCxn id="28" idx="0"/>
          </p:cNvCxnSpPr>
          <p:nvPr/>
        </p:nvCxnSpPr>
        <p:spPr>
          <a:xfrm>
            <a:off x="2580421" y="6293890"/>
            <a:ext cx="0" cy="52124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2B6A207-9808-4961-8652-F9B3DEEB507D}"/>
              </a:ext>
            </a:extLst>
          </p:cNvPr>
          <p:cNvSpPr txBox="1"/>
          <p:nvPr/>
        </p:nvSpPr>
        <p:spPr>
          <a:xfrm>
            <a:off x="2976116" y="6113809"/>
            <a:ext cx="734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não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625FF4B1-FAE6-415F-80A9-5308F05F1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3716" y="4388524"/>
            <a:ext cx="1555936" cy="977790"/>
          </a:xfrm>
          <a:prstGeom prst="bentConnector3">
            <a:avLst>
              <a:gd name="adj1" fmla="val 99790"/>
            </a:avLst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547FAB9-7474-4440-B651-7099E278634A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4747359" y="5655387"/>
            <a:ext cx="523220" cy="1"/>
          </a:xfrm>
          <a:prstGeom prst="line">
            <a:avLst/>
          </a:prstGeom>
          <a:ln w="762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7F0582C5-5A4D-4FDD-8C8A-1EE42B40E4EF}"/>
              </a:ext>
            </a:extLst>
          </p:cNvPr>
          <p:cNvSpPr txBox="1"/>
          <p:nvPr/>
        </p:nvSpPr>
        <p:spPr>
          <a:xfrm>
            <a:off x="4747359" y="5713028"/>
            <a:ext cx="6944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sim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02684279-F67A-4DFA-87DC-6827CF8BCF94}"/>
              </a:ext>
            </a:extLst>
          </p:cNvPr>
          <p:cNvSpPr/>
          <p:nvPr/>
        </p:nvSpPr>
        <p:spPr>
          <a:xfrm>
            <a:off x="810993" y="2504377"/>
            <a:ext cx="3424734" cy="60372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dirty="0"/>
              <a:t>n = 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FF5FCEA-5837-42FF-9724-4D3A13DD8138}"/>
              </a:ext>
            </a:extLst>
          </p:cNvPr>
          <p:cNvCxnSpPr>
            <a:cxnSpLocks/>
          </p:cNvCxnSpPr>
          <p:nvPr/>
        </p:nvCxnSpPr>
        <p:spPr>
          <a:xfrm>
            <a:off x="2560516" y="3134103"/>
            <a:ext cx="0" cy="52124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2" name="Espaço Reservado para Conteúdo 2">
            <a:extLst>
              <a:ext uri="{FF2B5EF4-FFF2-40B4-BE49-F238E27FC236}">
                <a16:creationId xmlns:a16="http://schemas.microsoft.com/office/drawing/2014/main" id="{9BCA09E6-E547-41F0-9B43-43F6F1B1C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8213" y="1509297"/>
            <a:ext cx="5729008" cy="5741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PROGRAMA </a:t>
            </a:r>
            <a:r>
              <a:rPr lang="en-US" dirty="0" err="1"/>
              <a:t>ImprimirNums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n=1</a:t>
            </a:r>
          </a:p>
          <a:p>
            <a:pPr marL="0" indent="0">
              <a:buNone/>
            </a:pPr>
            <a:r>
              <a:rPr lang="en-US" b="1" dirty="0" err="1"/>
              <a:t>enquanto</a:t>
            </a:r>
            <a:r>
              <a:rPr lang="en-US" dirty="0"/>
              <a:t> n &lt; 10</a:t>
            </a:r>
          </a:p>
          <a:p>
            <a:pPr marL="0" indent="0">
              <a:buNone/>
            </a:pPr>
            <a:r>
              <a:rPr lang="en-US" dirty="0"/>
              <a:t>        n = n + 1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imprimir</a:t>
            </a:r>
            <a:r>
              <a:rPr lang="en-US" dirty="0"/>
              <a:t>(n)</a:t>
            </a:r>
          </a:p>
          <a:p>
            <a:pPr marL="0" indent="0">
              <a:buNone/>
            </a:pPr>
            <a:r>
              <a:rPr lang="en-US" b="1" dirty="0"/>
              <a:t>FINALIZAR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ADE417-B0BF-4E6C-8BEF-B6072E133520}"/>
              </a:ext>
            </a:extLst>
          </p:cNvPr>
          <p:cNvGrpSpPr/>
          <p:nvPr/>
        </p:nvGrpSpPr>
        <p:grpSpPr>
          <a:xfrm>
            <a:off x="4485618" y="1076325"/>
            <a:ext cx="3918420" cy="4476750"/>
            <a:chOff x="4485618" y="1076325"/>
            <a:chExt cx="3918420" cy="447675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76E0D7C-B132-47FA-85EA-95CF9F20D671}"/>
                </a:ext>
              </a:extLst>
            </p:cNvPr>
            <p:cNvGrpSpPr/>
            <p:nvPr/>
          </p:nvGrpSpPr>
          <p:grpSpPr>
            <a:xfrm>
              <a:off x="4485618" y="2659908"/>
              <a:ext cx="3918420" cy="1665555"/>
              <a:chOff x="4485618" y="2659908"/>
              <a:chExt cx="3918420" cy="1665555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8E4DA25-4726-4688-93B1-2253A6E9817B}"/>
                  </a:ext>
                </a:extLst>
              </p:cNvPr>
              <p:cNvGrpSpPr/>
              <p:nvPr/>
            </p:nvGrpSpPr>
            <p:grpSpPr>
              <a:xfrm>
                <a:off x="4485618" y="2659908"/>
                <a:ext cx="3918420" cy="1665555"/>
                <a:chOff x="5533239" y="5448192"/>
                <a:chExt cx="3918420" cy="1665555"/>
              </a:xfrm>
            </p:grpSpPr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89DFFC6C-FCDF-4E9F-B70E-83C444A3BD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705721" y="7113747"/>
                  <a:ext cx="745938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Speech Bubble: Rectangle with Corners Rounded 24">
                  <a:extLst>
                    <a:ext uri="{FF2B5EF4-FFF2-40B4-BE49-F238E27FC236}">
                      <a16:creationId xmlns:a16="http://schemas.microsoft.com/office/drawing/2014/main" id="{F1D0E45A-C184-421D-B3B5-8262533A188A}"/>
                    </a:ext>
                  </a:extLst>
                </p:cNvPr>
                <p:cNvSpPr/>
                <p:nvPr/>
              </p:nvSpPr>
              <p:spPr>
                <a:xfrm>
                  <a:off x="5533239" y="5448192"/>
                  <a:ext cx="2301427" cy="769560"/>
                </a:xfrm>
                <a:prstGeom prst="wedgeRoundRectCallout">
                  <a:avLst>
                    <a:gd name="adj1" fmla="val 76428"/>
                    <a:gd name="adj2" fmla="val 10705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2400" dirty="0"/>
                    <a:t>Indentação</a:t>
                  </a:r>
                </a:p>
              </p:txBody>
            </p:sp>
          </p:grp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A28DBC7-3E0A-475D-B9BD-9712D20B1E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58100" y="3685039"/>
                <a:ext cx="745938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5B0928C-9B73-4ECD-A883-2AC05FB858C6}"/>
                </a:ext>
              </a:extLst>
            </p:cNvPr>
            <p:cNvGrpSpPr/>
            <p:nvPr/>
          </p:nvGrpSpPr>
          <p:grpSpPr>
            <a:xfrm>
              <a:off x="7629525" y="1076325"/>
              <a:ext cx="774513" cy="4476750"/>
              <a:chOff x="7629525" y="1076325"/>
              <a:chExt cx="774513" cy="447675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DBD543FD-7530-4081-8CCC-EE05F650F5BB}"/>
                  </a:ext>
                </a:extLst>
              </p:cNvPr>
              <p:cNvCxnSpPr/>
              <p:nvPr/>
            </p:nvCxnSpPr>
            <p:spPr>
              <a:xfrm>
                <a:off x="7629525" y="1076325"/>
                <a:ext cx="0" cy="4476750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3442B88B-D1CA-4634-B785-48F0C5169B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04038" y="3333750"/>
                <a:ext cx="0" cy="1219786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5846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49DFA6-A727-4CF6-B1BC-96DCAFD961B4}"/>
              </a:ext>
            </a:extLst>
          </p:cNvPr>
          <p:cNvSpPr/>
          <p:nvPr/>
        </p:nvSpPr>
        <p:spPr>
          <a:xfrm>
            <a:off x="7327900" y="1295350"/>
            <a:ext cx="4813300" cy="37211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83EB8CE2-7644-467C-8372-9F266367A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661697"/>
            <a:ext cx="6222999" cy="55891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PROGRAMA</a:t>
            </a:r>
            <a:r>
              <a:rPr lang="en-US" dirty="0"/>
              <a:t> </a:t>
            </a:r>
            <a:r>
              <a:rPr lang="en-US" dirty="0" err="1"/>
              <a:t>ImprimirNums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n=1</a:t>
            </a:r>
          </a:p>
          <a:p>
            <a:pPr marL="0" indent="0">
              <a:buNone/>
            </a:pPr>
            <a:r>
              <a:rPr lang="en-US" b="1" dirty="0" err="1"/>
              <a:t>enquanto</a:t>
            </a:r>
            <a:r>
              <a:rPr lang="en-US" dirty="0"/>
              <a:t> n &lt; 10</a:t>
            </a:r>
          </a:p>
          <a:p>
            <a:pPr marL="0" indent="0">
              <a:buNone/>
            </a:pPr>
            <a:r>
              <a:rPr lang="en-US" dirty="0"/>
              <a:t>        n = n + 1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imprimir</a:t>
            </a:r>
            <a:r>
              <a:rPr lang="en-US" dirty="0"/>
              <a:t>(n)</a:t>
            </a:r>
          </a:p>
          <a:p>
            <a:pPr marL="0" indent="0">
              <a:buNone/>
            </a:pPr>
            <a:r>
              <a:rPr lang="en-US" b="1" dirty="0"/>
              <a:t>FINALIZAR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 err="1"/>
              <a:t>Pseudo-código</a:t>
            </a:r>
            <a:r>
              <a:rPr lang="pt-BR" dirty="0"/>
              <a:t> (Código em Linguagem Natural)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1187422A-016E-47C3-BB84-747F5868A419}"/>
              </a:ext>
            </a:extLst>
          </p:cNvPr>
          <p:cNvSpPr txBox="1">
            <a:spLocks/>
          </p:cNvSpPr>
          <p:nvPr/>
        </p:nvSpPr>
        <p:spPr>
          <a:xfrm>
            <a:off x="7518213" y="2324099"/>
            <a:ext cx="4508687" cy="25781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n=1</a:t>
            </a:r>
          </a:p>
          <a:p>
            <a:pPr marL="0" indent="0">
              <a:buNone/>
            </a:pPr>
            <a:r>
              <a:rPr lang="en-US" b="1" dirty="0"/>
              <a:t>while</a:t>
            </a:r>
            <a:r>
              <a:rPr lang="en-US" dirty="0"/>
              <a:t> n &lt; 10: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  n = n + 1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  print(n)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563465-D784-431E-8E62-C645C0555A84}"/>
              </a:ext>
            </a:extLst>
          </p:cNvPr>
          <p:cNvSpPr txBox="1"/>
          <p:nvPr/>
        </p:nvSpPr>
        <p:spPr>
          <a:xfrm>
            <a:off x="8191500" y="1295350"/>
            <a:ext cx="26709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1">
                    <a:lumMod val="50000"/>
                  </a:schemeClr>
                </a:solidFill>
              </a:rPr>
              <a:t>Em python</a:t>
            </a:r>
            <a:endParaRPr lang="pt-BR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347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Laço </a:t>
            </a:r>
            <a:r>
              <a:rPr lang="pt-BR" dirty="0" err="1"/>
              <a:t>Enquato</a:t>
            </a:r>
            <a:r>
              <a:rPr lang="pt-BR" dirty="0"/>
              <a:t> (</a:t>
            </a:r>
            <a:r>
              <a:rPr lang="pt-BR" dirty="0" err="1"/>
              <a:t>while</a:t>
            </a:r>
            <a:r>
              <a:rPr lang="pt-BR" dirty="0"/>
              <a:t>) em Python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19D9EDE-AB4B-4F8F-9A48-F7F80B2EF9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823" t="3449"/>
          <a:stretch/>
        </p:blipFill>
        <p:spPr>
          <a:xfrm>
            <a:off x="5092700" y="1249989"/>
            <a:ext cx="3441699" cy="62917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288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 fontScale="90000"/>
          </a:bodyPr>
          <a:lstStyle/>
          <a:p>
            <a:r>
              <a:rPr lang="pt-BR" dirty="0"/>
              <a:t>Estruturas de Fluxo Alternativo: Loop/Laço Enquanto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00B852-6BE3-4BD5-9440-972DBA2EFD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" t="8364" r="-362" b="7052"/>
          <a:stretch/>
        </p:blipFill>
        <p:spPr>
          <a:xfrm>
            <a:off x="514350" y="1077461"/>
            <a:ext cx="7454900" cy="630565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A3C72C-2728-480A-A86C-9F9CA973A636}"/>
              </a:ext>
            </a:extLst>
          </p:cNvPr>
          <p:cNvSpPr txBox="1"/>
          <p:nvPr/>
        </p:nvSpPr>
        <p:spPr>
          <a:xfrm>
            <a:off x="8187485" y="3425894"/>
            <a:ext cx="43283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CoffePot = Cafeteira</a:t>
            </a:r>
          </a:p>
        </p:txBody>
      </p:sp>
    </p:spTree>
    <p:extLst>
      <p:ext uri="{BB962C8B-B14F-4D97-AF65-F5344CB8AC3E}">
        <p14:creationId xmlns:p14="http://schemas.microsoft.com/office/powerpoint/2010/main" val="3017821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 fontScale="90000"/>
          </a:bodyPr>
          <a:lstStyle/>
          <a:p>
            <a:r>
              <a:rPr lang="pt-BR" dirty="0"/>
              <a:t>Estruturas de Fluxo Alternativo: Loop/Laço Enquanto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516FDA-F711-42E2-8F58-D39FA60E463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36" b="10941"/>
          <a:stretch/>
        </p:blipFill>
        <p:spPr>
          <a:xfrm>
            <a:off x="2768600" y="1371599"/>
            <a:ext cx="6783082" cy="61880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8E80A2-A3D8-4B43-8C58-A2193C373B42}"/>
              </a:ext>
            </a:extLst>
          </p:cNvPr>
          <p:cNvSpPr txBox="1"/>
          <p:nvPr/>
        </p:nvSpPr>
        <p:spPr>
          <a:xfrm>
            <a:off x="10047288" y="5757990"/>
            <a:ext cx="30311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mug = caneca</a:t>
            </a:r>
          </a:p>
        </p:txBody>
      </p:sp>
    </p:spTree>
    <p:extLst>
      <p:ext uri="{BB962C8B-B14F-4D97-AF65-F5344CB8AC3E}">
        <p14:creationId xmlns:p14="http://schemas.microsoft.com/office/powerpoint/2010/main" val="3904628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83EB8CE2-7644-467C-8372-9F266367A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61697"/>
            <a:ext cx="12468225" cy="26055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PROGRAMA</a:t>
            </a:r>
            <a:r>
              <a:rPr lang="en-US" dirty="0"/>
              <a:t> </a:t>
            </a:r>
            <a:r>
              <a:rPr lang="en-US" dirty="0" err="1"/>
              <a:t>ImprimirPalavras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b="1" dirty="0"/>
              <a:t>Para </a:t>
            </a:r>
            <a:r>
              <a:rPr lang="en-US" b="1" dirty="0" err="1"/>
              <a:t>Cada</a:t>
            </a:r>
            <a:r>
              <a:rPr lang="en-US" dirty="0"/>
              <a:t> p </a:t>
            </a:r>
            <a:r>
              <a:rPr lang="en-US" b="1" dirty="0"/>
              <a:t>em</a:t>
            </a:r>
            <a:r>
              <a:rPr lang="en-US" dirty="0"/>
              <a:t> ['</a:t>
            </a:r>
            <a:r>
              <a:rPr lang="en-US" dirty="0" err="1"/>
              <a:t>ontem</a:t>
            </a:r>
            <a:r>
              <a:rPr lang="en-US" dirty="0"/>
              <a:t>','</a:t>
            </a:r>
            <a:r>
              <a:rPr lang="en-US" dirty="0" err="1"/>
              <a:t>hoje</a:t>
            </a:r>
            <a:r>
              <a:rPr lang="en-US" dirty="0"/>
              <a:t>','</a:t>
            </a:r>
            <a:r>
              <a:rPr lang="en-US" dirty="0" err="1"/>
              <a:t>amanha</a:t>
            </a:r>
            <a:r>
              <a:rPr lang="en-US" dirty="0"/>
              <a:t>']: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imprimir</a:t>
            </a:r>
            <a:r>
              <a:rPr lang="en-US" dirty="0"/>
              <a:t>(p)</a:t>
            </a:r>
          </a:p>
          <a:p>
            <a:pPr marL="0" indent="0">
              <a:buNone/>
            </a:pPr>
            <a:r>
              <a:rPr lang="en-US" b="1" dirty="0"/>
              <a:t>FINALIZAR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Loop/Laço "Para cada" (for)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BAAD19-3BD6-4021-BB2F-B5A9D2B32B71}"/>
              </a:ext>
            </a:extLst>
          </p:cNvPr>
          <p:cNvSpPr/>
          <p:nvPr/>
        </p:nvSpPr>
        <p:spPr>
          <a:xfrm>
            <a:off x="97048" y="4149765"/>
            <a:ext cx="5717156" cy="327396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0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EAA1EBA0-EE23-4DBB-ABE6-0C2EE3C68059}"/>
              </a:ext>
            </a:extLst>
          </p:cNvPr>
          <p:cNvSpPr txBox="1">
            <a:spLocks/>
          </p:cNvSpPr>
          <p:nvPr/>
        </p:nvSpPr>
        <p:spPr>
          <a:xfrm>
            <a:off x="114301" y="5301542"/>
            <a:ext cx="5840802" cy="17398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/>
              <a:t>for </a:t>
            </a:r>
            <a:r>
              <a:rPr lang="en-US" sz="3200" dirty="0"/>
              <a:t>p</a:t>
            </a:r>
            <a:r>
              <a:rPr lang="en-US" sz="3200" b="1" dirty="0"/>
              <a:t> in </a:t>
            </a:r>
            <a:r>
              <a:rPr lang="en-US" sz="3200" dirty="0"/>
              <a:t>['</a:t>
            </a:r>
            <a:r>
              <a:rPr lang="en-US" sz="3200" dirty="0" err="1"/>
              <a:t>ontem</a:t>
            </a:r>
            <a:r>
              <a:rPr lang="en-US" sz="3200" dirty="0"/>
              <a:t>','</a:t>
            </a:r>
            <a:r>
              <a:rPr lang="en-US" sz="3200" dirty="0" err="1"/>
              <a:t>hoje</a:t>
            </a:r>
            <a:r>
              <a:rPr lang="en-US" sz="3200" dirty="0"/>
              <a:t>','</a:t>
            </a:r>
            <a:r>
              <a:rPr lang="en-US" sz="3200" dirty="0" err="1"/>
              <a:t>amanha</a:t>
            </a:r>
            <a:r>
              <a:rPr lang="en-US" sz="3200" dirty="0"/>
              <a:t>']: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   print(p)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7EB98D-B0C6-4BD0-B3FD-74D404106B95}"/>
              </a:ext>
            </a:extLst>
          </p:cNvPr>
          <p:cNvSpPr txBox="1"/>
          <p:nvPr/>
        </p:nvSpPr>
        <p:spPr>
          <a:xfrm>
            <a:off x="1689323" y="4267200"/>
            <a:ext cx="221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>
                    <a:lumMod val="50000"/>
                  </a:schemeClr>
                </a:solidFill>
              </a:rPr>
              <a:t>Em python</a:t>
            </a:r>
            <a:endParaRPr lang="pt-BR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43F1A7B-8655-40E3-839B-8D6037A41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968" y="4637644"/>
            <a:ext cx="7514096" cy="15626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4747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uiExpand="1" build="p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Loop for em python: O que esse programa faz 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1C9F9-D6F7-4615-9558-3FE2D7B23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28" y="1509297"/>
            <a:ext cx="12358325" cy="50301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243797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Loop for em python: O que esse programa faz 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93666B-9A1C-494C-BD48-22A34D036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5213"/>
            <a:ext cx="6007100" cy="4457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F91D82-03FA-4DBB-92AA-F38D9A025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7113" y="1745213"/>
            <a:ext cx="6299188" cy="44575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4505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 fontScale="90000"/>
          </a:bodyPr>
          <a:lstStyle/>
          <a:p>
            <a:r>
              <a:rPr lang="pt-BR" dirty="0"/>
              <a:t>Loop for com condicional: O que esse programa faz 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FA6EBA0F-A973-4D2C-983E-9B1663E5A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3551" y="6654800"/>
            <a:ext cx="7664450" cy="6983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 </a:t>
            </a:r>
            <a:r>
              <a:rPr lang="en-US" dirty="0" err="1"/>
              <a:t>operador</a:t>
            </a:r>
            <a:r>
              <a:rPr lang="en-US" dirty="0"/>
              <a:t> </a:t>
            </a:r>
            <a:r>
              <a:rPr lang="en-US" b="1" dirty="0"/>
              <a:t>%</a:t>
            </a:r>
            <a:r>
              <a:rPr lang="en-US" dirty="0"/>
              <a:t> </a:t>
            </a:r>
            <a:r>
              <a:rPr lang="en-US" dirty="0" err="1"/>
              <a:t>calcula</a:t>
            </a:r>
            <a:r>
              <a:rPr lang="en-US" dirty="0"/>
              <a:t> o resto da </a:t>
            </a:r>
            <a:r>
              <a:rPr lang="en-US" dirty="0" err="1"/>
              <a:t>divisão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18973A-AFF9-4E34-9ECD-7E05FCB8E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006" y="1249990"/>
            <a:ext cx="8814294" cy="52543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96221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/>
          </a:bodyPr>
          <a:lstStyle/>
          <a:p>
            <a:r>
              <a:rPr lang="pt-BR" dirty="0"/>
              <a:t>Loop for com condicional e operador lógico 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C0D0DA48-D627-43C3-88AC-DB68096F7887}"/>
              </a:ext>
            </a:extLst>
          </p:cNvPr>
          <p:cNvGraphicFramePr>
            <a:graphicFrameLocks noGrp="1"/>
          </p:cNvGraphicFramePr>
          <p:nvPr/>
        </p:nvGraphicFramePr>
        <p:xfrm>
          <a:off x="9391651" y="1854826"/>
          <a:ext cx="353377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887">
                  <a:extLst>
                    <a:ext uri="{9D8B030D-6E8A-4147-A177-3AD203B41FA5}">
                      <a16:colId xmlns:a16="http://schemas.microsoft.com/office/drawing/2014/main" val="1596631372"/>
                    </a:ext>
                  </a:extLst>
                </a:gridCol>
                <a:gridCol w="1766887">
                  <a:extLst>
                    <a:ext uri="{9D8B030D-6E8A-4147-A177-3AD203B41FA5}">
                      <a16:colId xmlns:a16="http://schemas.microsoft.com/office/drawing/2014/main" val="14569292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/>
                        <a:t>n*n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642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20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70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8514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4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082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111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4701098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5F05231-CAED-43F7-8CB9-C537C240B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45" y="1854826"/>
            <a:ext cx="8862893" cy="41955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99636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74BF2-F0BD-4C65-88EB-663642906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4" y="308828"/>
            <a:ext cx="11591925" cy="941161"/>
          </a:xfrm>
        </p:spPr>
        <p:txBody>
          <a:bodyPr>
            <a:normAutofit fontScale="90000"/>
          </a:bodyPr>
          <a:lstStyle/>
          <a:p>
            <a:r>
              <a:rPr lang="pt-BR" dirty="0"/>
              <a:t>Loop for com condicional, operador lógico E </a:t>
            </a:r>
            <a:r>
              <a:rPr lang="pt-BR" dirty="0" err="1"/>
              <a:t>e</a:t>
            </a:r>
            <a:r>
              <a:rPr lang="pt-BR" dirty="0"/>
              <a:t> acumulador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3F810773-10F2-4C3F-A970-C0477D8BD59E}"/>
              </a:ext>
            </a:extLst>
          </p:cNvPr>
          <p:cNvSpPr txBox="1">
            <a:spLocks/>
          </p:cNvSpPr>
          <p:nvPr/>
        </p:nvSpPr>
        <p:spPr>
          <a:xfrm>
            <a:off x="457200" y="1509297"/>
            <a:ext cx="12468225" cy="605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B9664F-8F3B-479F-964B-8BE33A2F6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54" y="1407109"/>
            <a:ext cx="8325618" cy="485399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44C36B4-EA03-4184-B6E9-3FF7B2636988}"/>
              </a:ext>
            </a:extLst>
          </p:cNvPr>
          <p:cNvGraphicFramePr>
            <a:graphicFrameLocks noGrp="1"/>
          </p:cNvGraphicFramePr>
          <p:nvPr/>
        </p:nvGraphicFramePr>
        <p:xfrm>
          <a:off x="8926512" y="1407109"/>
          <a:ext cx="3998913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2971">
                  <a:extLst>
                    <a:ext uri="{9D8B030D-6E8A-4147-A177-3AD203B41FA5}">
                      <a16:colId xmlns:a16="http://schemas.microsoft.com/office/drawing/2014/main" val="1596631372"/>
                    </a:ext>
                  </a:extLst>
                </a:gridCol>
                <a:gridCol w="1332971">
                  <a:extLst>
                    <a:ext uri="{9D8B030D-6E8A-4147-A177-3AD203B41FA5}">
                      <a16:colId xmlns:a16="http://schemas.microsoft.com/office/drawing/2014/main" val="1456929234"/>
                    </a:ext>
                  </a:extLst>
                </a:gridCol>
                <a:gridCol w="1332971">
                  <a:extLst>
                    <a:ext uri="{9D8B030D-6E8A-4147-A177-3AD203B41FA5}">
                      <a16:colId xmlns:a16="http://schemas.microsoft.com/office/drawing/2014/main" val="34518382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n*n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soma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642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20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70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8514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4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082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5709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57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0024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1281278" y="2811377"/>
            <a:ext cx="8512493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myNum = 4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print(myNum)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myNum = 5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print(myNum)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1A1772-A3D9-43E6-8BD9-D91BC87A804C}"/>
              </a:ext>
            </a:extLst>
          </p:cNvPr>
          <p:cNvSpPr/>
          <p:nvPr/>
        </p:nvSpPr>
        <p:spPr>
          <a:xfrm>
            <a:off x="1281277" y="4555450"/>
            <a:ext cx="8512493" cy="9275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4</a:t>
            </a:r>
          </a:p>
          <a:p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5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19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D4AF25A-08B0-474C-96C7-0A12372B8A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21" b="50788"/>
          <a:stretch/>
        </p:blipFill>
        <p:spPr>
          <a:xfrm>
            <a:off x="10622278" y="228191"/>
            <a:ext cx="2329588" cy="3063216"/>
          </a:xfrm>
        </p:spPr>
      </p:pic>
      <p:pic>
        <p:nvPicPr>
          <p:cNvPr id="10" name="Content Placeholder 8">
            <a:extLst>
              <a:ext uri="{FF2B5EF4-FFF2-40B4-BE49-F238E27FC236}">
                <a16:creationId xmlns:a16="http://schemas.microsoft.com/office/drawing/2014/main" id="{8ED344A5-3837-487B-A56D-A1261478A8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02" r="51721"/>
          <a:stretch/>
        </p:blipFill>
        <p:spPr>
          <a:xfrm>
            <a:off x="10620064" y="3991012"/>
            <a:ext cx="2329588" cy="28631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5BB40F-DB43-4DE4-8681-27125C289F4A}"/>
              </a:ext>
            </a:extLst>
          </p:cNvPr>
          <p:cNvSpPr txBox="1"/>
          <p:nvPr/>
        </p:nvSpPr>
        <p:spPr>
          <a:xfrm>
            <a:off x="5110146" y="7177595"/>
            <a:ext cx="66747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Fonte da imagem: https://studeappsblog.medium.com/what-is-a-variable-dd7e539bf388</a:t>
            </a:r>
          </a:p>
        </p:txBody>
      </p:sp>
      <p:sp>
        <p:nvSpPr>
          <p:cNvPr id="11" name="Espaço Reservado para Conteúdo 2">
            <a:extLst>
              <a:ext uri="{FF2B5EF4-FFF2-40B4-BE49-F238E27FC236}">
                <a16:creationId xmlns:a16="http://schemas.microsoft.com/office/drawing/2014/main" id="{07332E6A-E83B-47DE-9ED1-4EB9F5B79D1E}"/>
              </a:ext>
            </a:extLst>
          </p:cNvPr>
          <p:cNvSpPr txBox="1">
            <a:spLocks/>
          </p:cNvSpPr>
          <p:nvPr/>
        </p:nvSpPr>
        <p:spPr>
          <a:xfrm>
            <a:off x="457200" y="1200839"/>
            <a:ext cx="12601575" cy="6223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8525" indent="-4413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3200" kern="1200">
                <a:solidFill>
                  <a:srgbClr val="0206BE"/>
                </a:solidFill>
                <a:latin typeface="+mn-lt"/>
                <a:ea typeface="+mn-ea"/>
                <a:cs typeface="+mn-cs"/>
              </a:defRPr>
            </a:lvl2pPr>
            <a:lvl3pPr marL="1341438" indent="-42703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ü"/>
              <a:defRPr sz="2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4F935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Label (etiqueta) / Nome e Conteúdo</a:t>
            </a:r>
          </a:p>
          <a:p>
            <a:pPr lvl="1"/>
            <a:r>
              <a:rPr lang="pt-BR" dirty="0"/>
              <a:t>O programador escolhe o label e o conteúdo</a:t>
            </a:r>
          </a:p>
          <a:p>
            <a:pPr lvl="2"/>
            <a:r>
              <a:rPr lang="pt-BR" dirty="0"/>
              <a:t>Para satisfazer um requisito ou objetivo</a:t>
            </a:r>
          </a:p>
        </p:txBody>
      </p:sp>
    </p:spTree>
    <p:extLst>
      <p:ext uri="{BB962C8B-B14F-4D97-AF65-F5344CB8AC3E}">
        <p14:creationId xmlns:p14="http://schemas.microsoft.com/office/powerpoint/2010/main" val="332737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 do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839"/>
            <a:ext cx="12601575" cy="6223263"/>
          </a:xfrm>
        </p:spPr>
        <p:txBody>
          <a:bodyPr>
            <a:normAutofit/>
          </a:bodyPr>
          <a:lstStyle/>
          <a:p>
            <a:r>
              <a:rPr lang="pt-BR" dirty="0"/>
              <a:t>Dois pontos sinaliza o início de uma sentença composta</a:t>
            </a:r>
          </a:p>
          <a:p>
            <a:pPr lvl="1"/>
            <a:r>
              <a:rPr lang="pt-BR" dirty="0"/>
              <a:t>O conteúdo das sentenças compostas é </a:t>
            </a:r>
            <a:r>
              <a:rPr lang="pt-BR" b="1" dirty="0">
                <a:solidFill>
                  <a:srgbClr val="FF0000"/>
                </a:solidFill>
              </a:rPr>
              <a:t>aninhado com espaços/</a:t>
            </a:r>
            <a:r>
              <a:rPr lang="pt-BR" b="1" dirty="0" err="1">
                <a:solidFill>
                  <a:srgbClr val="FF0000"/>
                </a:solidFill>
              </a:rPr>
              <a:t>tabs</a:t>
            </a:r>
            <a:endParaRPr lang="pt-BR" b="1" dirty="0">
              <a:solidFill>
                <a:srgbClr val="FF0000"/>
              </a:solidFill>
            </a:endParaRPr>
          </a:p>
          <a:p>
            <a:pPr lvl="2"/>
            <a:r>
              <a:rPr lang="pt-BR" dirty="0"/>
              <a:t>Sem chaves</a:t>
            </a:r>
          </a:p>
          <a:p>
            <a:r>
              <a:rPr lang="pt-BR" dirty="0"/>
              <a:t>Ponto e virgula para finalizar uma sentença é opcional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3929061" y="3383630"/>
            <a:ext cx="8512493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= 2  # Atribuição com sinal de = (igual)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if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x &gt; 0: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# adiciona 1 a x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x = x + 1;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(x)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maior que zero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else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: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     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menor ou igual a zero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1A1772-A3D9-43E6-8BD9-D91BC87A804C}"/>
              </a:ext>
            </a:extLst>
          </p:cNvPr>
          <p:cNvSpPr/>
          <p:nvPr/>
        </p:nvSpPr>
        <p:spPr>
          <a:xfrm>
            <a:off x="3929060" y="6609929"/>
            <a:ext cx="8512493" cy="9275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3</a:t>
            </a:r>
          </a:p>
          <a:p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x maior que zero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20</a:t>
            </a:fld>
            <a:endParaRPr lang="pt-BR" sz="1330" b="0" strike="noStrike" spc="-1">
              <a:latin typeface="Arial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1F6964-BBC7-4616-8114-C2A3C9FD6211}"/>
              </a:ext>
            </a:extLst>
          </p:cNvPr>
          <p:cNvGrpSpPr/>
          <p:nvPr/>
        </p:nvGrpSpPr>
        <p:grpSpPr>
          <a:xfrm>
            <a:off x="76200" y="3362520"/>
            <a:ext cx="5026614" cy="3068096"/>
            <a:chOff x="76200" y="3362520"/>
            <a:chExt cx="5026614" cy="306809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31915B6-6ECF-418A-AD22-7C89271964C5}"/>
                </a:ext>
              </a:extLst>
            </p:cNvPr>
            <p:cNvGrpSpPr/>
            <p:nvPr/>
          </p:nvGrpSpPr>
          <p:grpSpPr>
            <a:xfrm>
              <a:off x="76200" y="3779837"/>
              <a:ext cx="5019675" cy="2420938"/>
              <a:chOff x="76200" y="3779837"/>
              <a:chExt cx="5019675" cy="2420938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4EE82F7C-EBD0-48C0-B636-AEF7D3A658EC}"/>
                  </a:ext>
                </a:extLst>
              </p:cNvPr>
              <p:cNvCxnSpPr/>
              <p:nvPr/>
            </p:nvCxnSpPr>
            <p:spPr>
              <a:xfrm>
                <a:off x="3929060" y="4352925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51988A2-609A-4E2E-9BBB-6B9CADC7CF2F}"/>
                  </a:ext>
                </a:extLst>
              </p:cNvPr>
              <p:cNvCxnSpPr/>
              <p:nvPr/>
            </p:nvCxnSpPr>
            <p:spPr>
              <a:xfrm>
                <a:off x="3929060" y="4743450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7D68ACDF-CDB6-4D07-9947-A76B80929B55}"/>
                  </a:ext>
                </a:extLst>
              </p:cNvPr>
              <p:cNvCxnSpPr/>
              <p:nvPr/>
            </p:nvCxnSpPr>
            <p:spPr>
              <a:xfrm>
                <a:off x="3929060" y="5124450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DF94C58-9C01-451B-A6BA-4B9412508041}"/>
                  </a:ext>
                </a:extLst>
              </p:cNvPr>
              <p:cNvCxnSpPr/>
              <p:nvPr/>
            </p:nvCxnSpPr>
            <p:spPr>
              <a:xfrm>
                <a:off x="3929060" y="5486400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211DCE50-17EC-42F9-B39D-64E4A8FB6E22}"/>
                  </a:ext>
                </a:extLst>
              </p:cNvPr>
              <p:cNvCxnSpPr/>
              <p:nvPr/>
            </p:nvCxnSpPr>
            <p:spPr>
              <a:xfrm>
                <a:off x="3929060" y="6200775"/>
                <a:ext cx="116681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FFEFDA69-D859-490D-AF4E-107E0037B514}"/>
                  </a:ext>
                </a:extLst>
              </p:cNvPr>
              <p:cNvSpPr/>
              <p:nvPr/>
            </p:nvSpPr>
            <p:spPr>
              <a:xfrm>
                <a:off x="76200" y="3779837"/>
                <a:ext cx="3159439" cy="1706561"/>
              </a:xfrm>
              <a:prstGeom prst="wedgeRoundRectCallout">
                <a:avLst>
                  <a:gd name="adj1" fmla="val 70430"/>
                  <a:gd name="adj2" fmla="val 30128"/>
                  <a:gd name="adj3" fmla="val 16667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3200" b="1" dirty="0"/>
                  <a:t>Erro Comum</a:t>
                </a:r>
              </a:p>
              <a:p>
                <a:pPr algn="ctr"/>
                <a:r>
                  <a:rPr lang="pt-BR" sz="2400" dirty="0"/>
                  <a:t>Esquecer de aninhar sentenças compostas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B46DE5E-65F6-45FB-BF33-C5C5ACB2DB06}"/>
                </a:ext>
              </a:extLst>
            </p:cNvPr>
            <p:cNvGrpSpPr/>
            <p:nvPr/>
          </p:nvGrpSpPr>
          <p:grpSpPr>
            <a:xfrm>
              <a:off x="3929059" y="3362520"/>
              <a:ext cx="1173755" cy="3068096"/>
              <a:chOff x="7629525" y="1076325"/>
              <a:chExt cx="1173755" cy="4476750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AB61386-1262-4B85-8C9D-331DBF22B2EA}"/>
                  </a:ext>
                </a:extLst>
              </p:cNvPr>
              <p:cNvCxnSpPr/>
              <p:nvPr/>
            </p:nvCxnSpPr>
            <p:spPr>
              <a:xfrm>
                <a:off x="7629525" y="1076325"/>
                <a:ext cx="0" cy="4476750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258D691-636B-414B-A097-C953F0239F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03280" y="2299083"/>
                <a:ext cx="0" cy="2168121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02774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 do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839"/>
            <a:ext cx="12374879" cy="6223263"/>
          </a:xfrm>
        </p:spPr>
        <p:txBody>
          <a:bodyPr>
            <a:normAutofit/>
          </a:bodyPr>
          <a:lstStyle/>
          <a:p>
            <a:r>
              <a:rPr lang="pt-BR" dirty="0"/>
              <a:t>Referências para objetos não possuem um tipo associado</a:t>
            </a:r>
          </a:p>
          <a:p>
            <a:pPr lvl="1"/>
            <a:r>
              <a:rPr lang="pt-BR" dirty="0"/>
              <a:t>Não há problema em reatribuir uma referência a outro tipo</a:t>
            </a:r>
          </a:p>
          <a:p>
            <a:pPr lvl="2"/>
            <a:r>
              <a:rPr lang="pt-BR" dirty="0"/>
              <a:t>Por exemplo: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306518" y="3220091"/>
            <a:ext cx="8132881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= 2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pt-BR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type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(x))</a:t>
            </a:r>
          </a:p>
          <a:p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x = 'carro'</a:t>
            </a:r>
          </a:p>
          <a:p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pt-BR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type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(x))</a:t>
            </a:r>
          </a:p>
          <a:p>
            <a:endParaRPr lang="pt-BR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41A1772-A3D9-43E6-8BD9-D91BC87A804C}"/>
              </a:ext>
            </a:extLst>
          </p:cNvPr>
          <p:cNvSpPr/>
          <p:nvPr/>
        </p:nvSpPr>
        <p:spPr>
          <a:xfrm>
            <a:off x="2306517" y="5229702"/>
            <a:ext cx="8132881" cy="9275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&lt;</a:t>
            </a:r>
            <a:r>
              <a:rPr lang="pt-BR" sz="2400" dirty="0" err="1">
                <a:solidFill>
                  <a:schemeClr val="tx1"/>
                </a:solidFill>
              </a:rPr>
              <a:t>class</a:t>
            </a:r>
            <a:r>
              <a:rPr lang="pt-BR" sz="2400" dirty="0">
                <a:solidFill>
                  <a:schemeClr val="tx1"/>
                </a:solidFill>
              </a:rPr>
              <a:t> '</a:t>
            </a:r>
            <a:r>
              <a:rPr lang="pt-BR" sz="2400" dirty="0" err="1">
                <a:solidFill>
                  <a:schemeClr val="tx1"/>
                </a:solidFill>
              </a:rPr>
              <a:t>int</a:t>
            </a:r>
            <a:r>
              <a:rPr lang="pt-BR" sz="2400" dirty="0">
                <a:solidFill>
                  <a:schemeClr val="tx1"/>
                </a:solidFill>
              </a:rPr>
              <a:t>'&gt;</a:t>
            </a:r>
          </a:p>
          <a:p>
            <a:r>
              <a:rPr lang="pt-BR" sz="2400" dirty="0">
                <a:solidFill>
                  <a:schemeClr val="tx1"/>
                </a:solidFill>
              </a:rPr>
              <a:t>&lt;</a:t>
            </a:r>
            <a:r>
              <a:rPr lang="pt-BR" sz="2400" dirty="0" err="1">
                <a:solidFill>
                  <a:schemeClr val="tx1"/>
                </a:solidFill>
              </a:rPr>
              <a:t>class</a:t>
            </a:r>
            <a:r>
              <a:rPr lang="pt-BR" sz="2400" dirty="0">
                <a:solidFill>
                  <a:schemeClr val="tx1"/>
                </a:solidFill>
              </a:rPr>
              <a:t> '</a:t>
            </a:r>
            <a:r>
              <a:rPr lang="pt-BR" sz="2400" dirty="0" err="1">
                <a:solidFill>
                  <a:schemeClr val="tx1"/>
                </a:solidFill>
              </a:rPr>
              <a:t>str</a:t>
            </a:r>
            <a:r>
              <a:rPr lang="pt-BR" sz="2400" dirty="0">
                <a:solidFill>
                  <a:schemeClr val="tx1"/>
                </a:solidFill>
              </a:rPr>
              <a:t>'&gt;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DD09ED40-096D-4167-9D3E-7B037623778D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21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006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Sintaxe do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693"/>
            <a:ext cx="12374879" cy="6094409"/>
          </a:xfrm>
        </p:spPr>
        <p:txBody>
          <a:bodyPr>
            <a:normAutofit/>
          </a:bodyPr>
          <a:lstStyle/>
          <a:p>
            <a:r>
              <a:rPr lang="pt-BR" dirty="0"/>
              <a:t>Funções são declaradas com a palavra-chave </a:t>
            </a:r>
            <a:r>
              <a:rPr lang="pt-BR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</a:p>
          <a:p>
            <a:pPr lvl="1"/>
            <a:r>
              <a:rPr lang="pt-BR" dirty="0"/>
              <a:t>Qual a utilidade das funções ?</a:t>
            </a:r>
          </a:p>
          <a:p>
            <a:pPr lvl="2"/>
            <a:r>
              <a:rPr lang="pt-BR" dirty="0"/>
              <a:t>Reusabilidade / legibilidade</a:t>
            </a:r>
          </a:p>
          <a:p>
            <a:pPr lvl="1"/>
            <a:r>
              <a:rPr lang="pt-BR" dirty="0"/>
              <a:t>Uma função precisa ser carregada em memória </a:t>
            </a:r>
          </a:p>
          <a:p>
            <a:pPr lvl="2"/>
            <a:r>
              <a:rPr lang="pt-BR" dirty="0"/>
              <a:t>para ser encontrada pelo interpretador</a:t>
            </a:r>
          </a:p>
          <a:p>
            <a:r>
              <a:rPr lang="pt-BR" dirty="0"/>
              <a:t>Chamada / execução de uma função</a:t>
            </a:r>
          </a:p>
          <a:p>
            <a:pPr lvl="1"/>
            <a:r>
              <a:rPr lang="pt-BR" dirty="0" err="1"/>
              <a:t>nome_funcao</a:t>
            </a:r>
            <a:r>
              <a:rPr lang="pt-BR" dirty="0"/>
              <a:t>()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5743578" y="4651137"/>
            <a:ext cx="6724645" cy="2250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imprimir(a):</a:t>
            </a: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print(a)</a:t>
            </a:r>
          </a:p>
          <a:p>
            <a:pPr>
              <a:lnSpc>
                <a:spcPct val="150000"/>
              </a:lnSpc>
            </a:pPr>
            <a:endParaRPr lang="pt-BR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imprimir(2)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5743579" y="6938645"/>
            <a:ext cx="6724645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A273EE3-920C-4E60-A4BF-95CAE596F2B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22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4AECE97-5648-4B65-AE9D-FDC51C2C721A}"/>
              </a:ext>
            </a:extLst>
          </p:cNvPr>
          <p:cNvSpPr/>
          <p:nvPr/>
        </p:nvSpPr>
        <p:spPr>
          <a:xfrm>
            <a:off x="11262360" y="1202867"/>
            <a:ext cx="1051560" cy="42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/>
              <a:t>[2]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614ED01-5E3E-438E-9923-281DEE0A0F86}"/>
              </a:ext>
            </a:extLst>
          </p:cNvPr>
          <p:cNvGrpSpPr/>
          <p:nvPr/>
        </p:nvGrpSpPr>
        <p:grpSpPr>
          <a:xfrm>
            <a:off x="1944569" y="4681335"/>
            <a:ext cx="4758445" cy="2679585"/>
            <a:chOff x="325319" y="4528935"/>
            <a:chExt cx="4758445" cy="26795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4A8B11-64BD-4FDF-9E87-03247B85527A}"/>
                </a:ext>
              </a:extLst>
            </p:cNvPr>
            <p:cNvGrpSpPr/>
            <p:nvPr/>
          </p:nvGrpSpPr>
          <p:grpSpPr>
            <a:xfrm>
              <a:off x="325319" y="5457547"/>
              <a:ext cx="4694356" cy="1750973"/>
              <a:chOff x="325319" y="5457547"/>
              <a:chExt cx="4694356" cy="1750973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6C00F5F4-E2DB-40E8-8928-46FF8A5C5F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6039" y="5457547"/>
                <a:ext cx="783636" cy="952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36" name="Speech Bubble: Rectangle with Corners Rounded 35">
                <a:extLst>
                  <a:ext uri="{FF2B5EF4-FFF2-40B4-BE49-F238E27FC236}">
                    <a16:creationId xmlns:a16="http://schemas.microsoft.com/office/drawing/2014/main" id="{89EE6B69-067D-494F-9718-09886A7B355F}"/>
                  </a:ext>
                </a:extLst>
              </p:cNvPr>
              <p:cNvSpPr/>
              <p:nvPr/>
            </p:nvSpPr>
            <p:spPr>
              <a:xfrm>
                <a:off x="325319" y="5501959"/>
                <a:ext cx="3159439" cy="1706561"/>
              </a:xfrm>
              <a:prstGeom prst="wedgeRoundRectCallout">
                <a:avLst>
                  <a:gd name="adj1" fmla="val 71033"/>
                  <a:gd name="adj2" fmla="val 2221"/>
                  <a:gd name="adj3" fmla="val 16667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3200" b="1" dirty="0"/>
                  <a:t>Erro Comum</a:t>
                </a:r>
              </a:p>
              <a:p>
                <a:pPr algn="ctr"/>
                <a:r>
                  <a:rPr lang="pt-BR" sz="2400" dirty="0"/>
                  <a:t>Esquecer de aninhar sentenças compostas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6BACD6-3BE4-4C2C-9E02-DC02BEFF19A7}"/>
                </a:ext>
              </a:extLst>
            </p:cNvPr>
            <p:cNvGrpSpPr/>
            <p:nvPr/>
          </p:nvGrpSpPr>
          <p:grpSpPr>
            <a:xfrm>
              <a:off x="4202702" y="4528935"/>
              <a:ext cx="881062" cy="2148090"/>
              <a:chOff x="7903168" y="2778279"/>
              <a:chExt cx="881062" cy="3134342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8AFEAD4-4085-4928-8410-ADE5B41D46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03168" y="2778279"/>
                <a:ext cx="0" cy="3134342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1AE3C25-78FA-4A1D-A915-7BEC48944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84230" y="3744496"/>
                <a:ext cx="0" cy="845605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06694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return de uma função Python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693"/>
            <a:ext cx="12374879" cy="6094409"/>
          </a:xfrm>
        </p:spPr>
        <p:txBody>
          <a:bodyPr>
            <a:normAutofit/>
          </a:bodyPr>
          <a:lstStyle/>
          <a:p>
            <a:r>
              <a:rPr lang="pt-BR" dirty="0"/>
              <a:t>Explícito</a:t>
            </a:r>
            <a:endParaRPr lang="pt-BR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1"/>
            <a:r>
              <a:rPr lang="pt-BR" dirty="0"/>
              <a:t>com o keyword </a:t>
            </a:r>
            <a:r>
              <a:rPr lang="pt-BR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pt-BR" i="1" dirty="0"/>
              <a:t> </a:t>
            </a:r>
          </a:p>
          <a:p>
            <a:pPr lvl="2"/>
            <a:r>
              <a:rPr lang="pt-BR" dirty="0"/>
              <a:t>seguido de um valor</a:t>
            </a:r>
          </a:p>
          <a:p>
            <a:pPr lvl="3"/>
            <a:r>
              <a:rPr lang="pt-BR" dirty="0"/>
              <a:t>Exemplo: </a:t>
            </a:r>
            <a:r>
              <a:rPr lang="pt-BR" dirty="0" err="1"/>
              <a:t>return</a:t>
            </a:r>
            <a:r>
              <a:rPr lang="pt-BR" dirty="0"/>
              <a:t> 10</a:t>
            </a:r>
          </a:p>
          <a:p>
            <a:pPr marL="914400" lvl="2" indent="0">
              <a:buNone/>
            </a:pPr>
            <a:endParaRPr lang="pt-BR" dirty="0"/>
          </a:p>
          <a:p>
            <a:pPr marL="914400" lvl="2" indent="0">
              <a:buNone/>
            </a:pPr>
            <a:endParaRPr lang="pt-BR" dirty="0"/>
          </a:p>
          <a:p>
            <a:pPr marL="914400" lvl="2" indent="0">
              <a:buNone/>
            </a:pPr>
            <a:endParaRPr lang="pt-BR" dirty="0"/>
          </a:p>
          <a:p>
            <a:r>
              <a:rPr lang="pt-BR" dirty="0"/>
              <a:t>Implícito</a:t>
            </a:r>
          </a:p>
          <a:p>
            <a:pPr lvl="1"/>
            <a:r>
              <a:rPr lang="pt-BR" dirty="0"/>
              <a:t>sem o </a:t>
            </a:r>
            <a:r>
              <a:rPr lang="pt-BR" dirty="0" err="1"/>
              <a:t>keyword</a:t>
            </a:r>
            <a:r>
              <a:rPr lang="pt-BR" dirty="0"/>
              <a:t> </a:t>
            </a:r>
            <a:r>
              <a:rPr lang="pt-BR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pt-BR" i="1" dirty="0"/>
              <a:t>, </a:t>
            </a:r>
            <a:r>
              <a:rPr lang="pt-BR" dirty="0"/>
              <a:t>o retorno é </a:t>
            </a:r>
            <a:r>
              <a:rPr lang="pt-BR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None</a:t>
            </a:r>
            <a:endParaRPr lang="pt-BR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2"/>
            <a:r>
              <a:rPr lang="pt-BR" dirty="0"/>
              <a:t>vide slide anterior</a:t>
            </a:r>
          </a:p>
          <a:p>
            <a:r>
              <a:rPr lang="pt-BR" dirty="0">
                <a:solidFill>
                  <a:srgbClr val="FF0000"/>
                </a:solidFill>
              </a:rPr>
              <a:t>Erro comum!</a:t>
            </a:r>
          </a:p>
          <a:p>
            <a:pPr lvl="1"/>
            <a:r>
              <a:rPr lang="pt-BR" dirty="0"/>
              <a:t>Precisar de um retorno mas esquecer de escrevê-lo</a:t>
            </a: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A273EE3-920C-4E60-A4BF-95CAE596F2B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23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4AECE97-5648-4B65-AE9D-FDC51C2C721A}"/>
              </a:ext>
            </a:extLst>
          </p:cNvPr>
          <p:cNvSpPr/>
          <p:nvPr/>
        </p:nvSpPr>
        <p:spPr>
          <a:xfrm>
            <a:off x="11376660" y="1202867"/>
            <a:ext cx="1051560" cy="42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/>
              <a:t>[2]</a:t>
            </a:r>
          </a:p>
        </p:txBody>
      </p:sp>
      <p:sp>
        <p:nvSpPr>
          <p:cNvPr id="26" name="CaixaDeTexto 3">
            <a:extLst>
              <a:ext uri="{FF2B5EF4-FFF2-40B4-BE49-F238E27FC236}">
                <a16:creationId xmlns:a16="http://schemas.microsoft.com/office/drawing/2014/main" id="{A2763F25-8196-4543-8A0C-C20002078141}"/>
              </a:ext>
            </a:extLst>
          </p:cNvPr>
          <p:cNvSpPr txBox="1"/>
          <p:nvPr/>
        </p:nvSpPr>
        <p:spPr>
          <a:xfrm>
            <a:off x="6067427" y="1589574"/>
            <a:ext cx="6944892" cy="2250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soma(m, n):</a:t>
            </a: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m + n</a:t>
            </a:r>
          </a:p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result = soma(4, 5) 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(result)</a:t>
            </a:r>
          </a:p>
        </p:txBody>
      </p:sp>
      <p:sp>
        <p:nvSpPr>
          <p:cNvPr id="27" name="Retângulo 4">
            <a:extLst>
              <a:ext uri="{FF2B5EF4-FFF2-40B4-BE49-F238E27FC236}">
                <a16:creationId xmlns:a16="http://schemas.microsoft.com/office/drawing/2014/main" id="{460945D8-A1A4-47AF-B84A-7BF8E495D4EB}"/>
              </a:ext>
            </a:extLst>
          </p:cNvPr>
          <p:cNvSpPr/>
          <p:nvPr/>
        </p:nvSpPr>
        <p:spPr>
          <a:xfrm>
            <a:off x="6067426" y="3946463"/>
            <a:ext cx="6944892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9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6B9983-FF84-4B27-89AE-B4EA5CD6A4D2}"/>
              </a:ext>
            </a:extLst>
          </p:cNvPr>
          <p:cNvGrpSpPr/>
          <p:nvPr/>
        </p:nvGrpSpPr>
        <p:grpSpPr>
          <a:xfrm>
            <a:off x="6138863" y="1666406"/>
            <a:ext cx="916576" cy="2161056"/>
            <a:chOff x="5453063" y="1618781"/>
            <a:chExt cx="916576" cy="2161056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7AFAF95-9349-462F-AD2C-4F9343C6A4E9}"/>
                </a:ext>
              </a:extLst>
            </p:cNvPr>
            <p:cNvCxnSpPr>
              <a:cxnSpLocks/>
            </p:cNvCxnSpPr>
            <p:nvPr/>
          </p:nvCxnSpPr>
          <p:spPr>
            <a:xfrm>
              <a:off x="5493339" y="2475753"/>
              <a:ext cx="8763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98BEB4-6FC3-48CA-8A8B-7BC810EF0BD2}"/>
                </a:ext>
              </a:extLst>
            </p:cNvPr>
            <p:cNvCxnSpPr>
              <a:cxnSpLocks/>
            </p:cNvCxnSpPr>
            <p:nvPr/>
          </p:nvCxnSpPr>
          <p:spPr>
            <a:xfrm>
              <a:off x="5453063" y="1618781"/>
              <a:ext cx="0" cy="2161056"/>
            </a:xfrm>
            <a:prstGeom prst="line">
              <a:avLst/>
            </a:prstGeom>
            <a:ln w="28575"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CFBF981-CC5E-41A2-9780-EB8CBC870D19}"/>
                </a:ext>
              </a:extLst>
            </p:cNvPr>
            <p:cNvCxnSpPr>
              <a:cxnSpLocks/>
            </p:cNvCxnSpPr>
            <p:nvPr/>
          </p:nvCxnSpPr>
          <p:spPr>
            <a:xfrm>
              <a:off x="6369639" y="2209331"/>
              <a:ext cx="0" cy="579527"/>
            </a:xfrm>
            <a:prstGeom prst="line">
              <a:avLst/>
            </a:prstGeom>
            <a:ln w="28575"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0765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4400" b="1" i="1" strike="noStrike" spc="-1" dirty="0">
                <a:solidFill>
                  <a:schemeClr val="accent1">
                    <a:lumMod val="75000"/>
                  </a:schemeClr>
                </a:solidFill>
                <a:latin typeface="Calibri"/>
                <a:ea typeface="DejaVu Sans"/>
              </a:rPr>
              <a:t>Revisão: Definição e execução de uma função</a:t>
            </a:r>
            <a:endParaRPr lang="pt-BR" dirty="0"/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24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CF77265-C14E-44DF-B83D-D2C75D1E7378}"/>
              </a:ext>
            </a:extLst>
          </p:cNvPr>
          <p:cNvSpPr txBox="1"/>
          <p:nvPr/>
        </p:nvSpPr>
        <p:spPr>
          <a:xfrm>
            <a:off x="2795589" y="1553278"/>
            <a:ext cx="7715250" cy="37006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nl-NL" sz="5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def</a:t>
            </a: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soma(a, b)</a:t>
            </a:r>
            <a:r>
              <a:rPr lang="nl-NL" sz="5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s = a + b</a:t>
            </a:r>
          </a:p>
          <a:p>
            <a:pPr>
              <a:lnSpc>
                <a:spcPct val="150000"/>
              </a:lnSpc>
            </a:pP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nl-NL" sz="5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return</a:t>
            </a:r>
            <a:r>
              <a:rPr lang="nl-NL" sz="5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4F8C46-2705-4B30-8895-0DE749C0236D}"/>
              </a:ext>
            </a:extLst>
          </p:cNvPr>
          <p:cNvSpPr/>
          <p:nvPr/>
        </p:nvSpPr>
        <p:spPr>
          <a:xfrm>
            <a:off x="3020302" y="1684003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7A9D627-BDEB-47E2-9B11-EC4C8A9C669D}"/>
              </a:ext>
            </a:extLst>
          </p:cNvPr>
          <p:cNvSpPr/>
          <p:nvPr/>
        </p:nvSpPr>
        <p:spPr>
          <a:xfrm>
            <a:off x="4920576" y="1869740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3C60C1C-E3DF-4ADF-937B-383C23AFFEAA}"/>
              </a:ext>
            </a:extLst>
          </p:cNvPr>
          <p:cNvSpPr/>
          <p:nvPr/>
        </p:nvSpPr>
        <p:spPr>
          <a:xfrm>
            <a:off x="8665844" y="1869739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CAF40C-02FB-4FF2-970E-E5C8B3D3EE61}"/>
              </a:ext>
            </a:extLst>
          </p:cNvPr>
          <p:cNvGrpSpPr/>
          <p:nvPr/>
        </p:nvGrpSpPr>
        <p:grpSpPr>
          <a:xfrm>
            <a:off x="2590801" y="1553278"/>
            <a:ext cx="1248651" cy="3656180"/>
            <a:chOff x="2590801" y="1553278"/>
            <a:chExt cx="1248651" cy="36561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AC457A-D535-4DE6-8F63-4BA4000AC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1228" y="1553278"/>
              <a:ext cx="1038224" cy="3656180"/>
            </a:xfrm>
            <a:prstGeom prst="rect">
              <a:avLst/>
            </a:prstGeom>
          </p:spPr>
        </p:pic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31FCB4A-EA70-4E4E-8E7B-B40DF1FF21A4}"/>
                </a:ext>
              </a:extLst>
            </p:cNvPr>
            <p:cNvSpPr/>
            <p:nvPr/>
          </p:nvSpPr>
          <p:spPr>
            <a:xfrm>
              <a:off x="2590801" y="3381368"/>
              <a:ext cx="409575" cy="3714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5</a:t>
              </a:r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7AABAFF3-0FA2-4110-8459-8C9F206CB18C}"/>
              </a:ext>
            </a:extLst>
          </p:cNvPr>
          <p:cNvSpPr/>
          <p:nvPr/>
        </p:nvSpPr>
        <p:spPr>
          <a:xfrm>
            <a:off x="5451485" y="4322163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6</a:t>
            </a:r>
          </a:p>
        </p:txBody>
      </p:sp>
      <p:sp>
        <p:nvSpPr>
          <p:cNvPr id="26" name="CaixaDeTexto 10">
            <a:extLst>
              <a:ext uri="{FF2B5EF4-FFF2-40B4-BE49-F238E27FC236}">
                <a16:creationId xmlns:a16="http://schemas.microsoft.com/office/drawing/2014/main" id="{05DF09BE-A3E8-428A-B8B1-F741704D3166}"/>
              </a:ext>
            </a:extLst>
          </p:cNvPr>
          <p:cNvSpPr txBox="1"/>
          <p:nvPr/>
        </p:nvSpPr>
        <p:spPr>
          <a:xfrm>
            <a:off x="2795589" y="5753642"/>
            <a:ext cx="7715250" cy="122219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nl-NL" sz="40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result = soma(1, 2)</a:t>
            </a:r>
          </a:p>
          <a:p>
            <a:pPr>
              <a:lnSpc>
                <a:spcPct val="150000"/>
              </a:lnSpc>
            </a:pPr>
            <a:endParaRPr lang="nl-NL" sz="10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56E48B5-83FE-48A3-ACBE-FCF3F45B637D}"/>
              </a:ext>
            </a:extLst>
          </p:cNvPr>
          <p:cNvSpPr/>
          <p:nvPr/>
        </p:nvSpPr>
        <p:spPr>
          <a:xfrm>
            <a:off x="3225089" y="6509286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7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378CC4F-1D0A-47E9-ACB5-875C988F5D6D}"/>
              </a:ext>
            </a:extLst>
          </p:cNvPr>
          <p:cNvSpPr/>
          <p:nvPr/>
        </p:nvSpPr>
        <p:spPr>
          <a:xfrm>
            <a:off x="4951597" y="6509285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8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FC3BBC2-D7DC-4E1F-95ED-C6FB9A7811EC}"/>
              </a:ext>
            </a:extLst>
          </p:cNvPr>
          <p:cNvSpPr/>
          <p:nvPr/>
        </p:nvSpPr>
        <p:spPr>
          <a:xfrm>
            <a:off x="6022183" y="6517441"/>
            <a:ext cx="409575" cy="3714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9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68DB3F6-2B4D-4D34-B24B-B8AEF286A133}"/>
              </a:ext>
            </a:extLst>
          </p:cNvPr>
          <p:cNvSpPr/>
          <p:nvPr/>
        </p:nvSpPr>
        <p:spPr>
          <a:xfrm>
            <a:off x="6719887" y="5805538"/>
            <a:ext cx="476250" cy="40171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10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75DAC23-F83D-48EA-AD19-A5C35FA68F54}"/>
              </a:ext>
            </a:extLst>
          </p:cNvPr>
          <p:cNvSpPr/>
          <p:nvPr/>
        </p:nvSpPr>
        <p:spPr>
          <a:xfrm>
            <a:off x="7781137" y="5903120"/>
            <a:ext cx="476250" cy="40171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11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ECB2CC8-B57C-4FBB-89C3-B0E07E80C538}"/>
              </a:ext>
            </a:extLst>
          </p:cNvPr>
          <p:cNvGrpSpPr/>
          <p:nvPr/>
        </p:nvGrpSpPr>
        <p:grpSpPr>
          <a:xfrm>
            <a:off x="6583679" y="1191628"/>
            <a:ext cx="1659639" cy="860100"/>
            <a:chOff x="6583679" y="1191628"/>
            <a:chExt cx="1659639" cy="86010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A576814-BAE7-4105-9261-57C007439D35}"/>
                </a:ext>
              </a:extLst>
            </p:cNvPr>
            <p:cNvSpPr/>
            <p:nvPr/>
          </p:nvSpPr>
          <p:spPr>
            <a:xfrm>
              <a:off x="7216357" y="1191628"/>
              <a:ext cx="409575" cy="37147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3</a:t>
              </a:r>
            </a:p>
          </p:txBody>
        </p:sp>
        <p:sp>
          <p:nvSpPr>
            <p:cNvPr id="12" name="Left Brace 11">
              <a:extLst>
                <a:ext uri="{FF2B5EF4-FFF2-40B4-BE49-F238E27FC236}">
                  <a16:creationId xmlns:a16="http://schemas.microsoft.com/office/drawing/2014/main" id="{62237842-CCCB-4D19-BAC2-4A5A45B89BB7}"/>
                </a:ext>
              </a:extLst>
            </p:cNvPr>
            <p:cNvSpPr/>
            <p:nvPr/>
          </p:nvSpPr>
          <p:spPr>
            <a:xfrm rot="5400000">
              <a:off x="7208711" y="1017121"/>
              <a:ext cx="409575" cy="1659639"/>
            </a:xfrm>
            <a:prstGeom prst="leftBrace">
              <a:avLst>
                <a:gd name="adj1" fmla="val 35811"/>
                <a:gd name="adj2" fmla="val 50000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74464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do tipo Escalar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Guardam valores únicos (single) ou simples</a:t>
            </a:r>
          </a:p>
          <a:p>
            <a:r>
              <a:rPr lang="en-US" dirty="0"/>
              <a:t>None</a:t>
            </a:r>
            <a:r>
              <a:rPr lang="en-US" sz="3200" dirty="0"/>
              <a:t> 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representação</a:t>
            </a:r>
            <a:r>
              <a:rPr lang="en-US" dirty="0"/>
              <a:t> de valor </a:t>
            </a:r>
            <a:r>
              <a:rPr lang="en-US" dirty="0" err="1"/>
              <a:t>nulo</a:t>
            </a:r>
            <a:r>
              <a:rPr lang="en-US" dirty="0"/>
              <a:t> em Python</a:t>
            </a:r>
          </a:p>
          <a:p>
            <a:r>
              <a:rPr lang="en-US" dirty="0"/>
              <a:t>float</a:t>
            </a:r>
            <a:r>
              <a:rPr lang="en-US" sz="3200" dirty="0"/>
              <a:t> </a:t>
            </a:r>
          </a:p>
          <a:p>
            <a:pPr lvl="1"/>
            <a:r>
              <a:rPr lang="en-US" dirty="0" err="1"/>
              <a:t>Número</a:t>
            </a:r>
            <a:r>
              <a:rPr lang="en-US" dirty="0"/>
              <a:t> em </a:t>
            </a:r>
            <a:r>
              <a:rPr lang="en-US" dirty="0" err="1"/>
              <a:t>formato</a:t>
            </a:r>
            <a:r>
              <a:rPr lang="en-US" dirty="0"/>
              <a:t> </a:t>
            </a:r>
            <a:r>
              <a:rPr lang="en-US" dirty="0" err="1"/>
              <a:t>ponto</a:t>
            </a:r>
            <a:r>
              <a:rPr lang="en-US" dirty="0"/>
              <a:t> </a:t>
            </a:r>
            <a:r>
              <a:rPr lang="en-US" dirty="0" err="1"/>
              <a:t>flutuante</a:t>
            </a:r>
            <a:r>
              <a:rPr lang="en-US" dirty="0"/>
              <a:t> de 64-bit (</a:t>
            </a:r>
            <a:r>
              <a:rPr lang="en-US" dirty="0" err="1"/>
              <a:t>Exemplo</a:t>
            </a:r>
            <a:r>
              <a:rPr lang="en-US" dirty="0"/>
              <a:t>: 3.1290)</a:t>
            </a:r>
          </a:p>
          <a:p>
            <a:r>
              <a:rPr lang="en-US" dirty="0"/>
              <a:t>bool </a:t>
            </a:r>
          </a:p>
          <a:p>
            <a:pPr lvl="1"/>
            <a:r>
              <a:rPr lang="en-US" dirty="0"/>
              <a:t>Um valor True </a:t>
            </a:r>
            <a:r>
              <a:rPr lang="en-US" dirty="0" err="1"/>
              <a:t>ou</a:t>
            </a:r>
            <a:r>
              <a:rPr lang="en-US" dirty="0"/>
              <a:t> False</a:t>
            </a:r>
          </a:p>
          <a:p>
            <a:r>
              <a:rPr lang="pt-BR" dirty="0" err="1"/>
              <a:t>int</a:t>
            </a:r>
            <a:r>
              <a:rPr lang="pt-BR" sz="3200" dirty="0"/>
              <a:t> </a:t>
            </a:r>
          </a:p>
          <a:p>
            <a:pPr lvl="1"/>
            <a:r>
              <a:rPr lang="pt-BR" dirty="0"/>
              <a:t>Um número inteiro</a:t>
            </a:r>
          </a:p>
          <a:p>
            <a:r>
              <a:rPr lang="pt-BR" dirty="0"/>
              <a:t>Tipo sequencial</a:t>
            </a:r>
          </a:p>
          <a:p>
            <a:pPr lvl="1"/>
            <a:r>
              <a:rPr lang="nb-NO" dirty="0"/>
              <a:t>str</a:t>
            </a:r>
            <a:r>
              <a:rPr lang="nb-NO" sz="2800" dirty="0"/>
              <a:t> </a:t>
            </a:r>
          </a:p>
          <a:p>
            <a:pPr lvl="2"/>
            <a:r>
              <a:rPr lang="nb-NO" dirty="0"/>
              <a:t>Conjunto de caracteres. Guarda strings codificadas com UTF-8</a:t>
            </a:r>
          </a:p>
          <a:p>
            <a:pPr lvl="1"/>
            <a:r>
              <a:rPr lang="en-US" dirty="0"/>
              <a:t>bytes</a:t>
            </a:r>
            <a:r>
              <a:rPr lang="en-US" sz="2800" dirty="0"/>
              <a:t> </a:t>
            </a:r>
          </a:p>
          <a:p>
            <a:pPr lvl="2"/>
            <a:r>
              <a:rPr lang="en-US" dirty="0"/>
              <a:t>bytes ASCII (</a:t>
            </a:r>
            <a:r>
              <a:rPr lang="en-US" dirty="0" err="1"/>
              <a:t>ou</a:t>
            </a:r>
            <a:r>
              <a:rPr lang="en-US" dirty="0"/>
              <a:t> bytes </a:t>
            </a:r>
            <a:r>
              <a:rPr lang="en-US" dirty="0" err="1"/>
              <a:t>codificados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Unicode)</a:t>
            </a:r>
          </a:p>
          <a:p>
            <a:pPr lvl="1"/>
            <a:endParaRPr lang="pt-BR" dirty="0"/>
          </a:p>
        </p:txBody>
      </p:sp>
      <p:sp>
        <p:nvSpPr>
          <p:cNvPr id="5" name="CustomShape 3">
            <a:extLst>
              <a:ext uri="{FF2B5EF4-FFF2-40B4-BE49-F238E27FC236}">
                <a16:creationId xmlns:a16="http://schemas.microsoft.com/office/drawing/2014/main" id="{5C3CB986-C1BE-4030-B74A-0176A76DAF4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25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22062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Operadores Binários</a:t>
            </a:r>
          </a:p>
        </p:txBody>
      </p:sp>
      <p:graphicFrame>
        <p:nvGraphicFramePr>
          <p:cNvPr id="4" name="Tabela 4">
            <a:extLst>
              <a:ext uri="{FF2B5EF4-FFF2-40B4-BE49-F238E27FC236}">
                <a16:creationId xmlns:a16="http://schemas.microsoft.com/office/drawing/2014/main" id="{B24E3D87-92C9-4B7A-9733-24901BA599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6698406"/>
              </p:ext>
            </p:extLst>
          </p:nvPr>
        </p:nvGraphicFramePr>
        <p:xfrm>
          <a:off x="605928" y="1600200"/>
          <a:ext cx="1222583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255">
                  <a:extLst>
                    <a:ext uri="{9D8B030D-6E8A-4147-A177-3AD203B41FA5}">
                      <a16:colId xmlns:a16="http://schemas.microsoft.com/office/drawing/2014/main" val="1414506191"/>
                    </a:ext>
                  </a:extLst>
                </a:gridCol>
                <a:gridCol w="10099579">
                  <a:extLst>
                    <a:ext uri="{9D8B030D-6E8A-4147-A177-3AD203B41FA5}">
                      <a16:colId xmlns:a16="http://schemas.microsoft.com/office/drawing/2014/main" val="3307825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3200" dirty="0"/>
                        <a:t>Operação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804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+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Soma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894994"/>
                  </a:ext>
                </a:extLst>
              </a:tr>
              <a:tr h="393425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-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Subtrai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de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77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*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Multiplica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por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9615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/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/>
                        <a:t>Divide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por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4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dirty="0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a //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Divisão inteira de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dirty="0"/>
                        <a:t>por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  <a:r>
                        <a:rPr lang="pt-BR" sz="3200" dirty="0"/>
                        <a:t>. Desconsidera o resto.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0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**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Eleva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dirty="0"/>
                        <a:t>à potência</a:t>
                      </a:r>
                      <a:r>
                        <a:rPr lang="pt-BR" sz="3200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8902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AND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são </a:t>
                      </a:r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endParaRPr lang="pt-BR" sz="3200" b="1" kern="1200" dirty="0">
                        <a:solidFill>
                          <a:schemeClr val="dk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779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a 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ou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são </a:t>
                      </a:r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endParaRPr lang="pt-BR" sz="3200" b="1" kern="1200" dirty="0">
                        <a:solidFill>
                          <a:schemeClr val="dk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74250"/>
                  </a:ext>
                </a:extLst>
              </a:tr>
            </a:tbl>
          </a:graphicData>
        </a:graphic>
      </p:graphicFrame>
      <p:sp>
        <p:nvSpPr>
          <p:cNvPr id="5" name="CaixaDeTexto 4">
            <a:extLst>
              <a:ext uri="{FF2B5EF4-FFF2-40B4-BE49-F238E27FC236}">
                <a16:creationId xmlns:a16="http://schemas.microsoft.com/office/drawing/2014/main" id="{35FA0829-ADA1-4385-8627-AC28B9233553}"/>
              </a:ext>
            </a:extLst>
          </p:cNvPr>
          <p:cNvSpPr txBox="1"/>
          <p:nvPr/>
        </p:nvSpPr>
        <p:spPr>
          <a:xfrm>
            <a:off x="1272265" y="6838315"/>
            <a:ext cx="4460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* Em negrito os mais importantes</a:t>
            </a:r>
          </a:p>
        </p:txBody>
      </p:sp>
      <p:sp>
        <p:nvSpPr>
          <p:cNvPr id="3" name="CustomShape 3">
            <a:extLst>
              <a:ext uri="{FF2B5EF4-FFF2-40B4-BE49-F238E27FC236}">
                <a16:creationId xmlns:a16="http://schemas.microsoft.com/office/drawing/2014/main" id="{D15BD2E8-6181-473C-B025-A39B60A2FAB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26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23532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Operadores Binários</a:t>
            </a:r>
          </a:p>
        </p:txBody>
      </p:sp>
      <p:graphicFrame>
        <p:nvGraphicFramePr>
          <p:cNvPr id="4" name="Tabela 4">
            <a:extLst>
              <a:ext uri="{FF2B5EF4-FFF2-40B4-BE49-F238E27FC236}">
                <a16:creationId xmlns:a16="http://schemas.microsoft.com/office/drawing/2014/main" id="{B24E3D87-92C9-4B7A-9733-24901BA599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3294717"/>
              </p:ext>
            </p:extLst>
          </p:nvPr>
        </p:nvGraphicFramePr>
        <p:xfrm>
          <a:off x="616945" y="1600200"/>
          <a:ext cx="12214817" cy="405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9812">
                  <a:extLst>
                    <a:ext uri="{9D8B030D-6E8A-4147-A177-3AD203B41FA5}">
                      <a16:colId xmlns:a16="http://schemas.microsoft.com/office/drawing/2014/main" val="1414506191"/>
                    </a:ext>
                  </a:extLst>
                </a:gridCol>
                <a:gridCol w="9725005">
                  <a:extLst>
                    <a:ext uri="{9D8B030D-6E8A-4147-A177-3AD203B41FA5}">
                      <a16:colId xmlns:a16="http://schemas.microsoft.com/office/drawing/2014/main" val="3307825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3200" dirty="0"/>
                        <a:t>Operação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8044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==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dirty="0" err="1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é igual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89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!=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não é igual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77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&lt; b, a &lt;=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é menor (ou menor ou igual)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9615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&gt; b, a &gt;=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é maior (ou maior ou igual) a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41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</a:t>
                      </a:r>
                      <a:r>
                        <a:rPr lang="pt-BR" sz="3200" b="1" dirty="0" err="1"/>
                        <a:t>is</a:t>
                      </a:r>
                      <a:r>
                        <a:rPr lang="pt-BR" sz="3200" b="1" dirty="0"/>
                        <a:t>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referenciam o mesmo objeto 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080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3200" b="1" dirty="0"/>
                        <a:t>a </a:t>
                      </a:r>
                      <a:r>
                        <a:rPr lang="pt-BR" sz="3200" b="1" dirty="0" err="1"/>
                        <a:t>is</a:t>
                      </a:r>
                      <a:r>
                        <a:rPr lang="pt-BR" sz="3200" b="1" dirty="0"/>
                        <a:t> </a:t>
                      </a:r>
                      <a:r>
                        <a:rPr lang="pt-BR" sz="3200" b="1" dirty="0" err="1"/>
                        <a:t>not</a:t>
                      </a:r>
                      <a:r>
                        <a:rPr lang="pt-BR" sz="3200" b="1" dirty="0"/>
                        <a:t>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b="1" kern="1200" dirty="0" err="1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True</a:t>
                      </a:r>
                      <a:r>
                        <a:rPr lang="pt-BR" sz="3200" b="1" dirty="0"/>
                        <a:t>  se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a </a:t>
                      </a:r>
                      <a:r>
                        <a:rPr lang="pt-BR" sz="3200" b="1" dirty="0"/>
                        <a:t>e</a:t>
                      </a:r>
                      <a:r>
                        <a:rPr lang="pt-BR" sz="3200" b="1" kern="1200" dirty="0">
                          <a:solidFill>
                            <a:schemeClr val="dk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  <a:cs typeface="+mn-cs"/>
                        </a:rPr>
                        <a:t> b </a:t>
                      </a:r>
                      <a:r>
                        <a:rPr lang="pt-BR" sz="3200" b="1" dirty="0"/>
                        <a:t>referenciam objetos Python distintos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8902317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93BE580D-3845-467E-8739-3CF622347086}"/>
              </a:ext>
            </a:extLst>
          </p:cNvPr>
          <p:cNvSpPr txBox="1"/>
          <p:nvPr/>
        </p:nvSpPr>
        <p:spPr>
          <a:xfrm>
            <a:off x="1272265" y="6838315"/>
            <a:ext cx="4460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* Em negrito os mais importantes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0280FCA8-416B-4990-A8F8-72089C002A02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27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6275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Conversão de Tipos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str</a:t>
            </a:r>
            <a:r>
              <a:rPr lang="en-US" dirty="0"/>
              <a:t>,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bool</a:t>
            </a:r>
            <a:r>
              <a:rPr lang="en-US" dirty="0"/>
              <a:t>,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int</a:t>
            </a:r>
            <a:r>
              <a:rPr lang="en-US" dirty="0"/>
              <a:t>,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/>
              <a:t>e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float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também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funções</a:t>
            </a:r>
            <a:r>
              <a:rPr lang="en-US" dirty="0"/>
              <a:t> para converter </a:t>
            </a:r>
            <a:r>
              <a:rPr lang="en-US" dirty="0" err="1"/>
              <a:t>valores</a:t>
            </a:r>
            <a:r>
              <a:rPr lang="en-US" dirty="0"/>
              <a:t> para </a:t>
            </a:r>
            <a:r>
              <a:rPr lang="en-US" dirty="0" err="1"/>
              <a:t>esses</a:t>
            </a:r>
            <a:r>
              <a:rPr lang="en-US" dirty="0"/>
              <a:t> </a:t>
            </a:r>
            <a:r>
              <a:rPr lang="en-US" dirty="0" err="1"/>
              <a:t>tipos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29DB95D-8AE2-4E98-976A-3C1C07FF13CB}"/>
              </a:ext>
            </a:extLst>
          </p:cNvPr>
          <p:cNvSpPr/>
          <p:nvPr/>
        </p:nvSpPr>
        <p:spPr>
          <a:xfrm>
            <a:off x="2790822" y="6021739"/>
            <a:ext cx="7515225" cy="10009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3</a:t>
            </a:r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.14159</a:t>
            </a:r>
          </a:p>
          <a:p>
            <a:r>
              <a:rPr lang="pt-BR" sz="24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3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2790822" y="3058592"/>
            <a:ext cx="7515225" cy="28040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s = '3.14159'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fval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float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(s)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ival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fval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fval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ival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3C7DB92C-8BB0-4898-A2DF-2F0DE1CD4EE8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28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0922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56580"/>
          </a:xfrm>
        </p:spPr>
        <p:txBody>
          <a:bodyPr/>
          <a:lstStyle/>
          <a:p>
            <a:r>
              <a:rPr lang="pt-BR" dirty="0"/>
              <a:t>Laços (loops) do tipo </a:t>
            </a:r>
            <a:r>
              <a:rPr lang="pt-BR" dirty="0" err="1"/>
              <a:t>While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36321"/>
            <a:ext cx="12374879" cy="6387782"/>
          </a:xfrm>
        </p:spPr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Uma </a:t>
            </a:r>
            <a:r>
              <a:rPr lang="en-US" dirty="0" err="1">
                <a:ea typeface="Source Code Pro" panose="020B0509030403020204" pitchFamily="49" charset="0"/>
              </a:rPr>
              <a:t>maneira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iterar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sobre</a:t>
            </a:r>
            <a:r>
              <a:rPr lang="en-US" dirty="0">
                <a:ea typeface="Source Code Pro" panose="020B0509030403020204" pitchFamily="49" charset="0"/>
              </a:rPr>
              <a:t> uma </a:t>
            </a:r>
            <a:r>
              <a:rPr lang="en-US" dirty="0" err="1">
                <a:ea typeface="Source Code Pro" panose="020B0509030403020204" pitchFamily="49" charset="0"/>
              </a:rPr>
              <a:t>coleção</a:t>
            </a:r>
            <a:endParaRPr lang="en-US" dirty="0">
              <a:ea typeface="Source Code Pro" panose="020B0509030403020204" pitchFamily="49" charset="0"/>
            </a:endParaRPr>
          </a:p>
          <a:p>
            <a:pPr lvl="1"/>
            <a:r>
              <a:rPr lang="en-US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enquanto</a:t>
            </a:r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dirty="0">
                <a:ea typeface="Source Code Pro" panose="020B0509030403020204" pitchFamily="49" charset="0"/>
              </a:rPr>
              <a:t>uma </a:t>
            </a:r>
            <a:r>
              <a:rPr lang="en-US" dirty="0" err="1">
                <a:ea typeface="Source Code Pro" panose="020B0509030403020204" pitchFamily="49" charset="0"/>
              </a:rPr>
              <a:t>condição</a:t>
            </a:r>
            <a:r>
              <a:rPr lang="en-US" dirty="0">
                <a:ea typeface="Source Code Pro" panose="020B0509030403020204" pitchFamily="49" charset="0"/>
              </a:rPr>
              <a:t> for </a:t>
            </a:r>
            <a:r>
              <a:rPr lang="en-US" dirty="0" err="1">
                <a:ea typeface="Source Code Pro" panose="020B0509030403020204" pitchFamily="49" charset="0"/>
              </a:rPr>
              <a:t>verdadeira</a:t>
            </a:r>
            <a:endParaRPr lang="en-US" dirty="0">
              <a:ea typeface="Source Code Pro" panose="020B0509030403020204" pitchFamily="49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197927" y="3232278"/>
            <a:ext cx="11043919" cy="36763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n = 0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total = 0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while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n &lt; 4: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total = total + n*n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n = n + 1</a:t>
            </a:r>
            <a:endParaRPr lang="en-US" sz="2200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(total)  </a:t>
            </a:r>
            <a:r>
              <a:rPr lang="en-US" sz="2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endParaRPr lang="pt-BR" sz="26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1F425-45CE-4860-8220-B21F3B22AB58}"/>
              </a:ext>
            </a:extLst>
          </p:cNvPr>
          <p:cNvSpPr/>
          <p:nvPr/>
        </p:nvSpPr>
        <p:spPr>
          <a:xfrm>
            <a:off x="1197929" y="7022703"/>
            <a:ext cx="11043917" cy="401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1BE7B927-27BF-4931-A919-93224C590B50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29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1175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56580"/>
          </a:xfrm>
        </p:spPr>
        <p:txBody>
          <a:bodyPr/>
          <a:lstStyle/>
          <a:p>
            <a:r>
              <a:rPr lang="pt-BR" dirty="0"/>
              <a:t>Laços (loops) do tipo for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36321"/>
            <a:ext cx="12374879" cy="6387782"/>
          </a:xfrm>
        </p:spPr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Uma </a:t>
            </a:r>
            <a:r>
              <a:rPr lang="en-US" dirty="0" err="1">
                <a:ea typeface="Source Code Pro" panose="020B0509030403020204" pitchFamily="49" charset="0"/>
              </a:rPr>
              <a:t>maneira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iterar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sobre</a:t>
            </a:r>
            <a:r>
              <a:rPr lang="en-US" dirty="0">
                <a:ea typeface="Source Code Pro" panose="020B0509030403020204" pitchFamily="49" charset="0"/>
              </a:rPr>
              <a:t> uma coleção</a:t>
            </a:r>
          </a:p>
          <a:p>
            <a:r>
              <a:rPr lang="en-US" dirty="0" err="1">
                <a:ea typeface="Source Code Pro" panose="020B0509030403020204" pitchFamily="49" charset="0"/>
              </a:rPr>
              <a:t>Usa</a:t>
            </a:r>
            <a:r>
              <a:rPr lang="en-US" dirty="0">
                <a:ea typeface="Source Code Pro" panose="020B0509030403020204" pitchFamily="49" charset="0"/>
              </a:rPr>
              <a:t>-se o keyword </a:t>
            </a:r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dirty="0">
                <a:ea typeface="Source Code Pro" panose="020B0509030403020204" pitchFamily="49" charset="0"/>
              </a:rPr>
              <a:t> para </a:t>
            </a:r>
            <a:r>
              <a:rPr lang="en-US" dirty="0" err="1">
                <a:ea typeface="Source Code Pro" panose="020B0509030403020204" pitchFamily="49" charset="0"/>
              </a:rPr>
              <a:t>referenciar</a:t>
            </a:r>
            <a:r>
              <a:rPr lang="en-US" dirty="0">
                <a:ea typeface="Source Code Pro" panose="020B0509030403020204" pitchFamily="49" charset="0"/>
              </a:rPr>
              <a:t> a coleção.</a:t>
            </a:r>
          </a:p>
          <a:p>
            <a:pPr lvl="1"/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val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foi</a:t>
            </a:r>
            <a:r>
              <a:rPr lang="en-US" dirty="0">
                <a:ea typeface="Source Code Pro" panose="020B0509030403020204" pitchFamily="49" charset="0"/>
              </a:rPr>
              <a:t> um </a:t>
            </a:r>
            <a:r>
              <a:rPr lang="en-US" dirty="0" err="1">
                <a:ea typeface="Source Code Pro" panose="020B0509030403020204" pitchFamily="49" charset="0"/>
              </a:rPr>
              <a:t>termo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escolhido</a:t>
            </a:r>
            <a:r>
              <a:rPr lang="en-US" dirty="0">
                <a:ea typeface="Source Code Pro" panose="020B0509030403020204" pitchFamily="49" charset="0"/>
              </a:rPr>
              <a:t> pelo </a:t>
            </a:r>
            <a:r>
              <a:rPr lang="en-US" dirty="0" err="1">
                <a:ea typeface="Source Code Pro" panose="020B0509030403020204" pitchFamily="49" charset="0"/>
              </a:rPr>
              <a:t>programador</a:t>
            </a:r>
            <a:endParaRPr lang="en-US" dirty="0">
              <a:ea typeface="Source Code Pro" panose="020B0509030403020204" pitchFamily="49" charset="0"/>
            </a:endParaRPr>
          </a:p>
          <a:p>
            <a:pPr lvl="1"/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break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interrompe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iteração</a:t>
            </a:r>
            <a:endParaRPr lang="en-US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4867276" y="3354387"/>
            <a:ext cx="7522843" cy="372249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sequence = [1, 2, 0, 4, 6, 5, 2, 1]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tot_until_5 = 0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val </a:t>
            </a: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sequence: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if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val == 5: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	</a:t>
            </a:r>
            <a:r>
              <a:rPr lang="en-US" sz="22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break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tot_until_5 = tot_until_5 + val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(tot_until_5)  </a:t>
            </a:r>
            <a:r>
              <a:rPr lang="en-US" sz="2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endParaRPr lang="pt-BR" sz="26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1F425-45CE-4860-8220-B21F3B22AB58}"/>
              </a:ext>
            </a:extLst>
          </p:cNvPr>
          <p:cNvSpPr/>
          <p:nvPr/>
        </p:nvSpPr>
        <p:spPr>
          <a:xfrm>
            <a:off x="4867274" y="7089931"/>
            <a:ext cx="7522843" cy="401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1BE7B927-27BF-4931-A919-93224C590B50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30</a:t>
            </a:fld>
            <a:endParaRPr lang="pt-BR" sz="1330" b="0" strike="noStrike" spc="-1">
              <a:latin typeface="Arial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D98F3B6-1BEA-4D3F-A27B-ABE0EA95AB25}"/>
              </a:ext>
            </a:extLst>
          </p:cNvPr>
          <p:cNvGrpSpPr/>
          <p:nvPr/>
        </p:nvGrpSpPr>
        <p:grpSpPr>
          <a:xfrm>
            <a:off x="76200" y="3600450"/>
            <a:ext cx="6693489" cy="3476431"/>
            <a:chOff x="76200" y="3600450"/>
            <a:chExt cx="6693489" cy="347643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868F9C1-8A1A-48C4-A4CF-462C6D7A1CDF}"/>
                </a:ext>
              </a:extLst>
            </p:cNvPr>
            <p:cNvGrpSpPr/>
            <p:nvPr/>
          </p:nvGrpSpPr>
          <p:grpSpPr>
            <a:xfrm>
              <a:off x="4948238" y="3600450"/>
              <a:ext cx="1821451" cy="3476431"/>
              <a:chOff x="1423988" y="3600450"/>
              <a:chExt cx="1821451" cy="3476431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8878F3F-85F6-4774-B839-56A62E44B9CF}"/>
                  </a:ext>
                </a:extLst>
              </p:cNvPr>
              <p:cNvGrpSpPr/>
              <p:nvPr/>
            </p:nvGrpSpPr>
            <p:grpSpPr>
              <a:xfrm>
                <a:off x="1423988" y="3600450"/>
                <a:ext cx="916576" cy="3476431"/>
                <a:chOff x="5453063" y="609600"/>
                <a:chExt cx="916576" cy="3476431"/>
              </a:xfrm>
            </p:grpSpPr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4049E871-BF66-4362-930C-3981333615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93339" y="2247153"/>
                  <a:ext cx="876300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headEnd type="triangle"/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23CC2D43-B697-4DE7-A031-0090C64D18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53063" y="609600"/>
                  <a:ext cx="0" cy="3476431"/>
                </a:xfrm>
                <a:prstGeom prst="line">
                  <a:avLst/>
                </a:prstGeom>
                <a:ln w="28575"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B2D5A68E-8541-479A-BF98-3FCC3C626D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69639" y="2047875"/>
                  <a:ext cx="0" cy="1466850"/>
                </a:xfrm>
                <a:prstGeom prst="line">
                  <a:avLst/>
                </a:prstGeom>
                <a:ln w="28575">
                  <a:prstDash val="lg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56C6CC6-D180-4A45-AB47-E2A4BFBF86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5439" y="5338665"/>
                <a:ext cx="0" cy="776385"/>
              </a:xfrm>
              <a:prstGeom prst="line">
                <a:avLst/>
              </a:prstGeom>
              <a:ln w="28575"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F3807CB-2633-498F-9901-9177928E3C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69139" y="5772150"/>
                <a:ext cx="876300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1" name="Speech Bubble: Rectangle with Corners Rounded 20">
              <a:extLst>
                <a:ext uri="{FF2B5EF4-FFF2-40B4-BE49-F238E27FC236}">
                  <a16:creationId xmlns:a16="http://schemas.microsoft.com/office/drawing/2014/main" id="{B18327B3-38A9-427E-BF76-295ED83F1EC2}"/>
                </a:ext>
              </a:extLst>
            </p:cNvPr>
            <p:cNvSpPr/>
            <p:nvPr/>
          </p:nvSpPr>
          <p:spPr>
            <a:xfrm>
              <a:off x="76200" y="3779837"/>
              <a:ext cx="3955463" cy="1706561"/>
            </a:xfrm>
            <a:prstGeom prst="wedgeRoundRectCallout">
              <a:avLst>
                <a:gd name="adj1" fmla="val 72838"/>
                <a:gd name="adj2" fmla="val 40733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Atente para a correta indentação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3142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Laço do tipo for com a função range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78805"/>
            <a:ext cx="12374879" cy="6245297"/>
          </a:xfrm>
        </p:spPr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range(5)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retorna um iterator da </a:t>
            </a:r>
            <a:r>
              <a:rPr lang="en-US" dirty="0" err="1">
                <a:ea typeface="Source Code Pro" panose="020B0509030403020204" pitchFamily="49" charset="0"/>
              </a:rPr>
              <a:t>sequência</a:t>
            </a:r>
            <a:r>
              <a:rPr lang="en-US" dirty="0">
                <a:ea typeface="Source Code Pro" panose="020B0509030403020204" pitchFamily="49" charset="0"/>
              </a:rPr>
              <a:t> 0, 1, 2, 3, 4</a:t>
            </a:r>
          </a:p>
          <a:p>
            <a:r>
              <a:rPr lang="en-US" dirty="0">
                <a:ea typeface="Source Code Pro" panose="020B0509030403020204" pitchFamily="49" charset="0"/>
              </a:rPr>
              <a:t>range(2, 6)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retorna um iterator da </a:t>
            </a:r>
            <a:r>
              <a:rPr lang="en-US" dirty="0" err="1">
                <a:ea typeface="Source Code Pro" panose="020B0509030403020204" pitchFamily="49" charset="0"/>
              </a:rPr>
              <a:t>sequência</a:t>
            </a:r>
            <a:r>
              <a:rPr lang="en-US" dirty="0">
                <a:ea typeface="Source Code Pro" panose="020B0509030403020204" pitchFamily="49" charset="0"/>
              </a:rPr>
              <a:t> 2, 3, 4, 5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323974" y="3779837"/>
            <a:ext cx="10456545" cy="16960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val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in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range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(3):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	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(val*val)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1F425-45CE-4860-8220-B21F3B22AB58}"/>
              </a:ext>
            </a:extLst>
          </p:cNvPr>
          <p:cNvSpPr/>
          <p:nvPr/>
        </p:nvSpPr>
        <p:spPr>
          <a:xfrm>
            <a:off x="1323976" y="5631496"/>
            <a:ext cx="10456543" cy="14605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>
                <a:solidFill>
                  <a:schemeClr val="tx1"/>
                </a:solidFill>
              </a:rPr>
              <a:t>0</a:t>
            </a:r>
          </a:p>
          <a:p>
            <a:r>
              <a:rPr lang="pt-BR" sz="2400" dirty="0">
                <a:solidFill>
                  <a:schemeClr val="tx1"/>
                </a:solidFill>
              </a:rPr>
              <a:t>1</a:t>
            </a:r>
          </a:p>
          <a:p>
            <a:r>
              <a:rPr lang="pt-BR" sz="2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1BE7B927-27BF-4931-A919-93224C590B50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31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4421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Formando uma string (texto)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Strings podem ser definidas usando aspas simples ou duplas</a:t>
            </a:r>
          </a:p>
          <a:p>
            <a:pPr lvl="1"/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'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aluno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' </a:t>
            </a:r>
            <a:r>
              <a:rPr lang="en-US" sz="3000" dirty="0" err="1"/>
              <a:t>ou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3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aluno</a:t>
            </a:r>
            <a:r>
              <a:rPr lang="en-US" sz="32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3000" dirty="0" err="1"/>
              <a:t>são</a:t>
            </a:r>
            <a:r>
              <a:rPr lang="en-US" sz="3000" dirty="0"/>
              <a:t> </a:t>
            </a:r>
            <a:r>
              <a:rPr lang="en-US" sz="3000" dirty="0" err="1"/>
              <a:t>válidos</a:t>
            </a:r>
            <a:endParaRPr lang="pt-BR" sz="30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078951" y="2901164"/>
            <a:ext cx="8787169" cy="326813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 = 4.5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b = 2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frase1 = </a:t>
            </a:r>
            <a:r>
              <a:rPr lang="en-US" sz="23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f"a</a:t>
            </a:r>
            <a:r>
              <a:rPr lang="en-US" sz="23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={a}, b={b}"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frase2 = "a={0}, b={1}".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format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(a, b)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(frase1)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(frase2)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078951" y="6298957"/>
            <a:ext cx="8787169" cy="88574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a=4.5, b=2</a:t>
            </a:r>
          </a:p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a=4.5, b=2</a:t>
            </a:r>
            <a:endParaRPr lang="pt-BR" sz="2300" dirty="0">
              <a:solidFill>
                <a:schemeClr val="tx1"/>
              </a:solidFill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32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6336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Populares de String: </a:t>
            </a:r>
            <a:r>
              <a:rPr lang="pt-BR" dirty="0" err="1"/>
              <a:t>join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Transforma uma lista de strings numa string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concatenada por um separador</a:t>
            </a:r>
            <a:endParaRPr lang="pt-BR" dirty="0">
              <a:ea typeface="Source Code Pro" panose="020B0509030403020204" pitchFamily="49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251054" y="3429648"/>
            <a:ext cx="8787169" cy="16960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lista_str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["1", "2", "3", "4"]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str_concatenado = "-".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join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0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lista_str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3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(str_concatenado)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251053" y="5329084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1-2-3-4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33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Populares de String: split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600199"/>
            <a:ext cx="12058650" cy="5823903"/>
          </a:xfrm>
        </p:spPr>
        <p:txBody>
          <a:bodyPr>
            <a:normAutofit/>
          </a:bodyPr>
          <a:lstStyle/>
          <a:p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str.split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sep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=None, </a:t>
            </a:r>
            <a:r>
              <a:rPr lang="en-US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maxsplit</a:t>
            </a:r>
            <a:r>
              <a:rPr lang="en-US" dirty="0">
                <a:latin typeface="Source Code Pro" panose="020B0509030403020204" pitchFamily="49" charset="0"/>
                <a:ea typeface="Source Code Pro" panose="020B0509030403020204" pitchFamily="49" charset="0"/>
              </a:rPr>
              <a:t>=-1)</a:t>
            </a:r>
          </a:p>
          <a:p>
            <a:pPr lvl="1"/>
            <a:r>
              <a:rPr lang="pt-BR" dirty="0"/>
              <a:t>Divide uma string em partes separadas por um caractere separador </a:t>
            </a:r>
            <a:r>
              <a:rPr lang="pt-BR" i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sep</a:t>
            </a:r>
            <a:endParaRPr lang="pt-BR" i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2"/>
            <a:r>
              <a:rPr lang="en-US" dirty="0">
                <a:ea typeface="Source Code Pro" panose="020B0509030403020204" pitchFamily="49" charset="0"/>
              </a:rPr>
              <a:t>o resultado </a:t>
            </a:r>
            <a:r>
              <a:rPr lang="en-US" dirty="0" err="1">
                <a:ea typeface="Source Code Pro" panose="020B0509030403020204" pitchFamily="49" charset="0"/>
              </a:rPr>
              <a:t>retornado</a:t>
            </a:r>
            <a:r>
              <a:rPr lang="en-US" dirty="0">
                <a:ea typeface="Source Code Pro" panose="020B0509030403020204" pitchFamily="49" charset="0"/>
              </a:rPr>
              <a:t> é uma lista dos sub-</a:t>
            </a:r>
            <a:r>
              <a:rPr lang="en-US" dirty="0" err="1">
                <a:ea typeface="Source Code Pro" panose="020B0509030403020204" pitchFamily="49" charset="0"/>
              </a:rPr>
              <a:t>elementos</a:t>
            </a:r>
            <a:endParaRPr lang="pt-BR" dirty="0">
              <a:ea typeface="Source Code Pro" panose="020B0509030403020204" pitchFamily="49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241529" y="4025915"/>
            <a:ext cx="8787169" cy="16960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texto = "1-2-3-4"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lista =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texto.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split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("-")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(lista)</a:t>
            </a:r>
            <a:endParaRPr lang="en-US" sz="23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241528" y="5925351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['1', '2', '3', '4']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34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2651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Outras operações com strings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600199"/>
            <a:ext cx="12058650" cy="5823903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dirty="0" err="1"/>
              <a:t>caracter</a:t>
            </a:r>
            <a:r>
              <a:rPr lang="pt-BR" dirty="0"/>
              <a:t> * numero</a:t>
            </a:r>
          </a:p>
          <a:p>
            <a:pPr lvl="1"/>
            <a:r>
              <a:rPr lang="pt-BR" dirty="0"/>
              <a:t>Ex.: "*" * 10</a:t>
            </a:r>
          </a:p>
          <a:p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r>
              <a:rPr lang="pt-BR" dirty="0"/>
              <a:t>Concatenação de strings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ED1935-0F58-4C0F-A3D8-457E1183C62E}"/>
              </a:ext>
            </a:extLst>
          </p:cNvPr>
          <p:cNvSpPr txBox="1"/>
          <p:nvPr/>
        </p:nvSpPr>
        <p:spPr>
          <a:xfrm>
            <a:off x="2326302" y="2828670"/>
            <a:ext cx="8787169" cy="5880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"*" * 10</a:t>
            </a:r>
            <a:endParaRPr lang="en-US" sz="23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34C142C-0ED6-461F-8714-2883822BB29D}"/>
              </a:ext>
            </a:extLst>
          </p:cNvPr>
          <p:cNvSpPr/>
          <p:nvPr/>
        </p:nvSpPr>
        <p:spPr>
          <a:xfrm>
            <a:off x="2326302" y="3581381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'**********'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2B370FA0-8534-40E5-BAF6-DC5E0F92BFA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35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D698B7B0-E448-479C-87D5-13A905FBC3E6}"/>
              </a:ext>
            </a:extLst>
          </p:cNvPr>
          <p:cNvSpPr txBox="1"/>
          <p:nvPr/>
        </p:nvSpPr>
        <p:spPr>
          <a:xfrm>
            <a:off x="2326302" y="5512716"/>
            <a:ext cx="8787169" cy="5880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"hello " + "world!"</a:t>
            </a:r>
            <a:endParaRPr lang="en-US" sz="23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EA3CE71-2C8F-4CE3-B8CC-B06E02B649AA}"/>
              </a:ext>
            </a:extLst>
          </p:cNvPr>
          <p:cNvSpPr/>
          <p:nvPr/>
        </p:nvSpPr>
        <p:spPr>
          <a:xfrm>
            <a:off x="2326302" y="6265427"/>
            <a:ext cx="8787169" cy="6162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300" dirty="0">
                <a:solidFill>
                  <a:schemeClr val="tx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'hello world!'</a:t>
            </a:r>
          </a:p>
        </p:txBody>
      </p:sp>
    </p:spTree>
    <p:extLst>
      <p:ext uri="{BB962C8B-B14F-4D97-AF65-F5344CB8AC3E}">
        <p14:creationId xmlns:p14="http://schemas.microsoft.com/office/powerpoint/2010/main" val="3635455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C81CF29-5B20-41CA-BF13-F42443E476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Estruturas de Dados do Python</a:t>
            </a:r>
            <a:br>
              <a:rPr lang="pt-BR" dirty="0"/>
            </a:br>
            <a:r>
              <a:rPr lang="pt-BR" dirty="0"/>
              <a:t>(Nativas)</a:t>
            </a:r>
          </a:p>
        </p:txBody>
      </p:sp>
      <p:sp>
        <p:nvSpPr>
          <p:cNvPr id="3" name="CustomShape 3">
            <a:extLst>
              <a:ext uri="{FF2B5EF4-FFF2-40B4-BE49-F238E27FC236}">
                <a16:creationId xmlns:a16="http://schemas.microsoft.com/office/drawing/2014/main" id="{7A42CD89-4C62-477D-927F-EC8B951E471A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36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14956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959380"/>
          </a:xfrm>
        </p:spPr>
        <p:txBody>
          <a:bodyPr/>
          <a:lstStyle/>
          <a:p>
            <a:r>
              <a:rPr lang="pt-BR" dirty="0" err="1"/>
              <a:t>list</a:t>
            </a:r>
            <a:r>
              <a:rPr lang="pt-BR" dirty="0"/>
              <a:t> (Lista)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99159"/>
            <a:ext cx="12374879" cy="5823903"/>
          </a:xfrm>
        </p:spPr>
        <p:txBody>
          <a:bodyPr/>
          <a:lstStyle/>
          <a:p>
            <a:r>
              <a:rPr lang="en-US" dirty="0" err="1">
                <a:ea typeface="Source Code Pro" panose="020B0509030403020204" pitchFamily="49" charset="0"/>
              </a:rPr>
              <a:t>Sequência</a:t>
            </a:r>
            <a:r>
              <a:rPr lang="en-US" dirty="0">
                <a:ea typeface="Source Code Pro" panose="020B0509030403020204" pitchFamily="49" charset="0"/>
              </a:rPr>
              <a:t> de tamanho </a:t>
            </a:r>
            <a:r>
              <a:rPr lang="en-US" dirty="0" err="1">
                <a:ea typeface="Source Code Pro" panose="020B0509030403020204" pitchFamily="49" charset="0"/>
              </a:rPr>
              <a:t>variável</a:t>
            </a:r>
            <a:r>
              <a:rPr lang="en-US" dirty="0">
                <a:ea typeface="Source Code Pro" panose="020B0509030403020204" pitchFamily="49" charset="0"/>
              </a:rPr>
              <a:t> e </a:t>
            </a:r>
            <a:r>
              <a:rPr lang="en-US" dirty="0" err="1">
                <a:ea typeface="Source Code Pro" panose="020B0509030403020204" pitchFamily="49" charset="0"/>
              </a:rPr>
              <a:t>conteúdo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mutável</a:t>
            </a:r>
            <a:r>
              <a:rPr lang="en-US" dirty="0">
                <a:ea typeface="Source Code Pro" panose="020B0509030403020204" pitchFamily="49" charset="0"/>
              </a:rPr>
              <a:t> (</a:t>
            </a:r>
            <a:r>
              <a:rPr lang="en-US" dirty="0" err="1">
                <a:ea typeface="Source Code Pro" panose="020B0509030403020204" pitchFamily="49" charset="0"/>
              </a:rPr>
              <a:t>alterável</a:t>
            </a:r>
            <a:r>
              <a:rPr lang="en-US" dirty="0">
                <a:ea typeface="Source Code Pro" panose="020B0509030403020204" pitchFamily="49" charset="0"/>
              </a:rPr>
              <a:t>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Pode </a:t>
            </a:r>
            <a:r>
              <a:rPr lang="en-US" dirty="0" err="1">
                <a:ea typeface="Source Code Pro" panose="020B0509030403020204" pitchFamily="49" charset="0"/>
              </a:rPr>
              <a:t>conter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objetos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vários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tipos</a:t>
            </a:r>
            <a:endParaRPr lang="en-US" dirty="0">
              <a:ea typeface="Source Code Pro" panose="020B0509030403020204" pitchFamily="49" charset="0"/>
            </a:endParaRP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Define-se uma lista com </a:t>
            </a:r>
            <a:r>
              <a:rPr lang="en-US" dirty="0" err="1">
                <a:ea typeface="Source Code Pro" panose="020B0509030403020204" pitchFamily="49" charset="0"/>
              </a:rPr>
              <a:t>colchetes</a:t>
            </a:r>
            <a:r>
              <a:rPr lang="en-US" dirty="0">
                <a:ea typeface="Source Code Pro" panose="020B0509030403020204" pitchFamily="49" charset="0"/>
              </a:rPr>
              <a:t> [ ]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append (</a:t>
            </a:r>
            <a:r>
              <a:rPr lang="en-US" dirty="0" err="1">
                <a:ea typeface="Source Code Pro" panose="020B0509030403020204" pitchFamily="49" charset="0"/>
              </a:rPr>
              <a:t>inserir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elementos</a:t>
            </a:r>
            <a:r>
              <a:rPr lang="en-US" dirty="0">
                <a:ea typeface="Source Code Pro" panose="020B0509030403020204" pitchFamily="49" charset="0"/>
              </a:rPr>
              <a:t>), pop (remover </a:t>
            </a:r>
            <a:r>
              <a:rPr lang="en-US" dirty="0" err="1">
                <a:ea typeface="Source Code Pro" panose="020B0509030403020204" pitchFamily="49" charset="0"/>
              </a:rPr>
              <a:t>elementos</a:t>
            </a:r>
            <a:r>
              <a:rPr lang="en-US" dirty="0">
                <a:ea typeface="Source Code Pro" panose="020B0509030403020204" pitchFamily="49" charset="0"/>
              </a:rPr>
              <a:t> pelo </a:t>
            </a:r>
            <a:r>
              <a:rPr lang="en-US" dirty="0" err="1">
                <a:ea typeface="Source Code Pro" panose="020B0509030403020204" pitchFamily="49" charset="0"/>
              </a:rPr>
              <a:t>índice</a:t>
            </a:r>
            <a:r>
              <a:rPr lang="en-US" dirty="0">
                <a:ea typeface="Source Code Pro" panose="020B0509030403020204" pitchFamily="49" charset="0"/>
              </a:rPr>
              <a:t>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457200" y="3037490"/>
            <a:ext cx="9891429" cy="44660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None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al.append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(9)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pop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(1) # Remover pelo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remove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(0) # Use remove para remover pelo valor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print(al)</a:t>
            </a:r>
            <a:endParaRPr lang="en-US" sz="2400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785BCB3-7FA1-4DD8-ADE9-379AE5A852DB}"/>
              </a:ext>
            </a:extLst>
          </p:cNvPr>
          <p:cNvSpPr/>
          <p:nvPr/>
        </p:nvSpPr>
        <p:spPr>
          <a:xfrm>
            <a:off x="10348629" y="5548597"/>
            <a:ext cx="3091146" cy="19549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2400" dirty="0">
                <a:solidFill>
                  <a:schemeClr val="tx1"/>
                </a:solidFill>
              </a:rPr>
              <a:t>[2, 4, 0, None]</a:t>
            </a:r>
          </a:p>
          <a:p>
            <a:r>
              <a:rPr lang="it-IT" sz="2400" dirty="0">
                <a:solidFill>
                  <a:schemeClr val="tx1"/>
                </a:solidFill>
              </a:rPr>
              <a:t>[2, 4, 0, None, 9]</a:t>
            </a:r>
          </a:p>
          <a:p>
            <a:r>
              <a:rPr lang="it-IT" sz="2400" dirty="0">
                <a:solidFill>
                  <a:schemeClr val="tx1"/>
                </a:solidFill>
              </a:rPr>
              <a:t>[2, 0, None, 9]</a:t>
            </a:r>
          </a:p>
          <a:p>
            <a:r>
              <a:rPr lang="it-IT" sz="2400" dirty="0">
                <a:solidFill>
                  <a:schemeClr val="tx1"/>
                </a:solidFill>
              </a:rPr>
              <a:t>[2, None, 9]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C92FEEBC-1716-417A-937C-F1D9DB7B543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37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922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Combinando Listas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Use o </a:t>
            </a:r>
            <a:r>
              <a:rPr lang="en-US" dirty="0" err="1">
                <a:ea typeface="Source Code Pro" panose="020B0509030403020204" pitchFamily="49" charset="0"/>
              </a:rPr>
              <a:t>operador</a:t>
            </a:r>
            <a:r>
              <a:rPr lang="en-US" dirty="0">
                <a:ea typeface="Source Code Pro" panose="020B0509030403020204" pitchFamily="49" charset="0"/>
              </a:rPr>
              <a:t> + </a:t>
            </a:r>
            <a:r>
              <a:rPr lang="en-US" dirty="0" err="1">
                <a:ea typeface="Source Code Pro" panose="020B0509030403020204" pitchFamily="49" charset="0"/>
              </a:rPr>
              <a:t>ou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função</a:t>
            </a:r>
            <a:r>
              <a:rPr lang="en-US" dirty="0">
                <a:ea typeface="Source Code Pro" panose="020B0509030403020204" pitchFamily="49" charset="0"/>
              </a:rPr>
              <a:t> extend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A </a:t>
            </a:r>
            <a:r>
              <a:rPr lang="en-US" dirty="0" err="1">
                <a:ea typeface="Source Code Pro" panose="020B0509030403020204" pitchFamily="49" charset="0"/>
              </a:rPr>
              <a:t>função</a:t>
            </a:r>
            <a:r>
              <a:rPr lang="en-US" dirty="0">
                <a:ea typeface="Source Code Pro" panose="020B0509030403020204" pitchFamily="49" charset="0"/>
              </a:rPr>
              <a:t> extend é </a:t>
            </a:r>
            <a:r>
              <a:rPr lang="en-US" dirty="0" err="1">
                <a:ea typeface="Source Code Pro" panose="020B0509030403020204" pitchFamily="49" charset="0"/>
              </a:rPr>
              <a:t>mais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rápida</a:t>
            </a:r>
            <a:r>
              <a:rPr lang="en-US" dirty="0">
                <a:ea typeface="Source Code Pro" panose="020B0509030403020204" pitchFamily="49" charset="0"/>
              </a:rPr>
              <a:t> do que o </a:t>
            </a:r>
            <a:r>
              <a:rPr lang="en-US" dirty="0" err="1">
                <a:ea typeface="Source Code Pro" panose="020B0509030403020204" pitchFamily="49" charset="0"/>
              </a:rPr>
              <a:t>operador</a:t>
            </a:r>
            <a:r>
              <a:rPr lang="en-US" dirty="0">
                <a:ea typeface="Source Code Pro" panose="020B0509030403020204" pitchFamily="49" charset="0"/>
              </a:rPr>
              <a:t> +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774172" y="3011648"/>
            <a:ext cx="9891429" cy="28040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None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al_plus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= al + ['a', 'b']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al.</a:t>
            </a:r>
            <a:r>
              <a:rPr lang="en-US" sz="2400" b="1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extend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(['a', 'b'])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comp = al_plus == al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(comp)</a:t>
            </a:r>
            <a:endParaRPr lang="en-US" sz="2400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785BCB3-7FA1-4DD8-ADE9-379AE5A852DB}"/>
              </a:ext>
            </a:extLst>
          </p:cNvPr>
          <p:cNvSpPr/>
          <p:nvPr/>
        </p:nvSpPr>
        <p:spPr>
          <a:xfrm>
            <a:off x="1774173" y="5933159"/>
            <a:ext cx="9891429" cy="110652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True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5A9DE0C9-C28B-441E-9273-1002AE518B7F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38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7246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Slicing (fatiar)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Use intervalos entre </a:t>
            </a:r>
            <a:r>
              <a:rPr lang="en-US" dirty="0" err="1">
                <a:ea typeface="Source Code Pro" panose="020B0509030403020204" pitchFamily="49" charset="0"/>
              </a:rPr>
              <a:t>colchetes</a:t>
            </a:r>
            <a:r>
              <a:rPr lang="en-US" dirty="0">
                <a:ea typeface="Source Code Pro" panose="020B0509030403020204" pitchFamily="49" charset="0"/>
              </a:rPr>
              <a:t> para </a:t>
            </a:r>
            <a:r>
              <a:rPr lang="en-US" dirty="0" err="1">
                <a:ea typeface="Source Code Pro" panose="020B0509030403020204" pitchFamily="49" charset="0"/>
              </a:rPr>
              <a:t>fatiar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sequências</a:t>
            </a:r>
            <a:endParaRPr lang="en-US" dirty="0">
              <a:ea typeface="Source Code Pro" panose="020B0509030403020204" pitchFamily="49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432560" y="2337831"/>
            <a:ext cx="10896600" cy="50200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3, 7, 10, 4, 5]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(al[0:3])  # Do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zero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até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o 3 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não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incluso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(al[:4])   # Do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zero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4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(al[2:])   # Do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índice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2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até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último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(al[-1])   # O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último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elemento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(al[::2])  # A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cada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dois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elementos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a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partir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do zero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(al[::-1]) #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Reverter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/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espelhar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elementos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al[1:3] = [8, 8]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39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84343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de uma lista: </a:t>
            </a:r>
            <a:r>
              <a:rPr lang="pt-BR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len</a:t>
            </a:r>
            <a:r>
              <a:rPr lang="pt-BR" dirty="0">
                <a:latin typeface="Source Code Pro" panose="020B0509030403020204" pitchFamily="49" charset="0"/>
                <a:ea typeface="Source Code Pro" panose="020B0509030403020204" pitchFamily="49" charset="0"/>
              </a:rPr>
              <a:t>(lista)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Source Code Pro" panose="020B0509030403020204" pitchFamily="49" charset="0"/>
              </a:rPr>
              <a:t>o método </a:t>
            </a:r>
            <a:r>
              <a:rPr lang="en-US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len</a:t>
            </a:r>
            <a:r>
              <a:rPr lang="en-US" dirty="0">
                <a:ea typeface="Source Code Pro" panose="020B0509030403020204" pitchFamily="49" charset="0"/>
              </a:rPr>
              <a:t> retorna o tamanho de uma lista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255C70A-F847-419F-B5CC-6FB0DFE630A2}"/>
              </a:ext>
            </a:extLst>
          </p:cNvPr>
          <p:cNvSpPr txBox="1"/>
          <p:nvPr/>
        </p:nvSpPr>
        <p:spPr>
          <a:xfrm>
            <a:off x="1402080" y="2698193"/>
            <a:ext cx="10896600" cy="11420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al = [2, 4, 0, 3, 7, 10, 4, 5]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len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(al))</a:t>
            </a: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40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15306E0-E89D-4A14-813E-45C004B77E18}"/>
              </a:ext>
            </a:extLst>
          </p:cNvPr>
          <p:cNvSpPr/>
          <p:nvPr/>
        </p:nvSpPr>
        <p:spPr>
          <a:xfrm>
            <a:off x="1402080" y="4070325"/>
            <a:ext cx="10896600" cy="84679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61691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Importar (import) módulos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693"/>
            <a:ext cx="12374879" cy="6094409"/>
          </a:xfrm>
        </p:spPr>
        <p:txBody>
          <a:bodyPr>
            <a:normAutofit/>
          </a:bodyPr>
          <a:lstStyle/>
          <a:p>
            <a:r>
              <a:rPr lang="pt-BR" dirty="0"/>
              <a:t>Módulo</a:t>
            </a:r>
            <a:endParaRPr lang="pt-BR" b="1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 lvl="1"/>
            <a:r>
              <a:rPr lang="pt-BR" dirty="0"/>
              <a:t>arquivo de extensão .</a:t>
            </a:r>
            <a:r>
              <a:rPr lang="pt-BR" dirty="0" err="1"/>
              <a:t>py</a:t>
            </a:r>
            <a:endParaRPr lang="pt-BR" i="1" dirty="0"/>
          </a:p>
          <a:p>
            <a:pPr lvl="2"/>
            <a:r>
              <a:rPr lang="pt-BR" dirty="0"/>
              <a:t>Contendo definições e funções/métodos</a:t>
            </a:r>
          </a:p>
          <a:p>
            <a:r>
              <a:rPr lang="pt-BR" dirty="0" err="1"/>
              <a:t>Package</a:t>
            </a:r>
            <a:r>
              <a:rPr lang="pt-BR" dirty="0"/>
              <a:t> (pacote)</a:t>
            </a:r>
          </a:p>
          <a:p>
            <a:pPr lvl="1"/>
            <a:r>
              <a:rPr lang="pt-BR" dirty="0"/>
              <a:t>diretório/pasta marcado com a presença de um arquivo __init__.py</a:t>
            </a:r>
          </a:p>
          <a:p>
            <a:pPr lvl="2"/>
            <a:r>
              <a:rPr lang="pt-BR" dirty="0"/>
              <a:t>Serve para armazenar módulos</a:t>
            </a:r>
          </a:p>
          <a:p>
            <a:pPr lvl="3"/>
            <a:r>
              <a:rPr lang="pt-BR" dirty="0"/>
              <a:t>Instalar um pacote: </a:t>
            </a:r>
            <a:r>
              <a:rPr lang="pt-BR" b="1" dirty="0" err="1"/>
              <a:t>pip</a:t>
            </a:r>
            <a:r>
              <a:rPr lang="pt-BR" dirty="0"/>
              <a:t> </a:t>
            </a:r>
            <a:r>
              <a:rPr lang="pt-BR" b="1" dirty="0" err="1"/>
              <a:t>install</a:t>
            </a:r>
            <a:r>
              <a:rPr lang="pt-BR" dirty="0"/>
              <a:t> &lt;</a:t>
            </a:r>
            <a:r>
              <a:rPr lang="pt-BR" dirty="0" err="1"/>
              <a:t>nome_pacote</a:t>
            </a:r>
            <a:r>
              <a:rPr lang="pt-BR" dirty="0"/>
              <a:t>&gt; (Ex.: </a:t>
            </a:r>
            <a:r>
              <a:rPr lang="pt-BR" dirty="0" err="1"/>
              <a:t>pip</a:t>
            </a:r>
            <a:r>
              <a:rPr lang="pt-BR" dirty="0"/>
              <a:t> </a:t>
            </a:r>
            <a:r>
              <a:rPr lang="pt-BR" dirty="0" err="1"/>
              <a:t>install</a:t>
            </a:r>
            <a:r>
              <a:rPr lang="pt-BR" dirty="0"/>
              <a:t> </a:t>
            </a:r>
            <a:r>
              <a:rPr lang="pt-BR" dirty="0" err="1"/>
              <a:t>numpy</a:t>
            </a:r>
            <a:r>
              <a:rPr lang="pt-BR" dirty="0"/>
              <a:t>)</a:t>
            </a:r>
          </a:p>
          <a:p>
            <a:pPr lvl="4"/>
            <a:r>
              <a:rPr lang="pt-BR" dirty="0"/>
              <a:t>No Google </a:t>
            </a:r>
            <a:r>
              <a:rPr lang="pt-BR" dirty="0" err="1"/>
              <a:t>colab</a:t>
            </a:r>
            <a:r>
              <a:rPr lang="pt-BR" dirty="0"/>
              <a:t>: </a:t>
            </a:r>
            <a:r>
              <a:rPr lang="pt-BR" dirty="0">
                <a:solidFill>
                  <a:srgbClr val="FF0000"/>
                </a:solidFill>
              </a:rPr>
              <a:t>!</a:t>
            </a:r>
            <a:r>
              <a:rPr lang="pt-BR" b="1" dirty="0" err="1"/>
              <a:t>pip</a:t>
            </a:r>
            <a:r>
              <a:rPr lang="pt-BR" dirty="0"/>
              <a:t> </a:t>
            </a:r>
            <a:r>
              <a:rPr lang="pt-BR" b="1" dirty="0" err="1"/>
              <a:t>install</a:t>
            </a:r>
            <a:r>
              <a:rPr lang="pt-BR" dirty="0"/>
              <a:t> &lt;</a:t>
            </a:r>
            <a:r>
              <a:rPr lang="pt-BR" dirty="0" err="1"/>
              <a:t>nome_pacote</a:t>
            </a:r>
            <a:r>
              <a:rPr lang="pt-BR" dirty="0"/>
              <a:t>&gt; (Ex.: </a:t>
            </a:r>
            <a:r>
              <a:rPr lang="pt-BR" dirty="0">
                <a:solidFill>
                  <a:srgbClr val="FF0000"/>
                </a:solidFill>
              </a:rPr>
              <a:t>!</a:t>
            </a:r>
            <a:r>
              <a:rPr lang="pt-BR" b="1" dirty="0" err="1"/>
              <a:t>pip</a:t>
            </a:r>
            <a:r>
              <a:rPr lang="pt-BR" dirty="0"/>
              <a:t> </a:t>
            </a:r>
            <a:r>
              <a:rPr lang="pt-BR" b="1" dirty="0" err="1"/>
              <a:t>install</a:t>
            </a:r>
            <a:r>
              <a:rPr lang="pt-BR" dirty="0"/>
              <a:t> </a:t>
            </a:r>
            <a:r>
              <a:rPr lang="pt-BR" dirty="0" err="1"/>
              <a:t>numpy</a:t>
            </a:r>
            <a:r>
              <a:rPr lang="pt-BR" dirty="0"/>
              <a:t>)</a:t>
            </a:r>
          </a:p>
        </p:txBody>
      </p:sp>
      <p:sp>
        <p:nvSpPr>
          <p:cNvPr id="17" name="CustomShape 3">
            <a:extLst>
              <a:ext uri="{FF2B5EF4-FFF2-40B4-BE49-F238E27FC236}">
                <a16:creationId xmlns:a16="http://schemas.microsoft.com/office/drawing/2014/main" id="{FA273EE3-920C-4E60-A4BF-95CAE596F2B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41</a:t>
            </a:fld>
            <a:endParaRPr lang="pt-BR" sz="1330" b="0" strike="noStrike" spc="-1">
              <a:latin typeface="Arial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4AECE97-5648-4B65-AE9D-FDC51C2C721A}"/>
              </a:ext>
            </a:extLst>
          </p:cNvPr>
          <p:cNvSpPr/>
          <p:nvPr/>
        </p:nvSpPr>
        <p:spPr>
          <a:xfrm>
            <a:off x="11262360" y="1202867"/>
            <a:ext cx="1051560" cy="4271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/>
              <a:t>[2]</a:t>
            </a:r>
          </a:p>
        </p:txBody>
      </p:sp>
      <p:sp>
        <p:nvSpPr>
          <p:cNvPr id="9" name="CaixaDeTexto 3">
            <a:extLst>
              <a:ext uri="{FF2B5EF4-FFF2-40B4-BE49-F238E27FC236}">
                <a16:creationId xmlns:a16="http://schemas.microsoft.com/office/drawing/2014/main" id="{BBDEC9FE-0A83-420A-A335-B8A032BC0164}"/>
              </a:ext>
            </a:extLst>
          </p:cNvPr>
          <p:cNvSpPr txBox="1"/>
          <p:nvPr/>
        </p:nvSpPr>
        <p:spPr>
          <a:xfrm>
            <a:off x="547558" y="5532689"/>
            <a:ext cx="5705605" cy="11420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import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os</a:t>
            </a:r>
          </a:p>
          <a:p>
            <a:pPr>
              <a:lnSpc>
                <a:spcPct val="150000"/>
              </a:lnSpc>
            </a:pPr>
            <a:r>
              <a:rPr lang="pt-BR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pt-B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os.getcwd</a:t>
            </a:r>
            <a:r>
              <a:rPr lang="pt-B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())</a:t>
            </a:r>
          </a:p>
        </p:txBody>
      </p:sp>
      <p:sp>
        <p:nvSpPr>
          <p:cNvPr id="10" name="Retângulo 4">
            <a:extLst>
              <a:ext uri="{FF2B5EF4-FFF2-40B4-BE49-F238E27FC236}">
                <a16:creationId xmlns:a16="http://schemas.microsoft.com/office/drawing/2014/main" id="{1F78CD75-1BBE-44EE-817E-F96E33EA01C4}"/>
              </a:ext>
            </a:extLst>
          </p:cNvPr>
          <p:cNvSpPr/>
          <p:nvPr/>
        </p:nvSpPr>
        <p:spPr>
          <a:xfrm>
            <a:off x="547558" y="6819729"/>
            <a:ext cx="5705605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C:\Users\alex\Google Drive\Aulas\Enap...</a:t>
            </a:r>
            <a:endParaRPr lang="pt-BR" sz="2400" dirty="0">
              <a:solidFill>
                <a:schemeClr val="tx1"/>
              </a:solidFill>
            </a:endParaRP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2A488F3-7D97-48B2-87A0-64FA9E4491E8}"/>
              </a:ext>
            </a:extLst>
          </p:cNvPr>
          <p:cNvSpPr txBox="1"/>
          <p:nvPr/>
        </p:nvSpPr>
        <p:spPr>
          <a:xfrm>
            <a:off x="6810244" y="5525866"/>
            <a:ext cx="5705605" cy="11420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from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os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import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getcwd</a:t>
            </a:r>
            <a:endParaRPr lang="en-US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Source Code Pro" panose="020B0509030403020204" pitchFamily="49" charset="0"/>
                <a:ea typeface="Source Code Pro" panose="020B0509030403020204" pitchFamily="49" charset="0"/>
              </a:rPr>
              <a:t>print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</a:t>
            </a:r>
            <a:r>
              <a:rPr lang="en-US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getcwd</a:t>
            </a:r>
            <a:r>
              <a:rPr lang="en-US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())</a:t>
            </a:r>
            <a:endParaRPr lang="pt-BR" sz="24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12" name="Retângulo 4">
            <a:extLst>
              <a:ext uri="{FF2B5EF4-FFF2-40B4-BE49-F238E27FC236}">
                <a16:creationId xmlns:a16="http://schemas.microsoft.com/office/drawing/2014/main" id="{9EB51A29-C9C0-485E-BCF6-4FC771D44B89}"/>
              </a:ext>
            </a:extLst>
          </p:cNvPr>
          <p:cNvSpPr/>
          <p:nvPr/>
        </p:nvSpPr>
        <p:spPr>
          <a:xfrm>
            <a:off x="6810245" y="6815248"/>
            <a:ext cx="5705605" cy="539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C:\Users\alex\Google Drive\Aulas\Enap…</a:t>
            </a:r>
            <a:endParaRPr lang="pt-B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51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B40DE-59E1-4B97-A114-A9C90BD8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Be </a:t>
            </a:r>
            <a:r>
              <a:rPr lang="pt-BR" dirty="0" err="1"/>
              <a:t>resourceful</a:t>
            </a:r>
            <a:endParaRPr lang="pt-BR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A69164-52B8-4021-8281-35412A8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811"/>
            <a:ext cx="12374879" cy="5772281"/>
          </a:xfrm>
        </p:spPr>
        <p:txBody>
          <a:bodyPr>
            <a:normAutofit/>
          </a:bodyPr>
          <a:lstStyle/>
          <a:p>
            <a:r>
              <a:rPr lang="en-US" dirty="0">
                <a:ea typeface="Source Code Pro" panose="020B0509030403020204" pitchFamily="49" charset="0"/>
              </a:rPr>
              <a:t> Being </a:t>
            </a:r>
            <a:r>
              <a:rPr lang="en-US" b="1" dirty="0">
                <a:ea typeface="Source Code Pro" panose="020B0509030403020204" pitchFamily="49" charset="0"/>
              </a:rPr>
              <a:t>resourceful</a:t>
            </a:r>
            <a:r>
              <a:rPr lang="en-US" dirty="0">
                <a:ea typeface="Source Code Pro" panose="020B0509030403020204" pitchFamily="49" charset="0"/>
              </a:rPr>
              <a:t> 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is the ability to find and use available resources to solve problems and achieve goals.</a:t>
            </a:r>
          </a:p>
          <a:p>
            <a:r>
              <a:rPr lang="en-US" dirty="0">
                <a:ea typeface="Source Code Pro" panose="020B0509030403020204" pitchFamily="49" charset="0"/>
              </a:rPr>
              <a:t>Leia as </a:t>
            </a:r>
            <a:r>
              <a:rPr lang="en-US" dirty="0" err="1">
                <a:ea typeface="Source Code Pro" panose="020B0509030403020204" pitchFamily="49" charset="0"/>
              </a:rPr>
              <a:t>mensagens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erro</a:t>
            </a:r>
            <a:r>
              <a:rPr lang="en-US" dirty="0">
                <a:ea typeface="Source Code Pro" panose="020B0509030403020204" pitchFamily="49" charset="0"/>
              </a:rPr>
              <a:t> / log </a:t>
            </a:r>
          </a:p>
          <a:p>
            <a:r>
              <a:rPr lang="pt-BR" dirty="0">
                <a:ea typeface="Source Code Pro" panose="020B0509030403020204" pitchFamily="49" charset="0"/>
              </a:rPr>
              <a:t>Aprenda os termos/palavras/vocabulários</a:t>
            </a:r>
          </a:p>
          <a:p>
            <a:r>
              <a:rPr lang="en-US" dirty="0" err="1">
                <a:ea typeface="Source Code Pro" panose="020B0509030403020204" pitchFamily="49" charset="0"/>
              </a:rPr>
              <a:t>Aprenda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fazer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buscas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iterativas</a:t>
            </a:r>
            <a:r>
              <a:rPr lang="en-US" dirty="0">
                <a:ea typeface="Source Code Pro" panose="020B0509030403020204" pitchFamily="49" charset="0"/>
              </a:rPr>
              <a:t> (</a:t>
            </a:r>
            <a:r>
              <a:rPr lang="en-US" dirty="0" err="1">
                <a:ea typeface="Source Code Pro" panose="020B0509030403020204" pitchFamily="49" charset="0"/>
              </a:rPr>
              <a:t>na</a:t>
            </a:r>
            <a:r>
              <a:rPr lang="en-US" dirty="0">
                <a:ea typeface="Source Code Pro" panose="020B0509030403020204" pitchFamily="49" charset="0"/>
              </a:rPr>
              <a:t> perplexity / </a:t>
            </a:r>
            <a:r>
              <a:rPr lang="en-US" dirty="0" err="1">
                <a:ea typeface="Source Code Pro" panose="020B0509030403020204" pitchFamily="49" charset="0"/>
              </a:rPr>
              <a:t>SeachGPT</a:t>
            </a:r>
            <a:r>
              <a:rPr lang="en-US" dirty="0">
                <a:ea typeface="Source Code Pro" panose="020B0509030403020204" pitchFamily="49" charset="0"/>
              </a:rPr>
              <a:t>)</a:t>
            </a:r>
          </a:p>
          <a:p>
            <a:pPr lvl="1"/>
            <a:r>
              <a:rPr lang="en-US" dirty="0">
                <a:ea typeface="Source Code Pro" panose="020B0509030403020204" pitchFamily="49" charset="0"/>
              </a:rPr>
              <a:t>O </a:t>
            </a:r>
            <a:r>
              <a:rPr lang="en-US" dirty="0" err="1">
                <a:ea typeface="Source Code Pro" panose="020B0509030403020204" pitchFamily="49" charset="0"/>
              </a:rPr>
              <a:t>resultado</a:t>
            </a:r>
            <a:r>
              <a:rPr lang="en-US" dirty="0">
                <a:ea typeface="Source Code Pro" panose="020B0509030403020204" pitchFamily="49" charset="0"/>
              </a:rPr>
              <a:t> de </a:t>
            </a:r>
            <a:r>
              <a:rPr lang="en-US" dirty="0" err="1">
                <a:ea typeface="Source Code Pro" panose="020B0509030403020204" pitchFamily="49" charset="0"/>
              </a:rPr>
              <a:t>uma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busca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deve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melhorar</a:t>
            </a:r>
            <a:r>
              <a:rPr lang="en-US" dirty="0">
                <a:ea typeface="Source Code Pro" panose="020B0509030403020204" pitchFamily="49" charset="0"/>
              </a:rPr>
              <a:t>/</a:t>
            </a:r>
            <a:r>
              <a:rPr lang="en-US" dirty="0" err="1">
                <a:ea typeface="Source Code Pro" panose="020B0509030403020204" pitchFamily="49" charset="0"/>
              </a:rPr>
              <a:t>refinar</a:t>
            </a:r>
            <a:r>
              <a:rPr lang="en-US" dirty="0">
                <a:ea typeface="Source Code Pro" panose="020B0509030403020204" pitchFamily="49" charset="0"/>
              </a:rPr>
              <a:t> a </a:t>
            </a:r>
            <a:r>
              <a:rPr lang="en-US" dirty="0" err="1">
                <a:ea typeface="Source Code Pro" panose="020B0509030403020204" pitchFamily="49" charset="0"/>
              </a:rPr>
              <a:t>sua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próxima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busca</a:t>
            </a:r>
            <a:endParaRPr lang="en-US" dirty="0">
              <a:ea typeface="Source Code Pro" panose="020B0509030403020204" pitchFamily="49" charset="0"/>
            </a:endParaRPr>
          </a:p>
          <a:p>
            <a:r>
              <a:rPr lang="en-US" dirty="0" err="1">
                <a:ea typeface="Source Code Pro" panose="020B0509030403020204" pitchFamily="49" charset="0"/>
              </a:rPr>
              <a:t>Buscar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diretamente</a:t>
            </a:r>
            <a:r>
              <a:rPr lang="en-US" dirty="0">
                <a:ea typeface="Source Code Pro" panose="020B0509030403020204" pitchFamily="49" charset="0"/>
              </a:rPr>
              <a:t> no </a:t>
            </a:r>
            <a:r>
              <a:rPr lang="en-US" dirty="0" err="1">
                <a:ea typeface="Source Code Pro" panose="020B0509030403020204" pitchFamily="49" charset="0"/>
              </a:rPr>
              <a:t>stackoverflow</a:t>
            </a:r>
            <a:r>
              <a:rPr lang="en-US" dirty="0">
                <a:ea typeface="Source Code Pro" panose="020B0509030403020204" pitchFamily="49" charset="0"/>
              </a:rPr>
              <a:t> / google</a:t>
            </a:r>
          </a:p>
          <a:p>
            <a:pPr lvl="1"/>
            <a:r>
              <a:rPr lang="en-US" dirty="0" err="1">
                <a:ea typeface="Source Code Pro" panose="020B0509030403020204" pitchFamily="49" charset="0"/>
              </a:rPr>
              <a:t>Já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não</a:t>
            </a:r>
            <a:r>
              <a:rPr lang="en-US" dirty="0">
                <a:ea typeface="Source Code Pro" panose="020B0509030403020204" pitchFamily="49" charset="0"/>
              </a:rPr>
              <a:t> é a </a:t>
            </a:r>
            <a:r>
              <a:rPr lang="en-US" dirty="0" err="1">
                <a:ea typeface="Source Code Pro" panose="020B0509030403020204" pitchFamily="49" charset="0"/>
              </a:rPr>
              <a:t>solução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mais</a:t>
            </a:r>
            <a:r>
              <a:rPr lang="en-US" dirty="0">
                <a:ea typeface="Source Code Pro" panose="020B0509030403020204" pitchFamily="49" charset="0"/>
              </a:rPr>
              <a:t> </a:t>
            </a:r>
            <a:r>
              <a:rPr lang="en-US" dirty="0" err="1">
                <a:ea typeface="Source Code Pro" panose="020B0509030403020204" pitchFamily="49" charset="0"/>
              </a:rPr>
              <a:t>eficiente</a:t>
            </a:r>
            <a:endParaRPr lang="en-US" dirty="0">
              <a:ea typeface="Source Code Pro" panose="020B0509030403020204" pitchFamily="49" charset="0"/>
            </a:endParaRPr>
          </a:p>
        </p:txBody>
      </p:sp>
      <p:sp>
        <p:nvSpPr>
          <p:cNvPr id="4" name="CustomShape 3">
            <a:extLst>
              <a:ext uri="{FF2B5EF4-FFF2-40B4-BE49-F238E27FC236}">
                <a16:creationId xmlns:a16="http://schemas.microsoft.com/office/drawing/2014/main" id="{765C75DB-D592-4E56-BFCD-0EDFD6FB4A2C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42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4426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D34DD8-DEEA-CFF8-82F1-CA002558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Concentração na Aula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548BB2A2-CECB-DB64-CE62-2F6CECDC3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55" y="1368601"/>
            <a:ext cx="7138795" cy="6168849"/>
          </a:xfrm>
        </p:spPr>
        <p:txBody>
          <a:bodyPr>
            <a:normAutofit fontScale="85000" lnSpcReduction="10000"/>
          </a:bodyPr>
          <a:lstStyle/>
          <a:p>
            <a:r>
              <a:rPr lang="pt-BR" dirty="0" err="1">
                <a:hlinkClick r:id="rId2"/>
              </a:rPr>
              <a:t>Commitment</a:t>
            </a:r>
            <a:r>
              <a:rPr lang="pt-BR" dirty="0">
                <a:hlinkClick r:id="rId2"/>
              </a:rPr>
              <a:t> device</a:t>
            </a:r>
            <a:endParaRPr lang="pt-BR" dirty="0"/>
          </a:p>
          <a:p>
            <a:pPr lvl="1"/>
            <a:r>
              <a:rPr lang="pt-BR" dirty="0"/>
              <a:t>ferramenta estratégica ajuda indivíduos com seus objetivos de longo prazo, </a:t>
            </a:r>
          </a:p>
          <a:p>
            <a:pPr lvl="2"/>
            <a:r>
              <a:rPr lang="pt-BR" dirty="0"/>
              <a:t>Ao criar restrições ou consequências para seus </a:t>
            </a:r>
            <a:r>
              <a:rPr lang="pt-BR" dirty="0" err="1"/>
              <a:t>eus</a:t>
            </a:r>
            <a:r>
              <a:rPr lang="pt-BR" dirty="0"/>
              <a:t> futuros</a:t>
            </a:r>
          </a:p>
          <a:p>
            <a:pPr lvl="3"/>
            <a:r>
              <a:rPr lang="pt-BR" dirty="0"/>
              <a:t>Ex.: colocar o mouse longe de você</a:t>
            </a:r>
          </a:p>
          <a:p>
            <a:r>
              <a:rPr lang="pt-BR" dirty="0" err="1">
                <a:hlinkClick r:id="rId3"/>
              </a:rPr>
              <a:t>Intention</a:t>
            </a:r>
            <a:r>
              <a:rPr lang="pt-BR" dirty="0">
                <a:hlinkClick r:id="rId3"/>
              </a:rPr>
              <a:t> action gap</a:t>
            </a:r>
            <a:endParaRPr lang="pt-BR" dirty="0"/>
          </a:p>
          <a:p>
            <a:pPr lvl="1"/>
            <a:r>
              <a:rPr lang="pt-BR" dirty="0"/>
              <a:t>ocorre quando os valores, atitudes ou intenções de alguém não correspondem às suas ações.</a:t>
            </a:r>
          </a:p>
          <a:p>
            <a:r>
              <a:rPr lang="pt-BR" dirty="0"/>
              <a:t>Multiplicação e memorização</a:t>
            </a:r>
          </a:p>
          <a:p>
            <a:r>
              <a:rPr lang="pt-BR" dirty="0"/>
              <a:t>“Estamos num barco turístico”</a:t>
            </a:r>
          </a:p>
          <a:p>
            <a:pPr lvl="1"/>
            <a:r>
              <a:rPr lang="pt-BR" dirty="0"/>
              <a:t>Vou conduzir o barco e apresentar o que há de mais interessante</a:t>
            </a:r>
          </a:p>
          <a:p>
            <a:pPr lvl="2"/>
            <a:r>
              <a:rPr lang="pt-BR" dirty="0"/>
              <a:t>Não pule dele pra conduzir seu colete salva-vidas.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0736949-936A-51F4-95D8-36F32C6D32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1" b="5403"/>
          <a:stretch/>
        </p:blipFill>
        <p:spPr bwMode="auto">
          <a:xfrm>
            <a:off x="7724775" y="1575008"/>
            <a:ext cx="5742822" cy="4354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09881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 ao </a:t>
            </a:r>
            <a:r>
              <a:rPr lang="pt-BR" dirty="0" err="1"/>
              <a:t>Colab</a:t>
            </a:r>
            <a:r>
              <a:rPr lang="pt-BR" dirty="0"/>
              <a:t> / </a:t>
            </a:r>
            <a:r>
              <a:rPr lang="pt-BR" dirty="0" err="1"/>
              <a:t>ipython</a:t>
            </a:r>
            <a:r>
              <a:rPr lang="pt-BR" dirty="0"/>
              <a:t> (notebook)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28300"/>
            <a:ext cx="12374879" cy="6309150"/>
          </a:xfrm>
        </p:spPr>
        <p:txBody>
          <a:bodyPr>
            <a:normAutofit/>
          </a:bodyPr>
          <a:lstStyle/>
          <a:p>
            <a:r>
              <a:rPr lang="pt-BR" dirty="0"/>
              <a:t> O que é</a:t>
            </a:r>
          </a:p>
          <a:p>
            <a:pPr lvl="1"/>
            <a:r>
              <a:rPr lang="pt-BR" dirty="0"/>
              <a:t>Ferramenta de programação no navegador;</a:t>
            </a:r>
          </a:p>
          <a:p>
            <a:pPr lvl="1"/>
            <a:r>
              <a:rPr lang="pt-BR" dirty="0"/>
              <a:t>Códigos, instruções e resultados são mostrados juntos;</a:t>
            </a:r>
          </a:p>
          <a:p>
            <a:pPr lvl="1"/>
            <a:r>
              <a:rPr lang="pt-BR" dirty="0"/>
              <a:t>Útil para escrever códigos que contam uma história; e</a:t>
            </a:r>
          </a:p>
          <a:p>
            <a:pPr lvl="1"/>
            <a:r>
              <a:rPr lang="pt-BR" dirty="0"/>
              <a:t>Utilizado por estudantes, cientistas e pesquisadores.</a:t>
            </a:r>
          </a:p>
          <a:p>
            <a:r>
              <a:rPr lang="pt-BR" dirty="0"/>
              <a:t>Como é implementado</a:t>
            </a:r>
          </a:p>
          <a:p>
            <a:pPr lvl="1"/>
            <a:r>
              <a:rPr lang="pt-BR" dirty="0"/>
              <a:t>É um servidor web local.</a:t>
            </a:r>
          </a:p>
          <a:p>
            <a:pPr lvl="1"/>
            <a:r>
              <a:rPr lang="pt-BR" dirty="0"/>
              <a:t>Abre uma página no navegador.</a:t>
            </a:r>
          </a:p>
          <a:p>
            <a:pPr lvl="1"/>
            <a:r>
              <a:rPr lang="pt-BR" dirty="0"/>
              <a:t>Suporta diversas linguagens de programação</a:t>
            </a:r>
          </a:p>
          <a:p>
            <a:pPr lvl="2"/>
            <a:r>
              <a:rPr lang="pt-BR" dirty="0"/>
              <a:t>Entre elas o Python.</a:t>
            </a:r>
          </a:p>
          <a:p>
            <a:r>
              <a:rPr lang="pt-BR" dirty="0"/>
              <a:t>Boa prática de programação no Colab notebook</a:t>
            </a:r>
          </a:p>
          <a:p>
            <a:pPr lvl="1"/>
            <a:r>
              <a:rPr lang="pt-BR" dirty="0"/>
              <a:t>Programar iterativamente: validando cada pequeno resultado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1319A1B-ACE2-42E0-AE6C-4A1FE1373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2652" y="3002506"/>
            <a:ext cx="3031589" cy="3766783"/>
          </a:xfrm>
          <a:prstGeom prst="rect">
            <a:avLst/>
          </a:prstGeom>
        </p:spPr>
      </p:pic>
      <p:sp>
        <p:nvSpPr>
          <p:cNvPr id="6" name="CustomShape 3">
            <a:extLst>
              <a:ext uri="{FF2B5EF4-FFF2-40B4-BE49-F238E27FC236}">
                <a16:creationId xmlns:a16="http://schemas.microsoft.com/office/drawing/2014/main" id="{F6CBBEAE-EBDA-4A7A-AB0E-63FD473BC67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44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5457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Notebook (Caderno) no Google Colab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28300"/>
            <a:ext cx="12374879" cy="6309150"/>
          </a:xfrm>
        </p:spPr>
        <p:txBody>
          <a:bodyPr>
            <a:normAutofit/>
          </a:bodyPr>
          <a:lstStyle/>
          <a:p>
            <a:r>
              <a:rPr lang="pt-BR" dirty="0"/>
              <a:t>Google Colab</a:t>
            </a:r>
          </a:p>
          <a:p>
            <a:pPr lvl="1"/>
            <a:r>
              <a:rPr lang="pt-BR" dirty="0"/>
              <a:t>Um ambiente gratuito na nuvem do google para execução de código</a:t>
            </a:r>
          </a:p>
          <a:p>
            <a:pPr lvl="2"/>
            <a:r>
              <a:rPr lang="pt-BR" dirty="0"/>
              <a:t>De cadernos em formato equivalente ao Jupyter Notebook</a:t>
            </a:r>
          </a:p>
          <a:p>
            <a:endParaRPr lang="pt-BR" dirty="0"/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F6CBBEAE-EBDA-4A7A-AB0E-63FD473BC679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45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E6670AD-3829-464E-A7C4-9D511AC6E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680" y="2829172"/>
            <a:ext cx="7761720" cy="452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69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7013435-1959-1918-F1B4-A04486C87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89" y="2053323"/>
            <a:ext cx="9312163" cy="489931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147" y="22322"/>
            <a:ext cx="12095480" cy="855575"/>
          </a:xfrm>
        </p:spPr>
        <p:txBody>
          <a:bodyPr/>
          <a:lstStyle/>
          <a:p>
            <a:r>
              <a:rPr lang="pt-BR" dirty="0"/>
              <a:t>Acesso aos cadernos Colab desta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366" y="877898"/>
            <a:ext cx="12374554" cy="6546110"/>
          </a:xfrm>
        </p:spPr>
        <p:txBody>
          <a:bodyPr>
            <a:normAutofit/>
          </a:bodyPr>
          <a:lstStyle/>
          <a:p>
            <a:r>
              <a:rPr lang="pt-BR" dirty="0"/>
              <a:t>No Colab </a:t>
            </a:r>
            <a:r>
              <a:rPr lang="pt-BR" dirty="0">
                <a:hlinkClick r:id="rId3"/>
              </a:rPr>
              <a:t>https://colab.research.google.com/</a:t>
            </a:r>
            <a:endParaRPr lang="pt-BR" dirty="0"/>
          </a:p>
          <a:p>
            <a:pPr lvl="1"/>
            <a:r>
              <a:rPr lang="pt-BR" dirty="0"/>
              <a:t>File -&gt; Open notebook</a:t>
            </a:r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0956" y="7157072"/>
            <a:ext cx="3022840" cy="40138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9997" tIns="44999" rIns="89997" bIns="44999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spc="-1">
                <a:solidFill>
                  <a:srgbClr val="8B8B8B"/>
                </a:solidFill>
                <a:latin typeface="Calibri"/>
                <a:ea typeface="DejaVu Sans"/>
              </a:rPr>
              <a:t>46</a:t>
            </a:fld>
            <a:endParaRPr lang="pt-BR" sz="1330" spc="-1">
              <a:latin typeface="Arial"/>
            </a:endParaRP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8EE2624E-012C-59A3-878A-056AEC760747}"/>
              </a:ext>
            </a:extLst>
          </p:cNvPr>
          <p:cNvGrpSpPr/>
          <p:nvPr/>
        </p:nvGrpSpPr>
        <p:grpSpPr>
          <a:xfrm>
            <a:off x="558803" y="5138494"/>
            <a:ext cx="1891822" cy="577164"/>
            <a:chOff x="8298516" y="2053323"/>
            <a:chExt cx="2311975" cy="577164"/>
          </a:xfrm>
        </p:grpSpPr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7BB7AE96-A341-4E19-89B5-A038AEF34664}"/>
                </a:ext>
              </a:extLst>
            </p:cNvPr>
            <p:cNvSpPr/>
            <p:nvPr/>
          </p:nvSpPr>
          <p:spPr>
            <a:xfrm>
              <a:off x="8298516" y="2105359"/>
              <a:ext cx="1774316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8CEB064-18AA-4167-B0C6-FB83DCF0E970}"/>
                </a:ext>
              </a:extLst>
            </p:cNvPr>
            <p:cNvSpPr/>
            <p:nvPr/>
          </p:nvSpPr>
          <p:spPr>
            <a:xfrm>
              <a:off x="10067758" y="2053323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1</a:t>
              </a:r>
            </a:p>
          </p:txBody>
        </p: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D3E18CED-9EB7-203B-416B-722534FE8D00}"/>
              </a:ext>
            </a:extLst>
          </p:cNvPr>
          <p:cNvGrpSpPr/>
          <p:nvPr/>
        </p:nvGrpSpPr>
        <p:grpSpPr>
          <a:xfrm>
            <a:off x="3093424" y="3366191"/>
            <a:ext cx="2772162" cy="525128"/>
            <a:chOff x="4346491" y="3529659"/>
            <a:chExt cx="2772162" cy="525128"/>
          </a:xfrm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551B634B-E021-4DEF-B84A-61CC1A299033}"/>
                </a:ext>
              </a:extLst>
            </p:cNvPr>
            <p:cNvSpPr/>
            <p:nvPr/>
          </p:nvSpPr>
          <p:spPr>
            <a:xfrm>
              <a:off x="4346491" y="3529659"/>
              <a:ext cx="2229429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20E41F2-25EB-41E6-8F57-74D2DA7F1906}"/>
                </a:ext>
              </a:extLst>
            </p:cNvPr>
            <p:cNvSpPr/>
            <p:nvPr/>
          </p:nvSpPr>
          <p:spPr>
            <a:xfrm>
              <a:off x="6575920" y="3529659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2</a:t>
              </a:r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0F9E6E19-A2BB-E341-672E-FF337757D6C2}"/>
              </a:ext>
            </a:extLst>
          </p:cNvPr>
          <p:cNvGrpSpPr/>
          <p:nvPr/>
        </p:nvGrpSpPr>
        <p:grpSpPr>
          <a:xfrm>
            <a:off x="3093424" y="4665226"/>
            <a:ext cx="4069080" cy="538961"/>
            <a:chOff x="4160411" y="4339999"/>
            <a:chExt cx="4611813" cy="538961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380C80F5-D990-43B5-8944-72D234273503}"/>
                </a:ext>
              </a:extLst>
            </p:cNvPr>
            <p:cNvSpPr/>
            <p:nvPr/>
          </p:nvSpPr>
          <p:spPr>
            <a:xfrm>
              <a:off x="4160411" y="4353832"/>
              <a:ext cx="4069080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175C26D-E4B1-4D8C-B067-B9CCF63A8620}"/>
                </a:ext>
              </a:extLst>
            </p:cNvPr>
            <p:cNvSpPr/>
            <p:nvPr/>
          </p:nvSpPr>
          <p:spPr>
            <a:xfrm>
              <a:off x="8229491" y="4339999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3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6ECFBCF4-A0CB-3967-14CA-91A071F261CB}"/>
              </a:ext>
            </a:extLst>
          </p:cNvPr>
          <p:cNvGrpSpPr/>
          <p:nvPr/>
        </p:nvGrpSpPr>
        <p:grpSpPr>
          <a:xfrm>
            <a:off x="3093424" y="6231712"/>
            <a:ext cx="4101015" cy="525128"/>
            <a:chOff x="4774355" y="5554693"/>
            <a:chExt cx="4611813" cy="525128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51EB3C75-D137-438B-BD3E-D880F850C392}"/>
                </a:ext>
              </a:extLst>
            </p:cNvPr>
            <p:cNvSpPr/>
            <p:nvPr/>
          </p:nvSpPr>
          <p:spPr>
            <a:xfrm>
              <a:off x="4774355" y="5554693"/>
              <a:ext cx="4069080" cy="52512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1723CD9-32C6-473D-920F-901F6E36FC1E}"/>
                </a:ext>
              </a:extLst>
            </p:cNvPr>
            <p:cNvSpPr/>
            <p:nvPr/>
          </p:nvSpPr>
          <p:spPr>
            <a:xfrm>
              <a:off x="8843435" y="5595901"/>
              <a:ext cx="542733" cy="4427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/>
                <a:t>4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00EDD52-1FD4-44F7-B194-25111B40A188}"/>
              </a:ext>
            </a:extLst>
          </p:cNvPr>
          <p:cNvSpPr txBox="1"/>
          <p:nvPr/>
        </p:nvSpPr>
        <p:spPr>
          <a:xfrm>
            <a:off x="1259848" y="7095885"/>
            <a:ext cx="97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/>
              <a:t>Repositório desta disciplina: </a:t>
            </a:r>
            <a:r>
              <a:rPr lang="pt-BR" sz="2400" dirty="0">
                <a:hlinkClick r:id="rId4"/>
              </a:rPr>
              <a:t>https://github.com/alexlopespereira/mba_enap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683113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C10CF-8098-658F-2FDE-E1EE37E61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Acessando diretamente do </a:t>
            </a:r>
            <a:r>
              <a:rPr lang="pt-BR" dirty="0" err="1"/>
              <a:t>Github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3D7C6D-F3C0-EA08-9F76-0A9CE020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/>
              <a:t>Repositorio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https://github.com/alexlopespereira/mba_enap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FCC173F-CA9A-FAFC-F811-C658C8E11F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80"/>
          <a:stretch/>
        </p:blipFill>
        <p:spPr>
          <a:xfrm>
            <a:off x="1801091" y="2323250"/>
            <a:ext cx="10229935" cy="5100852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154CCE95-88FB-E5A2-A1C8-5F98BE37B8F2}"/>
              </a:ext>
            </a:extLst>
          </p:cNvPr>
          <p:cNvSpPr/>
          <p:nvPr/>
        </p:nvSpPr>
        <p:spPr>
          <a:xfrm>
            <a:off x="2881745" y="6151418"/>
            <a:ext cx="1898073" cy="44334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65800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147" y="22322"/>
            <a:ext cx="12095480" cy="855575"/>
          </a:xfrm>
        </p:spPr>
        <p:txBody>
          <a:bodyPr/>
          <a:lstStyle/>
          <a:p>
            <a:r>
              <a:rPr lang="pt-BR" dirty="0"/>
              <a:t>Acesso aos cadernos Colab deste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366" y="990600"/>
            <a:ext cx="12374554" cy="6433408"/>
          </a:xfrm>
        </p:spPr>
        <p:txBody>
          <a:bodyPr>
            <a:normAutofit/>
          </a:bodyPr>
          <a:lstStyle/>
          <a:p>
            <a:r>
              <a:rPr lang="pt-BR" dirty="0"/>
              <a:t>Salvar uma cópia no google drive</a:t>
            </a:r>
          </a:p>
          <a:p>
            <a:pPr lvl="1"/>
            <a:r>
              <a:rPr lang="pt-BR" dirty="0"/>
              <a:t>O arquivo será salvo em</a:t>
            </a:r>
          </a:p>
          <a:p>
            <a:pPr lvl="2"/>
            <a:r>
              <a:rPr lang="pt-BR" dirty="0"/>
              <a:t>Meu Drive &gt;  Colab Notebooks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  <p:sp>
        <p:nvSpPr>
          <p:cNvPr id="7" name="CustomShape 3">
            <a:extLst>
              <a:ext uri="{FF2B5EF4-FFF2-40B4-BE49-F238E27FC236}">
                <a16:creationId xmlns:a16="http://schemas.microsoft.com/office/drawing/2014/main" id="{B83F61AF-AC06-450A-B5ED-8E75F40681CA}"/>
              </a:ext>
            </a:extLst>
          </p:cNvPr>
          <p:cNvSpPr/>
          <p:nvPr/>
        </p:nvSpPr>
        <p:spPr>
          <a:xfrm>
            <a:off x="9940956" y="7157072"/>
            <a:ext cx="3022840" cy="40138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9997" tIns="44999" rIns="89997" bIns="44999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spc="-1">
                <a:solidFill>
                  <a:srgbClr val="8B8B8B"/>
                </a:solidFill>
                <a:latin typeface="Calibri"/>
                <a:ea typeface="DejaVu Sans"/>
              </a:rPr>
              <a:t>48</a:t>
            </a:fld>
            <a:endParaRPr lang="pt-BR" sz="1330" spc="-1">
              <a:latin typeface="Arial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7EF801F5-8FE2-449B-B3A4-139AEC47A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2942" y="1681698"/>
            <a:ext cx="6716027" cy="53626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CB65CEA-016B-8926-2400-98A3A95B1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47" y="3387725"/>
            <a:ext cx="4943475" cy="31813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C82080F3-41AA-F4D1-48A4-C63DE93D3D7D}"/>
              </a:ext>
            </a:extLst>
          </p:cNvPr>
          <p:cNvSpPr/>
          <p:nvPr/>
        </p:nvSpPr>
        <p:spPr>
          <a:xfrm>
            <a:off x="3445625" y="6136178"/>
            <a:ext cx="1898073" cy="44334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51F85C53-583C-A829-C6B0-EA9011A418CE}"/>
              </a:ext>
            </a:extLst>
          </p:cNvPr>
          <p:cNvSpPr/>
          <p:nvPr/>
        </p:nvSpPr>
        <p:spPr>
          <a:xfrm>
            <a:off x="443547" y="4978400"/>
            <a:ext cx="1898073" cy="44334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39629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Colab Notebook: Como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64776"/>
            <a:ext cx="12726537" cy="6172673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FF0000"/>
                </a:solidFill>
              </a:rPr>
              <a:t>Preste atenção </a:t>
            </a:r>
            <a:r>
              <a:rPr lang="pt-BR" dirty="0"/>
              <a:t>na demonstração (</a:t>
            </a:r>
            <a:r>
              <a:rPr lang="pt-BR" i="1" dirty="0"/>
              <a:t>live coding</a:t>
            </a:r>
            <a:r>
              <a:rPr lang="pt-BR" dirty="0"/>
              <a:t>) do professor.</a:t>
            </a:r>
          </a:p>
          <a:p>
            <a:pPr lvl="1"/>
            <a:r>
              <a:rPr lang="pt-BR" dirty="0"/>
              <a:t>Você terá tempo para praticar sozinho.</a:t>
            </a:r>
          </a:p>
          <a:p>
            <a:r>
              <a:rPr lang="pt-BR" dirty="0"/>
              <a:t> Interação básica com o Colab Notebook</a:t>
            </a:r>
          </a:p>
          <a:p>
            <a:r>
              <a:rPr lang="pt-BR" dirty="0"/>
              <a:t> Clicar em </a:t>
            </a:r>
            <a:r>
              <a:rPr lang="pt-BR" i="1" dirty="0"/>
              <a:t>Play</a:t>
            </a:r>
            <a:r>
              <a:rPr lang="pt-BR" dirty="0"/>
              <a:t> ou </a:t>
            </a:r>
            <a:r>
              <a:rPr lang="pt-BR" b="1" dirty="0"/>
              <a:t>tecle SHIFT+ENTER </a:t>
            </a:r>
            <a:r>
              <a:rPr lang="pt-BR" dirty="0"/>
              <a:t>para executar uma célula</a:t>
            </a:r>
          </a:p>
          <a:p>
            <a:pPr lvl="1"/>
            <a:r>
              <a:rPr lang="pt-BR" dirty="0"/>
              <a:t> Os números entre colchetes indicam a ordem de execução dos comandos.</a:t>
            </a:r>
          </a:p>
          <a:p>
            <a:pPr lvl="1"/>
            <a:r>
              <a:rPr lang="pt-BR" dirty="0"/>
              <a:t> O ícone de Play indica que o código está sendo executado.</a:t>
            </a:r>
          </a:p>
          <a:p>
            <a:r>
              <a:rPr lang="pt-BR" dirty="0"/>
              <a:t> Se você </a:t>
            </a:r>
            <a:r>
              <a:rPr lang="pt-BR" b="1" dirty="0"/>
              <a:t>reiniciar</a:t>
            </a:r>
            <a:r>
              <a:rPr lang="pt-BR" dirty="0"/>
              <a:t> o notebook o conteúdo das variáveis é </a:t>
            </a:r>
            <a:r>
              <a:rPr lang="pt-BR" b="1" dirty="0"/>
              <a:t>perdido</a:t>
            </a:r>
            <a:r>
              <a:rPr lang="pt-BR" dirty="0"/>
              <a:t>.</a:t>
            </a:r>
          </a:p>
          <a:p>
            <a:r>
              <a:rPr lang="pt-BR" dirty="0"/>
              <a:t> </a:t>
            </a:r>
            <a:r>
              <a:rPr lang="pt-BR" b="1" dirty="0"/>
              <a:t>Leia</a:t>
            </a:r>
            <a:r>
              <a:rPr lang="pt-BR" dirty="0"/>
              <a:t> as mensagens de </a:t>
            </a:r>
            <a:r>
              <a:rPr lang="pt-BR" b="1" dirty="0"/>
              <a:t>log de erro </a:t>
            </a:r>
            <a:r>
              <a:rPr lang="pt-BR" dirty="0"/>
              <a:t>(elas são úteis 🤦🏻‍♂️).</a:t>
            </a:r>
          </a:p>
        </p:txBody>
      </p:sp>
      <p:sp>
        <p:nvSpPr>
          <p:cNvPr id="5" name="CustomShape 3">
            <a:extLst>
              <a:ext uri="{FF2B5EF4-FFF2-40B4-BE49-F238E27FC236}">
                <a16:creationId xmlns:a16="http://schemas.microsoft.com/office/drawing/2014/main" id="{8DBF015A-F37C-41BA-ACB5-00DCEA74B8CE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49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59459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Atalhos de Teclado muito úteis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64776"/>
            <a:ext cx="12374879" cy="6172673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ESC</a:t>
            </a:r>
          </a:p>
          <a:p>
            <a:pPr lvl="1"/>
            <a:r>
              <a:rPr lang="pt-BR" dirty="0"/>
              <a:t>Sai do modo de edição e entra no modo de comandos</a:t>
            </a:r>
          </a:p>
          <a:p>
            <a:pPr lvl="2"/>
            <a:r>
              <a:rPr lang="pt-BR" dirty="0"/>
              <a:t>Pode-se sair do modo de edição clicando fora das células</a:t>
            </a:r>
          </a:p>
          <a:p>
            <a:r>
              <a:rPr lang="pt-BR" dirty="0"/>
              <a:t>SHIFT+ENTER</a:t>
            </a:r>
          </a:p>
          <a:p>
            <a:pPr lvl="1"/>
            <a:r>
              <a:rPr lang="pt-BR" dirty="0"/>
              <a:t>Executa a célula atual e passa o cursor para a próxima célula;</a:t>
            </a:r>
          </a:p>
          <a:p>
            <a:r>
              <a:rPr lang="pt-BR" dirty="0"/>
              <a:t>CTRL+ENTER</a:t>
            </a:r>
          </a:p>
          <a:p>
            <a:pPr lvl="1"/>
            <a:r>
              <a:rPr lang="pt-BR" dirty="0"/>
              <a:t>Executa a célula atual e mantém o cursos na mesma célula;</a:t>
            </a:r>
          </a:p>
          <a:p>
            <a:r>
              <a:rPr lang="pt-BR" dirty="0"/>
              <a:t>B (</a:t>
            </a:r>
            <a:r>
              <a:rPr lang="pt-BR" b="1" dirty="0" err="1"/>
              <a:t>B</a:t>
            </a:r>
            <a:r>
              <a:rPr lang="pt-BR" dirty="0" err="1"/>
              <a:t>elow</a:t>
            </a:r>
            <a:r>
              <a:rPr lang="pt-BR" dirty="0"/>
              <a:t>) / A (</a:t>
            </a:r>
            <a:r>
              <a:rPr lang="pt-BR" b="1" dirty="0" err="1"/>
              <a:t>A</a:t>
            </a:r>
            <a:r>
              <a:rPr lang="pt-BR" dirty="0" err="1"/>
              <a:t>bove</a:t>
            </a:r>
            <a:r>
              <a:rPr lang="pt-BR" dirty="0"/>
              <a:t>) – no modo de comando</a:t>
            </a:r>
          </a:p>
          <a:p>
            <a:pPr lvl="1"/>
            <a:r>
              <a:rPr lang="pt-BR" dirty="0"/>
              <a:t>Adiciona uma célula abaixo/acima da célula selecionada</a:t>
            </a:r>
          </a:p>
          <a:p>
            <a:r>
              <a:rPr lang="pt-BR" dirty="0"/>
              <a:t>     /  </a:t>
            </a:r>
          </a:p>
          <a:p>
            <a:pPr lvl="1"/>
            <a:r>
              <a:rPr lang="pt-BR" dirty="0"/>
              <a:t>Move células para baixo / cima</a:t>
            </a:r>
          </a:p>
          <a:p>
            <a:r>
              <a:rPr lang="pt-BR" dirty="0"/>
              <a:t>Acessar documentação/manual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F85A41FD-86BF-4079-BDA5-967A49AA7B1C}"/>
              </a:ext>
            </a:extLst>
          </p:cNvPr>
          <p:cNvCxnSpPr>
            <a:cxnSpLocks/>
          </p:cNvCxnSpPr>
          <p:nvPr/>
        </p:nvCxnSpPr>
        <p:spPr>
          <a:xfrm>
            <a:off x="923925" y="5814400"/>
            <a:ext cx="0" cy="504968"/>
          </a:xfrm>
          <a:prstGeom prst="straightConnector1">
            <a:avLst/>
          </a:prstGeom>
          <a:ln w="1047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48A8EE86-829A-456A-8BFB-9B4BC07F6E85}"/>
              </a:ext>
            </a:extLst>
          </p:cNvPr>
          <p:cNvCxnSpPr>
            <a:cxnSpLocks/>
          </p:cNvCxnSpPr>
          <p:nvPr/>
        </p:nvCxnSpPr>
        <p:spPr>
          <a:xfrm flipV="1">
            <a:off x="1826952" y="5814400"/>
            <a:ext cx="0" cy="504968"/>
          </a:xfrm>
          <a:prstGeom prst="straightConnector1">
            <a:avLst/>
          </a:prstGeom>
          <a:ln w="1047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59D4B9FF-B8CE-475D-A012-BFB59778EDCB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50</a:t>
            </a:fld>
            <a:endParaRPr lang="pt-BR" sz="133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30390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7C479B-BB33-445B-8354-0B5DCD5FA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27306"/>
          </a:xfrm>
        </p:spPr>
        <p:txBody>
          <a:bodyPr/>
          <a:lstStyle/>
          <a:p>
            <a:r>
              <a:rPr lang="pt-BR" dirty="0"/>
              <a:t>Metodologia das Aulas Práticas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2E0BB4-2417-42AC-A1C9-F685BAF79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9531"/>
            <a:ext cx="12374879" cy="6274571"/>
          </a:xfrm>
        </p:spPr>
        <p:txBody>
          <a:bodyPr>
            <a:normAutofit/>
          </a:bodyPr>
          <a:lstStyle/>
          <a:p>
            <a:r>
              <a:rPr lang="pt-BR" sz="3527" dirty="0"/>
              <a:t>Grupos de 4 alunos</a:t>
            </a:r>
          </a:p>
          <a:p>
            <a:pPr lvl="1"/>
            <a:r>
              <a:rPr lang="pt-BR" sz="3200" dirty="0"/>
              <a:t>Ajudar e ser ajudado pelos próprios colegas (</a:t>
            </a:r>
            <a:r>
              <a:rPr lang="pt-BR" sz="3200" i="1" dirty="0"/>
              <a:t>peer instruction</a:t>
            </a:r>
            <a:r>
              <a:rPr lang="pt-BR" sz="3200" dirty="0"/>
              <a:t>);</a:t>
            </a:r>
            <a:endParaRPr lang="pt-BR" sz="3127" dirty="0"/>
          </a:p>
          <a:p>
            <a:r>
              <a:rPr lang="pt-BR" sz="3527" dirty="0"/>
              <a:t>Conectados numa sala de vídeo conferência;</a:t>
            </a:r>
          </a:p>
          <a:p>
            <a:r>
              <a:rPr lang="pt-BR" sz="3527" dirty="0"/>
              <a:t>Desenvolvendo os exercícios </a:t>
            </a:r>
            <a:r>
              <a:rPr lang="pt-BR" sz="3527" b="1" dirty="0"/>
              <a:t>individualmente</a:t>
            </a:r>
            <a:r>
              <a:rPr lang="pt-BR" sz="3527" dirty="0"/>
              <a:t> </a:t>
            </a:r>
          </a:p>
          <a:p>
            <a:pPr lvl="1"/>
            <a:r>
              <a:rPr lang="pt-BR" sz="3127" dirty="0"/>
              <a:t>e tirando dúvidas entre si, se necessário;</a:t>
            </a:r>
          </a:p>
          <a:p>
            <a:r>
              <a:rPr lang="pt-BR" sz="3527" dirty="0"/>
              <a:t>O monitor/professor entra na sala para sanar uma dúvida </a:t>
            </a:r>
          </a:p>
          <a:p>
            <a:pPr lvl="1"/>
            <a:r>
              <a:rPr lang="pt-BR" sz="3127" dirty="0"/>
              <a:t>registrada no canal duvidas do slack.</a:t>
            </a:r>
          </a:p>
          <a:p>
            <a:pPr lvl="2"/>
            <a:r>
              <a:rPr lang="pt-BR" sz="2727" dirty="0"/>
              <a:t>Informe sua sala na dúvida registrada no Slack</a:t>
            </a:r>
          </a:p>
          <a:p>
            <a:pPr lvl="1"/>
            <a:r>
              <a:rPr lang="pt-BR" sz="3127" dirty="0"/>
              <a:t>depois de </a:t>
            </a:r>
            <a:r>
              <a:rPr lang="pt-BR" sz="3127" b="1" dirty="0">
                <a:solidFill>
                  <a:srgbClr val="FF0000"/>
                </a:solidFill>
              </a:rPr>
              <a:t>15min sem progresso</a:t>
            </a:r>
            <a:r>
              <a:rPr lang="pt-BR" sz="3127" dirty="0"/>
              <a:t>, é hora de chamar um monitor!</a:t>
            </a:r>
          </a:p>
          <a:p>
            <a:endParaRPr lang="pt-BR" sz="3527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1389E38-9F71-4758-B3FB-27728591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0513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A77EC-6F71-46B8-92C4-41AB5CEE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Cadernos (notebooks) Jupyter desse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872E-1291-4864-8067-43408F6E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64776"/>
            <a:ext cx="12374879" cy="6172673"/>
          </a:xfrm>
        </p:spPr>
        <p:txBody>
          <a:bodyPr>
            <a:normAutofit/>
          </a:bodyPr>
          <a:lstStyle/>
          <a:p>
            <a:r>
              <a:rPr lang="pt-BR" dirty="0" err="1"/>
              <a:t>AulaX_Teoria_ZZZ</a:t>
            </a:r>
            <a:r>
              <a:rPr lang="pt-BR" dirty="0"/>
              <a:t>                                </a:t>
            </a:r>
            <a:r>
              <a:rPr lang="pt-BR" dirty="0">
                <a:solidFill>
                  <a:srgbClr val="FF0000"/>
                </a:solidFill>
              </a:rPr>
              <a:t>-    1. Lembrar / 2.Entender</a:t>
            </a:r>
          </a:p>
          <a:p>
            <a:pPr lvl="1"/>
            <a:r>
              <a:rPr lang="pt-BR" dirty="0"/>
              <a:t>Códigos apresentados nos slides</a:t>
            </a:r>
          </a:p>
          <a:p>
            <a:r>
              <a:rPr lang="pt-BR" dirty="0" err="1"/>
              <a:t>AulaX_Warmup</a:t>
            </a:r>
            <a:r>
              <a:rPr lang="pt-BR" dirty="0"/>
              <a:t>(_</a:t>
            </a:r>
            <a:r>
              <a:rPr lang="pt-BR" dirty="0" err="1"/>
              <a:t>Solucoes</a:t>
            </a:r>
            <a:r>
              <a:rPr lang="pt-BR" dirty="0"/>
              <a:t>)               </a:t>
            </a:r>
            <a:r>
              <a:rPr lang="pt-BR" dirty="0">
                <a:solidFill>
                  <a:srgbClr val="FF0000"/>
                </a:solidFill>
              </a:rPr>
              <a:t>-    1. Lembrar / 2.Entender</a:t>
            </a:r>
            <a:endParaRPr lang="pt-BR" dirty="0"/>
          </a:p>
          <a:p>
            <a:pPr lvl="1"/>
            <a:r>
              <a:rPr lang="pt-BR" dirty="0"/>
              <a:t>Exercícios básicos (elementares) de aquecimento</a:t>
            </a:r>
          </a:p>
          <a:p>
            <a:r>
              <a:rPr lang="pt-BR" dirty="0" err="1"/>
              <a:t>AulaX_Exercicio</a:t>
            </a:r>
            <a:r>
              <a:rPr lang="pt-BR" dirty="0"/>
              <a:t>                                   </a:t>
            </a:r>
            <a:r>
              <a:rPr lang="pt-BR" dirty="0">
                <a:solidFill>
                  <a:srgbClr val="FF0000"/>
                </a:solidFill>
              </a:rPr>
              <a:t>-    3. Aplicar</a:t>
            </a:r>
            <a:endParaRPr lang="pt-BR" dirty="0"/>
          </a:p>
          <a:p>
            <a:pPr lvl="1"/>
            <a:r>
              <a:rPr lang="pt-BR" dirty="0"/>
              <a:t>Exercícios práticos</a:t>
            </a:r>
          </a:p>
          <a:p>
            <a:r>
              <a:rPr lang="pt-BR" dirty="0" err="1"/>
              <a:t>AulaX_Exercicio_Extra</a:t>
            </a:r>
            <a:r>
              <a:rPr lang="pt-BR" dirty="0"/>
              <a:t>(_</a:t>
            </a:r>
            <a:r>
              <a:rPr lang="pt-BR" dirty="0" err="1"/>
              <a:t>Solucoes</a:t>
            </a:r>
            <a:r>
              <a:rPr lang="pt-BR" dirty="0"/>
              <a:t>)   </a:t>
            </a:r>
            <a:r>
              <a:rPr lang="pt-BR" dirty="0">
                <a:solidFill>
                  <a:srgbClr val="FF0000"/>
                </a:solidFill>
              </a:rPr>
              <a:t>-    3. Aplicar</a:t>
            </a:r>
            <a:endParaRPr lang="pt-BR" dirty="0"/>
          </a:p>
          <a:p>
            <a:pPr lvl="1"/>
            <a:r>
              <a:rPr lang="pt-BR" dirty="0"/>
              <a:t>Exercícios extra</a:t>
            </a:r>
          </a:p>
          <a:p>
            <a:r>
              <a:rPr lang="pt-BR" dirty="0"/>
              <a:t>Google </a:t>
            </a:r>
            <a:r>
              <a:rPr lang="pt-BR" dirty="0" err="1"/>
              <a:t>Colab</a:t>
            </a:r>
            <a:endParaRPr lang="pt-BR" dirty="0"/>
          </a:p>
          <a:p>
            <a:pPr lvl="1"/>
            <a:r>
              <a:rPr lang="pt-BR" dirty="0" err="1"/>
              <a:t>Init</a:t>
            </a:r>
            <a:r>
              <a:rPr lang="pt-BR" dirty="0"/>
              <a:t> </a:t>
            </a:r>
            <a:r>
              <a:rPr lang="pt-BR" dirty="0" err="1"/>
              <a:t>Cell</a:t>
            </a:r>
            <a:r>
              <a:rPr lang="pt-BR" dirty="0"/>
              <a:t> / </a:t>
            </a:r>
            <a:r>
              <a:rPr lang="pt-BR" dirty="0" err="1"/>
              <a:t>validate</a:t>
            </a:r>
            <a:r>
              <a:rPr lang="pt-BR" dirty="0"/>
              <a:t>()</a:t>
            </a:r>
          </a:p>
        </p:txBody>
      </p:sp>
      <p:sp>
        <p:nvSpPr>
          <p:cNvPr id="5" name="CustomShape 3">
            <a:extLst>
              <a:ext uri="{FF2B5EF4-FFF2-40B4-BE49-F238E27FC236}">
                <a16:creationId xmlns:a16="http://schemas.microsoft.com/office/drawing/2014/main" id="{3DE1D80A-CAAD-4418-B495-FA153E6B7081}"/>
              </a:ext>
            </a:extLst>
          </p:cNvPr>
          <p:cNvSpPr/>
          <p:nvPr/>
        </p:nvSpPr>
        <p:spPr>
          <a:xfrm>
            <a:off x="9941040" y="7157160"/>
            <a:ext cx="3022920" cy="401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 algn="r">
              <a:lnSpc>
                <a:spcPct val="100000"/>
              </a:lnSpc>
            </a:pPr>
            <a:fld id="{E41630A5-50A0-42D1-9024-10A5D4502CEA}" type="slidenum">
              <a:rPr lang="pt-BR" sz="1330" b="0" strike="noStrike" spc="-1">
                <a:solidFill>
                  <a:srgbClr val="8B8B8B"/>
                </a:solidFill>
                <a:latin typeface="Calibri"/>
                <a:ea typeface="DejaVu Sans"/>
              </a:rPr>
              <a:t>52</a:t>
            </a:fld>
            <a:endParaRPr lang="pt-BR" sz="1330" b="0" strike="noStrike" spc="-1">
              <a:latin typeface="Arial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1C321FA-840D-4BE5-9B5A-EC9D12CCF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698" y="5291540"/>
            <a:ext cx="4991692" cy="224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5079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5"/>
          <p:cNvSpPr txBox="1">
            <a:spLocks noGrp="1"/>
          </p:cNvSpPr>
          <p:nvPr>
            <p:ph type="ctrTitle"/>
          </p:nvPr>
        </p:nvSpPr>
        <p:spPr>
          <a:xfrm>
            <a:off x="1679574" y="155598"/>
            <a:ext cx="10080625" cy="939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6000"/>
              <a:buFont typeface="Calibri"/>
              <a:buNone/>
            </a:pPr>
            <a:r>
              <a:rPr lang="en-US" dirty="0" err="1"/>
              <a:t>Comece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lhe</a:t>
            </a:r>
            <a:r>
              <a:rPr lang="en-US" dirty="0"/>
              <a:t> </a:t>
            </a:r>
            <a:r>
              <a:rPr lang="en-US" dirty="0" err="1"/>
              <a:t>convier</a:t>
            </a:r>
            <a:endParaRPr dirty="0"/>
          </a:p>
        </p:txBody>
      </p:sp>
      <p:sp>
        <p:nvSpPr>
          <p:cNvPr id="362" name="Google Shape;362;p35"/>
          <p:cNvSpPr txBox="1"/>
          <p:nvPr/>
        </p:nvSpPr>
        <p:spPr>
          <a:xfrm>
            <a:off x="333315" y="1008408"/>
            <a:ext cx="12773142" cy="2768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Escolham por onde </a:t>
            </a:r>
            <a:r>
              <a:rPr lang="en-US" sz="36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começar</a:t>
            </a:r>
            <a: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Teoria, Warmup </a:t>
            </a:r>
            <a:r>
              <a:rPr lang="en-US" sz="36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</a:t>
            </a:r>
            <a:r>
              <a:rPr lang="en-US" sz="3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Exercícios;</a:t>
            </a:r>
          </a:p>
          <a:p>
            <a:pPr marL="898525" lvl="1" indent="-441325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3200"/>
              <a:buFont typeface="Courier New" panose="02070309020205020404" pitchFamily="49" charset="0"/>
              <a:buChar char="o"/>
            </a:pP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As soluções dos warmups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já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estão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publicadas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;</a:t>
            </a:r>
          </a:p>
          <a:p>
            <a:pPr marL="898525" lvl="1" indent="-441325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3200"/>
              <a:buFont typeface="Courier New" panose="02070309020205020404" pitchFamily="49" charset="0"/>
              <a:buChar char="o"/>
            </a:pP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As soluções dos exercícios extra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serão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disponibilizadas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ao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final do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dia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;</a:t>
            </a:r>
            <a:endParaRPr sz="3200" dirty="0">
              <a:solidFill>
                <a:srgbClr val="0206BE"/>
              </a:solidFill>
              <a:ea typeface="Source Code Pro" panose="020B0509030403020204" pitchFamily="49" charset="0"/>
              <a:sym typeface="Arial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600" dirty="0">
                <a:solidFill>
                  <a:schemeClr val="dk1"/>
                </a:solidFill>
                <a:latin typeface="Calibri"/>
                <a:ea typeface="Arial"/>
                <a:cs typeface="Calibri"/>
                <a:sym typeface="Calibri"/>
              </a:rPr>
              <a:t>É esperado que </a:t>
            </a:r>
            <a:r>
              <a:rPr lang="en-US" sz="3600" dirty="0" err="1">
                <a:solidFill>
                  <a:schemeClr val="dk1"/>
                </a:solidFill>
                <a:latin typeface="Calibri"/>
                <a:ea typeface="Arial"/>
                <a:cs typeface="Calibri"/>
                <a:sym typeface="Calibri"/>
              </a:rPr>
              <a:t>não</a:t>
            </a:r>
            <a:r>
              <a:rPr lang="en-US" sz="3600" dirty="0">
                <a:solidFill>
                  <a:schemeClr val="dk1"/>
                </a:solidFill>
                <a:latin typeface="Calibri"/>
                <a:ea typeface="Arial"/>
                <a:cs typeface="Calibri"/>
                <a:sym typeface="Calibri"/>
              </a:rPr>
              <a:t> terminem todos os exercícios durante a aula; </a:t>
            </a:r>
          </a:p>
          <a:p>
            <a:pPr marL="898525" marR="0" lvl="1" indent="-441325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urier New" panose="02070309020205020404" pitchFamily="49" charset="0"/>
              <a:buChar char="o"/>
            </a:pP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Façam o restante </a:t>
            </a:r>
            <a:r>
              <a:rPr lang="en-US" sz="3200" dirty="0" err="1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ao</a:t>
            </a:r>
            <a:r>
              <a:rPr lang="en-US" sz="3200" dirty="0">
                <a:solidFill>
                  <a:srgbClr val="0206BE"/>
                </a:solidFill>
                <a:ea typeface="Source Code Pro" panose="020B0509030403020204" pitchFamily="49" charset="0"/>
                <a:sym typeface="Calibri"/>
              </a:rPr>
              <a:t> longo da semana.</a:t>
            </a:r>
            <a:endParaRPr sz="3200" dirty="0">
              <a:solidFill>
                <a:srgbClr val="0206BE"/>
              </a:solidFill>
              <a:ea typeface="Source Code Pro" panose="020B0509030403020204" pitchFamily="49" charset="0"/>
              <a:sym typeface="Arial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7893F81-54CF-42B0-AFF6-3EAB49B88B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89808"/>
              </p:ext>
            </p:extLst>
          </p:nvPr>
        </p:nvGraphicFramePr>
        <p:xfrm>
          <a:off x="76491" y="4714863"/>
          <a:ext cx="13286792" cy="27437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Left Brace 1">
            <a:extLst>
              <a:ext uri="{FF2B5EF4-FFF2-40B4-BE49-F238E27FC236}">
                <a16:creationId xmlns:a16="http://schemas.microsoft.com/office/drawing/2014/main" id="{45920099-2B37-47E3-9D7D-3C9DC56451A5}"/>
              </a:ext>
            </a:extLst>
          </p:cNvPr>
          <p:cNvSpPr/>
          <p:nvPr/>
        </p:nvSpPr>
        <p:spPr>
          <a:xfrm rot="5400000">
            <a:off x="9958331" y="1309911"/>
            <a:ext cx="342899" cy="6467006"/>
          </a:xfrm>
          <a:prstGeom prst="leftBrace">
            <a:avLst>
              <a:gd name="adj1" fmla="val 25000"/>
              <a:gd name="adj2" fmla="val 50000"/>
            </a:avLst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9C532D-A081-4864-9187-AE9BE5114D7F}"/>
              </a:ext>
            </a:extLst>
          </p:cNvPr>
          <p:cNvSpPr txBox="1"/>
          <p:nvPr/>
        </p:nvSpPr>
        <p:spPr>
          <a:xfrm>
            <a:off x="9246429" y="3777331"/>
            <a:ext cx="1766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/>
              <a:t>Dashboard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A99BA-9B5B-B75D-4D2A-F2717A0F1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8F0FB3-996B-C23B-2C21-1E39481AB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22225"/>
            <a:ext cx="11591925" cy="1127306"/>
          </a:xfrm>
        </p:spPr>
        <p:txBody>
          <a:bodyPr/>
          <a:lstStyle/>
          <a:p>
            <a:r>
              <a:rPr lang="pt-BR" dirty="0"/>
              <a:t>Conceitos de Python abordados na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BEFE9B-2455-4508-873D-D77CB78F6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68" y="1149531"/>
            <a:ext cx="12129211" cy="6274571"/>
          </a:xfrm>
        </p:spPr>
        <p:txBody>
          <a:bodyPr>
            <a:normAutofit/>
          </a:bodyPr>
          <a:lstStyle/>
          <a:p>
            <a:r>
              <a:rPr lang="en-US" sz="3527" dirty="0"/>
              <a:t>def </a:t>
            </a:r>
          </a:p>
          <a:p>
            <a:r>
              <a:rPr lang="en-US" sz="3527" dirty="0"/>
              <a:t>If</a:t>
            </a:r>
          </a:p>
          <a:p>
            <a:r>
              <a:rPr lang="en-US" sz="3527" dirty="0"/>
              <a:t>else</a:t>
            </a:r>
          </a:p>
          <a:p>
            <a:r>
              <a:rPr lang="en-US" sz="3527" dirty="0"/>
              <a:t>while</a:t>
            </a:r>
          </a:p>
          <a:p>
            <a:r>
              <a:rPr lang="en-US" sz="3527" dirty="0"/>
              <a:t>for</a:t>
            </a:r>
          </a:p>
          <a:p>
            <a:r>
              <a:rPr lang="en-US" sz="3527" dirty="0"/>
              <a:t>in</a:t>
            </a:r>
          </a:p>
          <a:p>
            <a:r>
              <a:rPr lang="en-US" sz="3527" dirty="0"/>
              <a:t>break</a:t>
            </a:r>
          </a:p>
          <a:p>
            <a:r>
              <a:rPr lang="en-US" sz="3527" dirty="0"/>
              <a:t>return</a:t>
            </a:r>
          </a:p>
          <a:p>
            <a:r>
              <a:rPr lang="en-US" sz="3527" dirty="0"/>
              <a:t>import</a:t>
            </a:r>
          </a:p>
          <a:p>
            <a:r>
              <a:rPr lang="en-US" sz="3527" dirty="0"/>
              <a:t>from</a:t>
            </a:r>
            <a:endParaRPr lang="pt-BR" sz="3527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2CA10AF-D69C-4F3F-1CEC-E08686CC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43D32E5-BF98-39A0-605F-E025C4C13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922" y="2545551"/>
            <a:ext cx="7001985" cy="3150399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D5FD0EF-36AA-7C6E-F5BC-2DA0FDCE92EA}"/>
              </a:ext>
            </a:extLst>
          </p:cNvPr>
          <p:cNvCxnSpPr/>
          <p:nvPr/>
        </p:nvCxnSpPr>
        <p:spPr>
          <a:xfrm>
            <a:off x="9048750" y="5495925"/>
            <a:ext cx="13335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883933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39200</TotalTime>
  <Words>2818</Words>
  <Application>Microsoft Office PowerPoint</Application>
  <PresentationFormat>Custom</PresentationFormat>
  <Paragraphs>527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Courier New</vt:lpstr>
      <vt:lpstr>Source Code Pro</vt:lpstr>
      <vt:lpstr>Wingdings</vt:lpstr>
      <vt:lpstr>Personalizar design</vt:lpstr>
      <vt:lpstr>PowerPoint Presentation</vt:lpstr>
      <vt:lpstr>Carga Cognitiva e 2 maneiras de usar a IA</vt:lpstr>
      <vt:lpstr>Estruturas de Fluxo Alternativo: Condicional</vt:lpstr>
      <vt:lpstr>Fluxograma</vt:lpstr>
      <vt:lpstr>Estruturas de Fluxo Alternativo: Condicional</vt:lpstr>
      <vt:lpstr>Fluxograma</vt:lpstr>
      <vt:lpstr>Estruturas de Fluxo Alternativo: Loop/Laço Enquanto</vt:lpstr>
      <vt:lpstr>Estruturas de Fluxo Alternativo: Loop/Laço Enquanto</vt:lpstr>
      <vt:lpstr>Pseudo-código (Código em Linguagem Natural)</vt:lpstr>
      <vt:lpstr>Laço Enquato (while) em Python</vt:lpstr>
      <vt:lpstr>Estruturas de Fluxo Alternativo: Loop/Laço Enquanto</vt:lpstr>
      <vt:lpstr>Estruturas de Fluxo Alternativo: Loop/Laço Enquanto</vt:lpstr>
      <vt:lpstr>Loop/Laço "Para cada" (for)</vt:lpstr>
      <vt:lpstr>Loop for em python: O que esse programa faz ?</vt:lpstr>
      <vt:lpstr>Loop for em python: O que esse programa faz ?</vt:lpstr>
      <vt:lpstr>Loop for com condicional: O que esse programa faz ?</vt:lpstr>
      <vt:lpstr>Loop for com condicional e operador lógico E</vt:lpstr>
      <vt:lpstr>Loop for com condicional, operador lógico E e acumulador</vt:lpstr>
      <vt:lpstr>Variáveis</vt:lpstr>
      <vt:lpstr>Sintaxe do Python</vt:lpstr>
      <vt:lpstr>Sintaxe do Python</vt:lpstr>
      <vt:lpstr>Sintaxe do Python</vt:lpstr>
      <vt:lpstr>return de uma função Python</vt:lpstr>
      <vt:lpstr>Revisão: Definição e execução de uma função</vt:lpstr>
      <vt:lpstr>Dados do tipo Escalar</vt:lpstr>
      <vt:lpstr>Operadores Binários</vt:lpstr>
      <vt:lpstr>Operadores Binários</vt:lpstr>
      <vt:lpstr>Conversão de Tipos</vt:lpstr>
      <vt:lpstr>Laços (loops) do tipo While</vt:lpstr>
      <vt:lpstr>Laços (loops) do tipo for</vt:lpstr>
      <vt:lpstr>Laço do tipo for com a função range</vt:lpstr>
      <vt:lpstr>Formando uma string (texto)</vt:lpstr>
      <vt:lpstr>Funções Populares de String: join</vt:lpstr>
      <vt:lpstr>Funções Populares de String: split</vt:lpstr>
      <vt:lpstr>Outras operações com strings</vt:lpstr>
      <vt:lpstr>Estruturas de Dados do Python (Nativas)</vt:lpstr>
      <vt:lpstr>list (Lista)</vt:lpstr>
      <vt:lpstr>Combinando Listas</vt:lpstr>
      <vt:lpstr>Slicing (fatiar)</vt:lpstr>
      <vt:lpstr>Tamanho de uma lista: len(lista)</vt:lpstr>
      <vt:lpstr>Importar (import) módulos</vt:lpstr>
      <vt:lpstr>Be resourceful</vt:lpstr>
      <vt:lpstr>Concentração na Aula</vt:lpstr>
      <vt:lpstr>Introdução ao Colab / ipython (notebook)</vt:lpstr>
      <vt:lpstr>Notebook (Caderno) no Google Colab</vt:lpstr>
      <vt:lpstr>Acesso aos cadernos Colab desta Aula</vt:lpstr>
      <vt:lpstr>Acessando diretamente do Github</vt:lpstr>
      <vt:lpstr>Acesso aos cadernos Colab deste Curso</vt:lpstr>
      <vt:lpstr>Colab Notebook: Como usar?</vt:lpstr>
      <vt:lpstr>Atalhos de Teclado muito úteis</vt:lpstr>
      <vt:lpstr>Metodologia das Aulas Práticas</vt:lpstr>
      <vt:lpstr>Cadernos (notebooks) Jupyter desse curso</vt:lpstr>
      <vt:lpstr>Comece por onde lhe convier</vt:lpstr>
      <vt:lpstr>Conceitos de Python abordados na aula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Alizarin</dc:title>
  <dc:subject/>
  <dc:creator>alexlopespereira alexlopespereira</dc:creator>
  <dc:description/>
  <cp:lastModifiedBy>ALEX LOPES  PEREIRA</cp:lastModifiedBy>
  <cp:revision>1042</cp:revision>
  <dcterms:created xsi:type="dcterms:W3CDTF">2018-04-21T22:11:37Z</dcterms:created>
  <dcterms:modified xsi:type="dcterms:W3CDTF">2025-09-03T03:40:05Z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Personalizar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18</vt:i4>
  </property>
</Properties>
</file>