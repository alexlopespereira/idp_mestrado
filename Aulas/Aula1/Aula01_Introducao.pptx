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  <p:sldMasterId id="2147483700" r:id="rId2"/>
  </p:sldMasterIdLst>
  <p:notesMasterIdLst>
    <p:notesMasterId r:id="rId34"/>
  </p:notesMasterIdLst>
  <p:sldIdLst>
    <p:sldId id="382" r:id="rId3"/>
    <p:sldId id="705" r:id="rId4"/>
    <p:sldId id="598" r:id="rId5"/>
    <p:sldId id="706" r:id="rId6"/>
    <p:sldId id="841" r:id="rId7"/>
    <p:sldId id="704" r:id="rId8"/>
    <p:sldId id="569" r:id="rId9"/>
    <p:sldId id="572" r:id="rId10"/>
    <p:sldId id="570" r:id="rId11"/>
    <p:sldId id="573" r:id="rId12"/>
    <p:sldId id="574" r:id="rId13"/>
    <p:sldId id="571" r:id="rId14"/>
    <p:sldId id="577" r:id="rId15"/>
    <p:sldId id="578" r:id="rId16"/>
    <p:sldId id="576" r:id="rId17"/>
    <p:sldId id="575" r:id="rId18"/>
    <p:sldId id="579" r:id="rId19"/>
    <p:sldId id="580" r:id="rId20"/>
    <p:sldId id="581" r:id="rId21"/>
    <p:sldId id="583" r:id="rId22"/>
    <p:sldId id="584" r:id="rId23"/>
    <p:sldId id="585" r:id="rId24"/>
    <p:sldId id="378" r:id="rId25"/>
    <p:sldId id="441" r:id="rId26"/>
    <p:sldId id="582" r:id="rId27"/>
    <p:sldId id="522" r:id="rId28"/>
    <p:sldId id="352" r:id="rId29"/>
    <p:sldId id="354" r:id="rId30"/>
    <p:sldId id="361" r:id="rId31"/>
    <p:sldId id="362" r:id="rId32"/>
    <p:sldId id="363" r:id="rId33"/>
  </p:sldIdLst>
  <p:sldSz cx="13439775" cy="7559675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Pereira" initials="AP" lastIdx="12" clrIdx="0">
    <p:extLst>
      <p:ext uri="{19B8F6BF-5375-455C-9EA6-DF929625EA0E}">
        <p15:presenceInfo xmlns:p15="http://schemas.microsoft.com/office/powerpoint/2012/main" userId="b592bc228aab67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ECA"/>
    <a:srgbClr val="B29062"/>
    <a:srgbClr val="ED7D31"/>
    <a:srgbClr val="D0CECE"/>
    <a:srgbClr val="E2F0D9"/>
    <a:srgbClr val="009900"/>
    <a:srgbClr val="000000"/>
    <a:srgbClr val="4472C4"/>
    <a:srgbClr val="4F9351"/>
    <a:srgbClr val="5FA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9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3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0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EF262-45FA-453B-A45B-617B8B0F2D4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D10AAF-9613-42EA-A6FB-9E7413F3CD47}">
      <dgm:prSet phldrT="[Text]" custT="1"/>
      <dgm:spPr/>
      <dgm:t>
        <a:bodyPr/>
        <a:lstStyle/>
        <a:p>
          <a:r>
            <a:rPr lang="pt-BR" sz="2400" dirty="0"/>
            <a:t>Teoria</a:t>
          </a:r>
        </a:p>
      </dgm:t>
    </dgm:pt>
    <dgm:pt modelId="{9D55FBB0-668B-4C4F-9ED9-6C56981A22B8}" type="parTrans" cxnId="{53A28837-267F-428A-AE8F-61FC48F3A348}">
      <dgm:prSet/>
      <dgm:spPr/>
      <dgm:t>
        <a:bodyPr/>
        <a:lstStyle/>
        <a:p>
          <a:endParaRPr lang="pt-BR" sz="2400"/>
        </a:p>
      </dgm:t>
    </dgm:pt>
    <dgm:pt modelId="{9114A63B-54EF-45AF-8A1E-5FEA1314A49F}" type="sibTrans" cxnId="{53A28837-267F-428A-AE8F-61FC48F3A348}">
      <dgm:prSet custT="1"/>
      <dgm:spPr/>
      <dgm:t>
        <a:bodyPr/>
        <a:lstStyle/>
        <a:p>
          <a:endParaRPr lang="pt-BR" sz="1800"/>
        </a:p>
      </dgm:t>
    </dgm:pt>
    <dgm:pt modelId="{D1D140D9-2DE4-4B13-B670-935443BDAC46}">
      <dgm:prSet phldrT="[Text]" custT="1"/>
      <dgm:spPr/>
      <dgm:t>
        <a:bodyPr/>
        <a:lstStyle/>
        <a:p>
          <a:r>
            <a:rPr lang="pt-BR" sz="2400" dirty="0"/>
            <a:t>Notebook</a:t>
          </a:r>
        </a:p>
      </dgm:t>
    </dgm:pt>
    <dgm:pt modelId="{F20F7F2E-BCA7-4D1F-82CC-44C50CC07F3F}" type="parTrans" cxnId="{008A8C65-DDE6-453E-9E05-C2ACE656A9C3}">
      <dgm:prSet/>
      <dgm:spPr/>
      <dgm:t>
        <a:bodyPr/>
        <a:lstStyle/>
        <a:p>
          <a:endParaRPr lang="pt-BR" sz="2400"/>
        </a:p>
      </dgm:t>
    </dgm:pt>
    <dgm:pt modelId="{66FBCF9C-2373-460A-B9D6-BA4E0A7CA017}" type="sibTrans" cxnId="{008A8C65-DDE6-453E-9E05-C2ACE656A9C3}">
      <dgm:prSet/>
      <dgm:spPr/>
      <dgm:t>
        <a:bodyPr/>
        <a:lstStyle/>
        <a:p>
          <a:endParaRPr lang="pt-BR" sz="2400"/>
        </a:p>
      </dgm:t>
    </dgm:pt>
    <dgm:pt modelId="{9F50DEE9-78B4-4C59-B115-C0034C03E98A}">
      <dgm:prSet phldrT="[Text]" custT="1"/>
      <dgm:spPr/>
      <dgm:t>
        <a:bodyPr/>
        <a:lstStyle/>
        <a:p>
          <a:r>
            <a:rPr lang="pt-BR" sz="2400" dirty="0"/>
            <a:t>Warmup</a:t>
          </a:r>
        </a:p>
      </dgm:t>
    </dgm:pt>
    <dgm:pt modelId="{C6829586-E6BF-48B9-99F5-6F4E7213DEE8}" type="parTrans" cxnId="{7F6E9610-0D1B-4A59-8576-BAB208710087}">
      <dgm:prSet/>
      <dgm:spPr/>
      <dgm:t>
        <a:bodyPr/>
        <a:lstStyle/>
        <a:p>
          <a:endParaRPr lang="pt-BR" sz="2400"/>
        </a:p>
      </dgm:t>
    </dgm:pt>
    <dgm:pt modelId="{8E831C12-4BCC-4869-9605-C88D8483DE5F}" type="sibTrans" cxnId="{7F6E9610-0D1B-4A59-8576-BAB208710087}">
      <dgm:prSet custT="1"/>
      <dgm:spPr/>
      <dgm:t>
        <a:bodyPr/>
        <a:lstStyle/>
        <a:p>
          <a:endParaRPr lang="pt-BR" sz="1800"/>
        </a:p>
      </dgm:t>
    </dgm:pt>
    <dgm:pt modelId="{D424EE43-9470-4496-85B3-19A5AADE097E}">
      <dgm:prSet phldrT="[Text]" custT="1"/>
      <dgm:spPr/>
      <dgm:t>
        <a:bodyPr/>
        <a:lstStyle/>
        <a:p>
          <a:r>
            <a:rPr lang="pt-BR" sz="2400" dirty="0"/>
            <a:t>Resolver; e/ou</a:t>
          </a:r>
        </a:p>
      </dgm:t>
    </dgm:pt>
    <dgm:pt modelId="{A5DC4C91-8757-47B7-8C1B-6E2B53EDCE68}" type="parTrans" cxnId="{2D1B0A61-3C99-4D0A-AF2F-F68D258F9AC6}">
      <dgm:prSet/>
      <dgm:spPr/>
      <dgm:t>
        <a:bodyPr/>
        <a:lstStyle/>
        <a:p>
          <a:endParaRPr lang="pt-BR" sz="2400"/>
        </a:p>
      </dgm:t>
    </dgm:pt>
    <dgm:pt modelId="{E47CD19F-76E5-4247-889A-AADADED606A9}" type="sibTrans" cxnId="{2D1B0A61-3C99-4D0A-AF2F-F68D258F9AC6}">
      <dgm:prSet/>
      <dgm:spPr/>
      <dgm:t>
        <a:bodyPr/>
        <a:lstStyle/>
        <a:p>
          <a:endParaRPr lang="pt-BR" sz="2400"/>
        </a:p>
      </dgm:t>
    </dgm:pt>
    <dgm:pt modelId="{F7B5DB7F-ECAC-4405-BAEA-9DD785072DD6}">
      <dgm:prSet phldrT="[Text]" custT="1"/>
      <dgm:spPr/>
      <dgm:t>
        <a:bodyPr/>
        <a:lstStyle/>
        <a:p>
          <a:r>
            <a:rPr lang="pt-BR" sz="2400" dirty="0"/>
            <a:t>Exercícios</a:t>
          </a:r>
        </a:p>
      </dgm:t>
    </dgm:pt>
    <dgm:pt modelId="{1798A635-78DD-4308-816E-B5B0C894929D}" type="parTrans" cxnId="{3BC59598-F0E2-4793-B1D2-86786CCDF705}">
      <dgm:prSet/>
      <dgm:spPr/>
      <dgm:t>
        <a:bodyPr/>
        <a:lstStyle/>
        <a:p>
          <a:endParaRPr lang="pt-BR" sz="2400"/>
        </a:p>
      </dgm:t>
    </dgm:pt>
    <dgm:pt modelId="{E402032E-FA7B-412E-BE45-0474B407EB8E}" type="sibTrans" cxnId="{3BC59598-F0E2-4793-B1D2-86786CCDF705}">
      <dgm:prSet custT="1"/>
      <dgm:spPr/>
      <dgm:t>
        <a:bodyPr/>
        <a:lstStyle/>
        <a:p>
          <a:endParaRPr lang="pt-BR" sz="1800"/>
        </a:p>
      </dgm:t>
    </dgm:pt>
    <dgm:pt modelId="{07605629-9021-40EF-92EE-71025EB52EE5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853AD48D-6AAD-40BF-8D26-4417A7F41C43}" type="parTrans" cxnId="{D4670323-B86C-4500-8394-D4158812DD7D}">
      <dgm:prSet/>
      <dgm:spPr/>
      <dgm:t>
        <a:bodyPr/>
        <a:lstStyle/>
        <a:p>
          <a:endParaRPr lang="pt-BR" sz="2400"/>
        </a:p>
      </dgm:t>
    </dgm:pt>
    <dgm:pt modelId="{F4347EFB-7645-4726-895A-7465D11819AF}" type="sibTrans" cxnId="{D4670323-B86C-4500-8394-D4158812DD7D}">
      <dgm:prSet/>
      <dgm:spPr/>
      <dgm:t>
        <a:bodyPr/>
        <a:lstStyle/>
        <a:p>
          <a:endParaRPr lang="pt-BR" sz="2400"/>
        </a:p>
      </dgm:t>
    </dgm:pt>
    <dgm:pt modelId="{E2E50ABC-6575-4F75-BFFA-4082C0F696C1}">
      <dgm:prSet phldrT="[Text]" custT="1"/>
      <dgm:spPr/>
      <dgm:t>
        <a:bodyPr/>
        <a:lstStyle/>
        <a:p>
          <a:r>
            <a:rPr lang="pt-BR" sz="2400" dirty="0"/>
            <a:t>Consultar resolução</a:t>
          </a:r>
        </a:p>
      </dgm:t>
    </dgm:pt>
    <dgm:pt modelId="{D05B3B74-37E8-4DB3-AE29-AE544B8C6D68}" type="parTrans" cxnId="{4C0C65C2-99C1-478C-B462-028C870368E5}">
      <dgm:prSet/>
      <dgm:spPr/>
      <dgm:t>
        <a:bodyPr/>
        <a:lstStyle/>
        <a:p>
          <a:endParaRPr lang="pt-BR" sz="2400"/>
        </a:p>
      </dgm:t>
    </dgm:pt>
    <dgm:pt modelId="{36B57B86-2E66-42DF-A6DC-26B66327A298}" type="sibTrans" cxnId="{4C0C65C2-99C1-478C-B462-028C870368E5}">
      <dgm:prSet/>
      <dgm:spPr/>
      <dgm:t>
        <a:bodyPr/>
        <a:lstStyle/>
        <a:p>
          <a:endParaRPr lang="pt-BR" sz="2400"/>
        </a:p>
      </dgm:t>
    </dgm:pt>
    <dgm:pt modelId="{42B1A588-2075-4555-A632-09D5907D67F1}">
      <dgm:prSet phldrT="[Text]" custT="1"/>
      <dgm:spPr/>
      <dgm:t>
        <a:bodyPr/>
        <a:lstStyle/>
        <a:p>
          <a:r>
            <a:rPr lang="pt-BR" sz="2400" dirty="0"/>
            <a:t>Exercícios Extra</a:t>
          </a:r>
        </a:p>
      </dgm:t>
    </dgm:pt>
    <dgm:pt modelId="{23CA9A58-39B1-4203-B102-79654075A89D}" type="parTrans" cxnId="{FBF8C256-82F6-4683-8D69-D2FE2CAEC642}">
      <dgm:prSet/>
      <dgm:spPr/>
      <dgm:t>
        <a:bodyPr/>
        <a:lstStyle/>
        <a:p>
          <a:endParaRPr lang="pt-BR" sz="2400"/>
        </a:p>
      </dgm:t>
    </dgm:pt>
    <dgm:pt modelId="{6E6C3E13-23D6-40F9-B8AF-E01140E4EB14}" type="sibTrans" cxnId="{FBF8C256-82F6-4683-8D69-D2FE2CAEC642}">
      <dgm:prSet custT="1"/>
      <dgm:spPr/>
      <dgm:t>
        <a:bodyPr/>
        <a:lstStyle/>
        <a:p>
          <a:endParaRPr lang="pt-BR" sz="1800"/>
        </a:p>
      </dgm:t>
    </dgm:pt>
    <dgm:pt modelId="{E8A564B9-DC89-4BD5-865D-2E41E855C87C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0B99745B-DC4A-4219-B22E-CD04F575E6B4}" type="parTrans" cxnId="{05B8E634-0B19-4E5D-B078-A85E8FE4C2DD}">
      <dgm:prSet/>
      <dgm:spPr/>
      <dgm:t>
        <a:bodyPr/>
        <a:lstStyle/>
        <a:p>
          <a:endParaRPr lang="pt-BR" sz="2400"/>
        </a:p>
      </dgm:t>
    </dgm:pt>
    <dgm:pt modelId="{D146AC9A-31B7-444C-8297-E1E8BAFEFE21}" type="sibTrans" cxnId="{05B8E634-0B19-4E5D-B078-A85E8FE4C2DD}">
      <dgm:prSet/>
      <dgm:spPr/>
      <dgm:t>
        <a:bodyPr/>
        <a:lstStyle/>
        <a:p>
          <a:endParaRPr lang="pt-BR" sz="2400"/>
        </a:p>
      </dgm:t>
    </dgm:pt>
    <dgm:pt modelId="{F967A098-7EEE-418E-A699-FEBAB6897A74}" type="pres">
      <dgm:prSet presAssocID="{BB7EF262-45FA-453B-A45B-617B8B0F2D48}" presName="linearFlow" presStyleCnt="0">
        <dgm:presLayoutVars>
          <dgm:dir/>
          <dgm:animLvl val="lvl"/>
          <dgm:resizeHandles val="exact"/>
        </dgm:presLayoutVars>
      </dgm:prSet>
      <dgm:spPr/>
    </dgm:pt>
    <dgm:pt modelId="{752CC11F-A070-40F8-930B-0FD9C17072A9}" type="pres">
      <dgm:prSet presAssocID="{B8D10AAF-9613-42EA-A6FB-9E7413F3CD47}" presName="composite" presStyleCnt="0"/>
      <dgm:spPr/>
    </dgm:pt>
    <dgm:pt modelId="{02A2167D-4A7E-43C6-91F7-1614F0B75B88}" type="pres">
      <dgm:prSet presAssocID="{B8D10AAF-9613-42EA-A6FB-9E7413F3CD4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AC996B-C8ED-4B95-B4DA-D0923D501558}" type="pres">
      <dgm:prSet presAssocID="{B8D10AAF-9613-42EA-A6FB-9E7413F3CD47}" presName="parSh" presStyleLbl="node1" presStyleIdx="0" presStyleCnt="4"/>
      <dgm:spPr/>
    </dgm:pt>
    <dgm:pt modelId="{4C904266-0020-45E6-9CBE-A848B0130E36}" type="pres">
      <dgm:prSet presAssocID="{B8D10AAF-9613-42EA-A6FB-9E7413F3CD47}" presName="desTx" presStyleLbl="fgAcc1" presStyleIdx="0" presStyleCnt="4">
        <dgm:presLayoutVars>
          <dgm:bulletEnabled val="1"/>
        </dgm:presLayoutVars>
      </dgm:prSet>
      <dgm:spPr/>
    </dgm:pt>
    <dgm:pt modelId="{030D565F-C305-4D8F-980F-25FF313773FD}" type="pres">
      <dgm:prSet presAssocID="{9114A63B-54EF-45AF-8A1E-5FEA1314A49F}" presName="sibTrans" presStyleLbl="sibTrans2D1" presStyleIdx="0" presStyleCnt="3"/>
      <dgm:spPr/>
    </dgm:pt>
    <dgm:pt modelId="{A0E00729-426B-43FE-8197-09E2B84EA584}" type="pres">
      <dgm:prSet presAssocID="{9114A63B-54EF-45AF-8A1E-5FEA1314A49F}" presName="connTx" presStyleLbl="sibTrans2D1" presStyleIdx="0" presStyleCnt="3"/>
      <dgm:spPr/>
    </dgm:pt>
    <dgm:pt modelId="{EDDBE81F-E12C-4857-9B6E-CA1AA06BB590}" type="pres">
      <dgm:prSet presAssocID="{9F50DEE9-78B4-4C59-B115-C0034C03E98A}" presName="composite" presStyleCnt="0"/>
      <dgm:spPr/>
    </dgm:pt>
    <dgm:pt modelId="{87771BBB-525E-41BB-9E1B-8B4C0E64D6EB}" type="pres">
      <dgm:prSet presAssocID="{9F50DEE9-78B4-4C59-B115-C0034C03E98A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FE5F4B-3197-4B65-85C5-CAB537D4D51E}" type="pres">
      <dgm:prSet presAssocID="{9F50DEE9-78B4-4C59-B115-C0034C03E98A}" presName="parSh" presStyleLbl="node1" presStyleIdx="1" presStyleCnt="4"/>
      <dgm:spPr/>
    </dgm:pt>
    <dgm:pt modelId="{1F7700EE-17AB-4EEB-89B1-4A50FDA794BD}" type="pres">
      <dgm:prSet presAssocID="{9F50DEE9-78B4-4C59-B115-C0034C03E98A}" presName="desTx" presStyleLbl="fgAcc1" presStyleIdx="1" presStyleCnt="4">
        <dgm:presLayoutVars>
          <dgm:bulletEnabled val="1"/>
        </dgm:presLayoutVars>
      </dgm:prSet>
      <dgm:spPr/>
    </dgm:pt>
    <dgm:pt modelId="{A10B5F1F-EE4C-45EF-A720-889ADA5C7BF6}" type="pres">
      <dgm:prSet presAssocID="{8E831C12-4BCC-4869-9605-C88D8483DE5F}" presName="sibTrans" presStyleLbl="sibTrans2D1" presStyleIdx="1" presStyleCnt="3"/>
      <dgm:spPr/>
    </dgm:pt>
    <dgm:pt modelId="{D762C5BB-E881-455F-9E03-97C301BAA7B9}" type="pres">
      <dgm:prSet presAssocID="{8E831C12-4BCC-4869-9605-C88D8483DE5F}" presName="connTx" presStyleLbl="sibTrans2D1" presStyleIdx="1" presStyleCnt="3"/>
      <dgm:spPr/>
    </dgm:pt>
    <dgm:pt modelId="{A6CE724D-16B2-4D14-9A79-B9DE2B49F5B2}" type="pres">
      <dgm:prSet presAssocID="{F7B5DB7F-ECAC-4405-BAEA-9DD785072DD6}" presName="composite" presStyleCnt="0"/>
      <dgm:spPr/>
    </dgm:pt>
    <dgm:pt modelId="{5787F7B0-26E8-427D-B81F-598E511BFD47}" type="pres">
      <dgm:prSet presAssocID="{F7B5DB7F-ECAC-4405-BAEA-9DD785072DD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126589-E0DE-4952-B00F-0636F0A5F095}" type="pres">
      <dgm:prSet presAssocID="{F7B5DB7F-ECAC-4405-BAEA-9DD785072DD6}" presName="parSh" presStyleLbl="node1" presStyleIdx="2" presStyleCnt="4"/>
      <dgm:spPr/>
    </dgm:pt>
    <dgm:pt modelId="{B2D4784C-9C5C-4B29-A799-14294E4F46F6}" type="pres">
      <dgm:prSet presAssocID="{F7B5DB7F-ECAC-4405-BAEA-9DD785072DD6}" presName="desTx" presStyleLbl="fgAcc1" presStyleIdx="2" presStyleCnt="4">
        <dgm:presLayoutVars>
          <dgm:bulletEnabled val="1"/>
        </dgm:presLayoutVars>
      </dgm:prSet>
      <dgm:spPr/>
    </dgm:pt>
    <dgm:pt modelId="{0B7243C2-8760-4D1E-BFD2-8D6C405958CE}" type="pres">
      <dgm:prSet presAssocID="{E402032E-FA7B-412E-BE45-0474B407EB8E}" presName="sibTrans" presStyleLbl="sibTrans2D1" presStyleIdx="2" presStyleCnt="3"/>
      <dgm:spPr/>
    </dgm:pt>
    <dgm:pt modelId="{001E0324-6999-4F8D-9D23-A15B0AA37ED6}" type="pres">
      <dgm:prSet presAssocID="{E402032E-FA7B-412E-BE45-0474B407EB8E}" presName="connTx" presStyleLbl="sibTrans2D1" presStyleIdx="2" presStyleCnt="3"/>
      <dgm:spPr/>
    </dgm:pt>
    <dgm:pt modelId="{118004B0-54E0-4476-ABAA-99895650EC55}" type="pres">
      <dgm:prSet presAssocID="{42B1A588-2075-4555-A632-09D5907D67F1}" presName="composite" presStyleCnt="0"/>
      <dgm:spPr/>
    </dgm:pt>
    <dgm:pt modelId="{537D9385-EBE4-4ED1-9C45-1EC7FC617C48}" type="pres">
      <dgm:prSet presAssocID="{42B1A588-2075-4555-A632-09D5907D67F1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6211732-8CEF-42AD-879B-364607FB854A}" type="pres">
      <dgm:prSet presAssocID="{42B1A588-2075-4555-A632-09D5907D67F1}" presName="parSh" presStyleLbl="node1" presStyleIdx="3" presStyleCnt="4" custScaleX="132493"/>
      <dgm:spPr/>
    </dgm:pt>
    <dgm:pt modelId="{148B5565-F1BE-4A6D-ABA3-CAC3ED53255A}" type="pres">
      <dgm:prSet presAssocID="{42B1A588-2075-4555-A632-09D5907D67F1}" presName="desTx" presStyleLbl="fgAcc1" presStyleIdx="3" presStyleCnt="4">
        <dgm:presLayoutVars>
          <dgm:bulletEnabled val="1"/>
        </dgm:presLayoutVars>
      </dgm:prSet>
      <dgm:spPr/>
    </dgm:pt>
  </dgm:ptLst>
  <dgm:cxnLst>
    <dgm:cxn modelId="{C6A3AA0C-3551-41B5-9651-314050BEE232}" type="presOf" srcId="{B8D10AAF-9613-42EA-A6FB-9E7413F3CD47}" destId="{02A2167D-4A7E-43C6-91F7-1614F0B75B88}" srcOrd="0" destOrd="0" presId="urn:microsoft.com/office/officeart/2005/8/layout/process3"/>
    <dgm:cxn modelId="{7F6E9610-0D1B-4A59-8576-BAB208710087}" srcId="{BB7EF262-45FA-453B-A45B-617B8B0F2D48}" destId="{9F50DEE9-78B4-4C59-B115-C0034C03E98A}" srcOrd="1" destOrd="0" parTransId="{C6829586-E6BF-48B9-99F5-6F4E7213DEE8}" sibTransId="{8E831C12-4BCC-4869-9605-C88D8483DE5F}"/>
    <dgm:cxn modelId="{6F3F9017-22C4-4623-B871-716263D3A518}" type="presOf" srcId="{8E831C12-4BCC-4869-9605-C88D8483DE5F}" destId="{A10B5F1F-EE4C-45EF-A720-889ADA5C7BF6}" srcOrd="0" destOrd="0" presId="urn:microsoft.com/office/officeart/2005/8/layout/process3"/>
    <dgm:cxn modelId="{E20DDB1F-62BF-433F-A91E-B8CFA8F6B312}" type="presOf" srcId="{BB7EF262-45FA-453B-A45B-617B8B0F2D48}" destId="{F967A098-7EEE-418E-A699-FEBAB6897A74}" srcOrd="0" destOrd="0" presId="urn:microsoft.com/office/officeart/2005/8/layout/process3"/>
    <dgm:cxn modelId="{010E4822-2826-489C-AC39-44718389940C}" type="presOf" srcId="{42B1A588-2075-4555-A632-09D5907D67F1}" destId="{537D9385-EBE4-4ED1-9C45-1EC7FC617C48}" srcOrd="0" destOrd="0" presId="urn:microsoft.com/office/officeart/2005/8/layout/process3"/>
    <dgm:cxn modelId="{D4670323-B86C-4500-8394-D4158812DD7D}" srcId="{F7B5DB7F-ECAC-4405-BAEA-9DD785072DD6}" destId="{07605629-9021-40EF-92EE-71025EB52EE5}" srcOrd="0" destOrd="0" parTransId="{853AD48D-6AAD-40BF-8D26-4417A7F41C43}" sibTransId="{F4347EFB-7645-4726-895A-7465D11819AF}"/>
    <dgm:cxn modelId="{FA8BE426-CA7D-4607-B97C-DF2ACE070606}" type="presOf" srcId="{8E831C12-4BCC-4869-9605-C88D8483DE5F}" destId="{D762C5BB-E881-455F-9E03-97C301BAA7B9}" srcOrd="1" destOrd="0" presId="urn:microsoft.com/office/officeart/2005/8/layout/process3"/>
    <dgm:cxn modelId="{57008C2C-D3AB-49AF-910F-AA1CAC796CCA}" type="presOf" srcId="{E402032E-FA7B-412E-BE45-0474B407EB8E}" destId="{001E0324-6999-4F8D-9D23-A15B0AA37ED6}" srcOrd="1" destOrd="0" presId="urn:microsoft.com/office/officeart/2005/8/layout/process3"/>
    <dgm:cxn modelId="{05B8E634-0B19-4E5D-B078-A85E8FE4C2DD}" srcId="{42B1A588-2075-4555-A632-09D5907D67F1}" destId="{E8A564B9-DC89-4BD5-865D-2E41E855C87C}" srcOrd="0" destOrd="0" parTransId="{0B99745B-DC4A-4219-B22E-CD04F575E6B4}" sibTransId="{D146AC9A-31B7-444C-8297-E1E8BAFEFE21}"/>
    <dgm:cxn modelId="{53A28837-267F-428A-AE8F-61FC48F3A348}" srcId="{BB7EF262-45FA-453B-A45B-617B8B0F2D48}" destId="{B8D10AAF-9613-42EA-A6FB-9E7413F3CD47}" srcOrd="0" destOrd="0" parTransId="{9D55FBB0-668B-4C4F-9ED9-6C56981A22B8}" sibTransId="{9114A63B-54EF-45AF-8A1E-5FEA1314A49F}"/>
    <dgm:cxn modelId="{9E69553B-BEEE-4DBC-B7F4-725CF2F463B0}" type="presOf" srcId="{F7B5DB7F-ECAC-4405-BAEA-9DD785072DD6}" destId="{5787F7B0-26E8-427D-B81F-598E511BFD47}" srcOrd="0" destOrd="0" presId="urn:microsoft.com/office/officeart/2005/8/layout/process3"/>
    <dgm:cxn modelId="{458DCC3F-E579-4FCA-913C-64DB6AF568EE}" type="presOf" srcId="{E402032E-FA7B-412E-BE45-0474B407EB8E}" destId="{0B7243C2-8760-4D1E-BFD2-8D6C405958CE}" srcOrd="0" destOrd="0" presId="urn:microsoft.com/office/officeart/2005/8/layout/process3"/>
    <dgm:cxn modelId="{49F5CC5D-8DFF-4495-B865-4C60E4F19164}" type="presOf" srcId="{F7B5DB7F-ECAC-4405-BAEA-9DD785072DD6}" destId="{AF126589-E0DE-4952-B00F-0636F0A5F095}" srcOrd="1" destOrd="0" presId="urn:microsoft.com/office/officeart/2005/8/layout/process3"/>
    <dgm:cxn modelId="{2D1B0A61-3C99-4D0A-AF2F-F68D258F9AC6}" srcId="{9F50DEE9-78B4-4C59-B115-C0034C03E98A}" destId="{D424EE43-9470-4496-85B3-19A5AADE097E}" srcOrd="0" destOrd="0" parTransId="{A5DC4C91-8757-47B7-8C1B-6E2B53EDCE68}" sibTransId="{E47CD19F-76E5-4247-889A-AADADED606A9}"/>
    <dgm:cxn modelId="{008A8C65-DDE6-453E-9E05-C2ACE656A9C3}" srcId="{B8D10AAF-9613-42EA-A6FB-9E7413F3CD47}" destId="{D1D140D9-2DE4-4B13-B670-935443BDAC46}" srcOrd="0" destOrd="0" parTransId="{F20F7F2E-BCA7-4D1F-82CC-44C50CC07F3F}" sibTransId="{66FBCF9C-2373-460A-B9D6-BA4E0A7CA017}"/>
    <dgm:cxn modelId="{94774E46-83D9-47AB-9E15-560A6B317DD0}" type="presOf" srcId="{42B1A588-2075-4555-A632-09D5907D67F1}" destId="{E6211732-8CEF-42AD-879B-364607FB854A}" srcOrd="1" destOrd="0" presId="urn:microsoft.com/office/officeart/2005/8/layout/process3"/>
    <dgm:cxn modelId="{DA193E53-286B-4B30-88B0-1C8AE5301AE0}" type="presOf" srcId="{9F50DEE9-78B4-4C59-B115-C0034C03E98A}" destId="{87771BBB-525E-41BB-9E1B-8B4C0E64D6EB}" srcOrd="0" destOrd="0" presId="urn:microsoft.com/office/officeart/2005/8/layout/process3"/>
    <dgm:cxn modelId="{FBF8C256-82F6-4683-8D69-D2FE2CAEC642}" srcId="{BB7EF262-45FA-453B-A45B-617B8B0F2D48}" destId="{42B1A588-2075-4555-A632-09D5907D67F1}" srcOrd="3" destOrd="0" parTransId="{23CA9A58-39B1-4203-B102-79654075A89D}" sibTransId="{6E6C3E13-23D6-40F9-B8AF-E01140E4EB14}"/>
    <dgm:cxn modelId="{41089658-0A53-4F63-B9C4-9010B91C8F51}" type="presOf" srcId="{E2E50ABC-6575-4F75-BFFA-4082C0F696C1}" destId="{1F7700EE-17AB-4EEB-89B1-4A50FDA794BD}" srcOrd="0" destOrd="1" presId="urn:microsoft.com/office/officeart/2005/8/layout/process3"/>
    <dgm:cxn modelId="{F8AD8C82-CA99-4801-B8B6-DFA3BA99EBB3}" type="presOf" srcId="{9F50DEE9-78B4-4C59-B115-C0034C03E98A}" destId="{D5FE5F4B-3197-4B65-85C5-CAB537D4D51E}" srcOrd="1" destOrd="0" presId="urn:microsoft.com/office/officeart/2005/8/layout/process3"/>
    <dgm:cxn modelId="{2891088E-129D-4303-91E0-0559FD18CF9C}" type="presOf" srcId="{B8D10AAF-9613-42EA-A6FB-9E7413F3CD47}" destId="{D7AC996B-C8ED-4B95-B4DA-D0923D501558}" srcOrd="1" destOrd="0" presId="urn:microsoft.com/office/officeart/2005/8/layout/process3"/>
    <dgm:cxn modelId="{3BC59598-F0E2-4793-B1D2-86786CCDF705}" srcId="{BB7EF262-45FA-453B-A45B-617B8B0F2D48}" destId="{F7B5DB7F-ECAC-4405-BAEA-9DD785072DD6}" srcOrd="2" destOrd="0" parTransId="{1798A635-78DD-4308-816E-B5B0C894929D}" sibTransId="{E402032E-FA7B-412E-BE45-0474B407EB8E}"/>
    <dgm:cxn modelId="{6548229B-16E4-4AAA-B5F7-D3CED7A98CFC}" type="presOf" srcId="{D424EE43-9470-4496-85B3-19A5AADE097E}" destId="{1F7700EE-17AB-4EEB-89B1-4A50FDA794BD}" srcOrd="0" destOrd="0" presId="urn:microsoft.com/office/officeart/2005/8/layout/process3"/>
    <dgm:cxn modelId="{7CE3B2BC-11C3-411E-9C1B-E4B0B89C5D37}" type="presOf" srcId="{9114A63B-54EF-45AF-8A1E-5FEA1314A49F}" destId="{A0E00729-426B-43FE-8197-09E2B84EA584}" srcOrd="1" destOrd="0" presId="urn:microsoft.com/office/officeart/2005/8/layout/process3"/>
    <dgm:cxn modelId="{4C0C65C2-99C1-478C-B462-028C870368E5}" srcId="{9F50DEE9-78B4-4C59-B115-C0034C03E98A}" destId="{E2E50ABC-6575-4F75-BFFA-4082C0F696C1}" srcOrd="1" destOrd="0" parTransId="{D05B3B74-37E8-4DB3-AE29-AE544B8C6D68}" sibTransId="{36B57B86-2E66-42DF-A6DC-26B66327A298}"/>
    <dgm:cxn modelId="{92A89FC3-87FC-472A-BD31-B2AA5B8E1A25}" type="presOf" srcId="{D1D140D9-2DE4-4B13-B670-935443BDAC46}" destId="{4C904266-0020-45E6-9CBE-A848B0130E36}" srcOrd="0" destOrd="0" presId="urn:microsoft.com/office/officeart/2005/8/layout/process3"/>
    <dgm:cxn modelId="{012DB1C4-7AD9-4C99-85D1-740818CCC92A}" type="presOf" srcId="{07605629-9021-40EF-92EE-71025EB52EE5}" destId="{B2D4784C-9C5C-4B29-A799-14294E4F46F6}" srcOrd="0" destOrd="0" presId="urn:microsoft.com/office/officeart/2005/8/layout/process3"/>
    <dgm:cxn modelId="{F755DFE4-6392-463B-8BC6-E8EFE22F08C5}" type="presOf" srcId="{9114A63B-54EF-45AF-8A1E-5FEA1314A49F}" destId="{030D565F-C305-4D8F-980F-25FF313773FD}" srcOrd="0" destOrd="0" presId="urn:microsoft.com/office/officeart/2005/8/layout/process3"/>
    <dgm:cxn modelId="{C0D7E6EE-7521-4D0B-A9C8-9991464D73A4}" type="presOf" srcId="{E8A564B9-DC89-4BD5-865D-2E41E855C87C}" destId="{148B5565-F1BE-4A6D-ABA3-CAC3ED53255A}" srcOrd="0" destOrd="0" presId="urn:microsoft.com/office/officeart/2005/8/layout/process3"/>
    <dgm:cxn modelId="{76951D22-8517-465F-A3D6-B0B9E98E2AA2}" type="presParOf" srcId="{F967A098-7EEE-418E-A699-FEBAB6897A74}" destId="{752CC11F-A070-40F8-930B-0FD9C17072A9}" srcOrd="0" destOrd="0" presId="urn:microsoft.com/office/officeart/2005/8/layout/process3"/>
    <dgm:cxn modelId="{1DB96A91-3724-4669-8741-BC385EC2B9D4}" type="presParOf" srcId="{752CC11F-A070-40F8-930B-0FD9C17072A9}" destId="{02A2167D-4A7E-43C6-91F7-1614F0B75B88}" srcOrd="0" destOrd="0" presId="urn:microsoft.com/office/officeart/2005/8/layout/process3"/>
    <dgm:cxn modelId="{ADF58CF0-2185-4B54-8443-966ACD38277C}" type="presParOf" srcId="{752CC11F-A070-40F8-930B-0FD9C17072A9}" destId="{D7AC996B-C8ED-4B95-B4DA-D0923D501558}" srcOrd="1" destOrd="0" presId="urn:microsoft.com/office/officeart/2005/8/layout/process3"/>
    <dgm:cxn modelId="{C63CCFA4-EE20-4756-B6FB-A9B15336D6B4}" type="presParOf" srcId="{752CC11F-A070-40F8-930B-0FD9C17072A9}" destId="{4C904266-0020-45E6-9CBE-A848B0130E36}" srcOrd="2" destOrd="0" presId="urn:microsoft.com/office/officeart/2005/8/layout/process3"/>
    <dgm:cxn modelId="{308D3FC6-A239-418A-9E4A-ECDE03C90A96}" type="presParOf" srcId="{F967A098-7EEE-418E-A699-FEBAB6897A74}" destId="{030D565F-C305-4D8F-980F-25FF313773FD}" srcOrd="1" destOrd="0" presId="urn:microsoft.com/office/officeart/2005/8/layout/process3"/>
    <dgm:cxn modelId="{C6657D6D-143C-41FE-8610-CB6C784CDABC}" type="presParOf" srcId="{030D565F-C305-4D8F-980F-25FF313773FD}" destId="{A0E00729-426B-43FE-8197-09E2B84EA584}" srcOrd="0" destOrd="0" presId="urn:microsoft.com/office/officeart/2005/8/layout/process3"/>
    <dgm:cxn modelId="{4D89BEAF-22C7-412A-8672-8CD8A54F5F59}" type="presParOf" srcId="{F967A098-7EEE-418E-A699-FEBAB6897A74}" destId="{EDDBE81F-E12C-4857-9B6E-CA1AA06BB590}" srcOrd="2" destOrd="0" presId="urn:microsoft.com/office/officeart/2005/8/layout/process3"/>
    <dgm:cxn modelId="{F54AAA32-8CB5-478B-80F5-4325A7717440}" type="presParOf" srcId="{EDDBE81F-E12C-4857-9B6E-CA1AA06BB590}" destId="{87771BBB-525E-41BB-9E1B-8B4C0E64D6EB}" srcOrd="0" destOrd="0" presId="urn:microsoft.com/office/officeart/2005/8/layout/process3"/>
    <dgm:cxn modelId="{A236F97B-BC2F-4245-93A6-DEE6B8473BFE}" type="presParOf" srcId="{EDDBE81F-E12C-4857-9B6E-CA1AA06BB590}" destId="{D5FE5F4B-3197-4B65-85C5-CAB537D4D51E}" srcOrd="1" destOrd="0" presId="urn:microsoft.com/office/officeart/2005/8/layout/process3"/>
    <dgm:cxn modelId="{8CC7CE02-9C6E-40BB-8CDC-6026D5261FF8}" type="presParOf" srcId="{EDDBE81F-E12C-4857-9B6E-CA1AA06BB590}" destId="{1F7700EE-17AB-4EEB-89B1-4A50FDA794BD}" srcOrd="2" destOrd="0" presId="urn:microsoft.com/office/officeart/2005/8/layout/process3"/>
    <dgm:cxn modelId="{9B6E79C0-1685-48F4-9000-6CE5BCCE2BA2}" type="presParOf" srcId="{F967A098-7EEE-418E-A699-FEBAB6897A74}" destId="{A10B5F1F-EE4C-45EF-A720-889ADA5C7BF6}" srcOrd="3" destOrd="0" presId="urn:microsoft.com/office/officeart/2005/8/layout/process3"/>
    <dgm:cxn modelId="{E6EEE2CE-10DA-40CA-B6D6-4E338BFA9EEB}" type="presParOf" srcId="{A10B5F1F-EE4C-45EF-A720-889ADA5C7BF6}" destId="{D762C5BB-E881-455F-9E03-97C301BAA7B9}" srcOrd="0" destOrd="0" presId="urn:microsoft.com/office/officeart/2005/8/layout/process3"/>
    <dgm:cxn modelId="{40D0DEDD-919F-47C9-A69A-53CDC942FB08}" type="presParOf" srcId="{F967A098-7EEE-418E-A699-FEBAB6897A74}" destId="{A6CE724D-16B2-4D14-9A79-B9DE2B49F5B2}" srcOrd="4" destOrd="0" presId="urn:microsoft.com/office/officeart/2005/8/layout/process3"/>
    <dgm:cxn modelId="{8A1413DE-F44C-417F-A2F4-D0D825451494}" type="presParOf" srcId="{A6CE724D-16B2-4D14-9A79-B9DE2B49F5B2}" destId="{5787F7B0-26E8-427D-B81F-598E511BFD47}" srcOrd="0" destOrd="0" presId="urn:microsoft.com/office/officeart/2005/8/layout/process3"/>
    <dgm:cxn modelId="{7B213EA5-A044-4CDF-88DE-3FEA3523E84A}" type="presParOf" srcId="{A6CE724D-16B2-4D14-9A79-B9DE2B49F5B2}" destId="{AF126589-E0DE-4952-B00F-0636F0A5F095}" srcOrd="1" destOrd="0" presId="urn:microsoft.com/office/officeart/2005/8/layout/process3"/>
    <dgm:cxn modelId="{EBA85C32-C387-4F78-8530-7BA9500BA5D3}" type="presParOf" srcId="{A6CE724D-16B2-4D14-9A79-B9DE2B49F5B2}" destId="{B2D4784C-9C5C-4B29-A799-14294E4F46F6}" srcOrd="2" destOrd="0" presId="urn:microsoft.com/office/officeart/2005/8/layout/process3"/>
    <dgm:cxn modelId="{0301CEEA-6C17-4666-A9C0-A95144773AAD}" type="presParOf" srcId="{F967A098-7EEE-418E-A699-FEBAB6897A74}" destId="{0B7243C2-8760-4D1E-BFD2-8D6C405958CE}" srcOrd="5" destOrd="0" presId="urn:microsoft.com/office/officeart/2005/8/layout/process3"/>
    <dgm:cxn modelId="{208C7485-D312-486F-A4C1-CA50C3188134}" type="presParOf" srcId="{0B7243C2-8760-4D1E-BFD2-8D6C405958CE}" destId="{001E0324-6999-4F8D-9D23-A15B0AA37ED6}" srcOrd="0" destOrd="0" presId="urn:microsoft.com/office/officeart/2005/8/layout/process3"/>
    <dgm:cxn modelId="{1BFC2695-62C4-4AF9-89E8-A6FAC1409272}" type="presParOf" srcId="{F967A098-7EEE-418E-A699-FEBAB6897A74}" destId="{118004B0-54E0-4476-ABAA-99895650EC55}" srcOrd="6" destOrd="0" presId="urn:microsoft.com/office/officeart/2005/8/layout/process3"/>
    <dgm:cxn modelId="{E994CB1F-A19B-4EBC-A4E3-6B28ABC2B2D4}" type="presParOf" srcId="{118004B0-54E0-4476-ABAA-99895650EC55}" destId="{537D9385-EBE4-4ED1-9C45-1EC7FC617C48}" srcOrd="0" destOrd="0" presId="urn:microsoft.com/office/officeart/2005/8/layout/process3"/>
    <dgm:cxn modelId="{F3172265-901C-4B9D-AE5C-AEB51B0EFFCF}" type="presParOf" srcId="{118004B0-54E0-4476-ABAA-99895650EC55}" destId="{E6211732-8CEF-42AD-879B-364607FB854A}" srcOrd="1" destOrd="0" presId="urn:microsoft.com/office/officeart/2005/8/layout/process3"/>
    <dgm:cxn modelId="{C3D6905E-A0FA-4675-A714-6304BE9B3578}" type="presParOf" srcId="{118004B0-54E0-4476-ABAA-99895650EC55}" destId="{148B5565-F1BE-4A6D-ABA3-CAC3ED53255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C996B-C8ED-4B95-B4DA-D0923D501558}">
      <dsp:nvSpPr>
        <dsp:cNvPr id="0" name=""/>
        <dsp:cNvSpPr/>
      </dsp:nvSpPr>
      <dsp:spPr>
        <a:xfrm>
          <a:off x="585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Teoria</a:t>
          </a:r>
        </a:p>
      </dsp:txBody>
      <dsp:txXfrm>
        <a:off x="5851" y="14695"/>
        <a:ext cx="2145836" cy="835200"/>
      </dsp:txXfrm>
    </dsp:sp>
    <dsp:sp modelId="{4C904266-0020-45E6-9CBE-A848B0130E36}">
      <dsp:nvSpPr>
        <dsp:cNvPr id="0" name=""/>
        <dsp:cNvSpPr/>
      </dsp:nvSpPr>
      <dsp:spPr>
        <a:xfrm>
          <a:off x="445359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Notebook</a:t>
          </a:r>
        </a:p>
      </dsp:txBody>
      <dsp:txXfrm>
        <a:off x="500399" y="904935"/>
        <a:ext cx="2035756" cy="1769120"/>
      </dsp:txXfrm>
    </dsp:sp>
    <dsp:sp modelId="{030D565F-C305-4D8F-980F-25FF313773FD}">
      <dsp:nvSpPr>
        <dsp:cNvPr id="0" name=""/>
        <dsp:cNvSpPr/>
      </dsp:nvSpPr>
      <dsp:spPr>
        <a:xfrm>
          <a:off x="247698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2476988" y="272019"/>
        <a:ext cx="529363" cy="320551"/>
      </dsp:txXfrm>
    </dsp:sp>
    <dsp:sp modelId="{D5FE5F4B-3197-4B65-85C5-CAB537D4D51E}">
      <dsp:nvSpPr>
        <dsp:cNvPr id="0" name=""/>
        <dsp:cNvSpPr/>
      </dsp:nvSpPr>
      <dsp:spPr>
        <a:xfrm>
          <a:off x="345289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Warmup</a:t>
          </a:r>
        </a:p>
      </dsp:txBody>
      <dsp:txXfrm>
        <a:off x="3452891" y="14695"/>
        <a:ext cx="2145836" cy="835200"/>
      </dsp:txXfrm>
    </dsp:sp>
    <dsp:sp modelId="{1F7700EE-17AB-4EEB-89B1-4A50FDA794BD}">
      <dsp:nvSpPr>
        <dsp:cNvPr id="0" name=""/>
        <dsp:cNvSpPr/>
      </dsp:nvSpPr>
      <dsp:spPr>
        <a:xfrm>
          <a:off x="389240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Resolver; e/ou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Consultar resolução</a:t>
          </a:r>
        </a:p>
      </dsp:txBody>
      <dsp:txXfrm>
        <a:off x="3947440" y="904935"/>
        <a:ext cx="2035756" cy="1769120"/>
      </dsp:txXfrm>
    </dsp:sp>
    <dsp:sp modelId="{A10B5F1F-EE4C-45EF-A720-889ADA5C7BF6}">
      <dsp:nvSpPr>
        <dsp:cNvPr id="0" name=""/>
        <dsp:cNvSpPr/>
      </dsp:nvSpPr>
      <dsp:spPr>
        <a:xfrm>
          <a:off x="592402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5924028" y="272019"/>
        <a:ext cx="529363" cy="320551"/>
      </dsp:txXfrm>
    </dsp:sp>
    <dsp:sp modelId="{AF126589-E0DE-4952-B00F-0636F0A5F095}">
      <dsp:nvSpPr>
        <dsp:cNvPr id="0" name=""/>
        <dsp:cNvSpPr/>
      </dsp:nvSpPr>
      <dsp:spPr>
        <a:xfrm>
          <a:off x="6899932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</a:t>
          </a:r>
        </a:p>
      </dsp:txBody>
      <dsp:txXfrm>
        <a:off x="6899932" y="14695"/>
        <a:ext cx="2145836" cy="835200"/>
      </dsp:txXfrm>
    </dsp:sp>
    <dsp:sp modelId="{B2D4784C-9C5C-4B29-A799-14294E4F46F6}">
      <dsp:nvSpPr>
        <dsp:cNvPr id="0" name=""/>
        <dsp:cNvSpPr/>
      </dsp:nvSpPr>
      <dsp:spPr>
        <a:xfrm>
          <a:off x="733944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7394480" y="904935"/>
        <a:ext cx="2035756" cy="1769120"/>
      </dsp:txXfrm>
    </dsp:sp>
    <dsp:sp modelId="{0B7243C2-8760-4D1E-BFD2-8D6C405958CE}">
      <dsp:nvSpPr>
        <dsp:cNvPr id="0" name=""/>
        <dsp:cNvSpPr/>
      </dsp:nvSpPr>
      <dsp:spPr>
        <a:xfrm>
          <a:off x="9371069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9371069" y="272019"/>
        <a:ext cx="529363" cy="320551"/>
      </dsp:txXfrm>
    </dsp:sp>
    <dsp:sp modelId="{E6211732-8CEF-42AD-879B-364607FB854A}">
      <dsp:nvSpPr>
        <dsp:cNvPr id="0" name=""/>
        <dsp:cNvSpPr/>
      </dsp:nvSpPr>
      <dsp:spPr>
        <a:xfrm>
          <a:off x="10346972" y="14695"/>
          <a:ext cx="2843082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 Extra</a:t>
          </a:r>
        </a:p>
      </dsp:txBody>
      <dsp:txXfrm>
        <a:off x="10346972" y="14695"/>
        <a:ext cx="2843082" cy="835200"/>
      </dsp:txXfrm>
    </dsp:sp>
    <dsp:sp modelId="{148B5565-F1BE-4A6D-ABA3-CAC3ED53255A}">
      <dsp:nvSpPr>
        <dsp:cNvPr id="0" name=""/>
        <dsp:cNvSpPr/>
      </dsp:nvSpPr>
      <dsp:spPr>
        <a:xfrm>
          <a:off x="11135104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11190144" y="904935"/>
        <a:ext cx="2035756" cy="1769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95E83-F819-452B-8E20-EE6471E630CB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FE64D-5E83-4BB0-98A3-EA7F44288D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38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B2307-1DF4-4B6C-8745-19911C901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575" y="1236663"/>
            <a:ext cx="1008062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695CE-9ADF-4695-973F-B94A6602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75" y="3970338"/>
            <a:ext cx="1008062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15271-8C4C-4144-AAA1-E11F856B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2C32E-3BA7-4403-B7FE-9AD45FAA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6F337-2C48-4C20-A3C5-26568CBF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88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5E83A-A7F4-412D-B6E5-75BED5B6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400" b="1" i="1" strike="noStrike" kern="1200" spc="-1" dirty="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9794B5-8E61-4F51-866E-353DAC00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898525" indent="-441325">
              <a:defRPr/>
            </a:lvl2pPr>
            <a:lvl3pPr marL="1341438" indent="-427038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rgbClr val="4F9351"/>
                </a:solidFill>
              </a:defRPr>
            </a:lvl4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EF7B50-B233-491C-8D60-554C1AE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5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F52E4-0873-48C8-9A25-8D1BA833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1884363"/>
            <a:ext cx="11591925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E0473-D80A-41A2-8D7F-9728BDC76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5059363"/>
            <a:ext cx="11591925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823BB-E409-446E-9FA4-169D05E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03DA3-324A-4BB3-AF3B-DBDC419C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44D8F-C7BF-4906-959D-C1E5FC8F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03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BF44D-0ABA-4A4A-B1DE-C385680D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400" b="1" i="1" strike="noStrike" kern="1200" spc="-1" dirty="0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C5D70-D9F7-4302-8339-03BD26C69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925" y="2012950"/>
            <a:ext cx="5719763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81733-EEBD-4671-936D-1CD22F5C1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6088" y="2012950"/>
            <a:ext cx="5719762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82670C-61C5-4ECA-AE8D-C9606D8E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8D664E-C5D0-47B4-90DD-C331E98D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EDD9BC-C7D2-41D4-9CAC-049465F9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C2FF7-8E57-4EEC-B05C-F78929E2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403225"/>
            <a:ext cx="11591925" cy="1460500"/>
          </a:xfrm>
        </p:spPr>
        <p:txBody>
          <a:bodyPr/>
          <a:lstStyle>
            <a:lvl1pPr>
              <a:defRPr lang="pt-BR" sz="4400" b="1" i="1" strike="noStrike" kern="1200" spc="-1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AA406-24F0-4482-8DDE-16A6FF597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513" y="1852613"/>
            <a:ext cx="568642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B1A78A-E676-493C-A41D-81276037A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513" y="2760663"/>
            <a:ext cx="5686425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37EA6C-CAB1-4C2C-8AB2-A6AE641D6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4025" y="1852613"/>
            <a:ext cx="5713413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DB4E09-6EE1-4147-81C2-FD347EE97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4025" y="2760663"/>
            <a:ext cx="5713413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C58D5A-4670-47E6-8BCC-49F5A564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36A7F8-87ED-4E31-AEB2-0E9B539D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3CDC0A-D2DC-46F2-B5B8-CE47F883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45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84705-A82D-4686-AEF7-34CDC34A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pt-BR" sz="4400" b="1" i="1" strike="noStrike" kern="1200" spc="-1">
                <a:solidFill>
                  <a:schemeClr val="accent1">
                    <a:lumMod val="75000"/>
                  </a:schemeClr>
                </a:solidFill>
                <a:latin typeface="+mn-lt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AD615F-8454-427E-AD86-A8156FF5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3BA903-0849-4795-9BA1-AD4C583C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B5A63D-E3A5-4D76-9EAC-B9156DBB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67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6A734E-6C30-49D9-BA23-CDA9D067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46FD98-96D7-49D8-AD26-39B3A951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E2CCE1-3646-4507-B926-84507D48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67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ACE2B-9E5C-4558-AC09-88E21D0F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6E189-DB53-4ECB-A808-CC8AE3C8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9B172F-DF1C-40D6-AD0B-CA4682D46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86D2B4-4CA5-4392-ABF8-AAA1A90D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2BFA58-633F-4C19-97D8-7E3753A0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34F24-B1CF-4936-A7EF-8AD9B8E3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07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A43B8-66D8-462E-8CE6-D8707585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0EF8CF-9861-4ACD-B243-0D4B2307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E8370-9C08-475A-97BB-C32261D5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D3E31D-E390-433F-A1E2-076CF32C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D89561-3D6F-49E8-B30D-DD0C5F61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D3010-909B-4D21-8DD6-56E7D0E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1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B0357-528F-43EE-B29E-F651BB3E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CA174C-4211-4B14-9E10-5367A111B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A7263D-E991-404A-9FB6-3821D664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061D20-8D87-4678-986B-4478E858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7D0FA-088F-49B5-B8D9-EDDDD53C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2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D1946F-7A2C-482B-AE55-284B8D500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8663" y="403225"/>
            <a:ext cx="2897187" cy="6405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AC260-1710-4886-9FED-FB5FF3466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3925" y="403225"/>
            <a:ext cx="8542338" cy="640556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30D323-1CB7-4D50-871B-FD2460CC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fld id="{DA9F4618-11DA-4336-9A08-E05DD3D30824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03B4D-4867-4E7F-9DAB-13F27D5F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27539-D2C3-4C9C-B714-6D1469E1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5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3">
            <a:extLst>
              <a:ext uri="{FF2B5EF4-FFF2-40B4-BE49-F238E27FC236}">
                <a16:creationId xmlns:a16="http://schemas.microsoft.com/office/drawing/2014/main" id="{68C4D176-1783-4905-A2E7-06CEB4856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62" y="360000"/>
            <a:ext cx="12479017" cy="90000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4266" b="1" strike="noStrike" spc="-1" dirty="0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CAF8EFEF-0B5B-4E85-B054-19199F6CD89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9962" y="1980000"/>
            <a:ext cx="12239036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spcAft>
                <a:spcPts val="114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466" b="1" strike="noStrike" spc="-1" dirty="0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</a:p>
          <a:p>
            <a:pPr marL="1151885" lvl="1" indent="-431957">
              <a:spcAft>
                <a:spcPts val="151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933" b="0" strike="noStrike" spc="-1" dirty="0">
                <a:solidFill>
                  <a:srgbClr val="0066FF"/>
                </a:solidFill>
                <a:latin typeface="Source Sans Pro Light"/>
              </a:rPr>
              <a:t>Second Outline Level</a:t>
            </a:r>
          </a:p>
          <a:p>
            <a:pPr marL="1727827" lvl="2" indent="-383962">
              <a:spcAft>
                <a:spcPts val="113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 dirty="0">
                <a:solidFill>
                  <a:srgbClr val="ED1C24"/>
                </a:solidFill>
                <a:latin typeface="Source Sans Pro Light"/>
              </a:rPr>
              <a:t>Third Outline Level</a:t>
            </a:r>
          </a:p>
          <a:p>
            <a:pPr marL="2303770" lvl="3" indent="-287971">
              <a:spcAft>
                <a:spcPts val="756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33" b="0" strike="noStrike" spc="-1" dirty="0">
                <a:solidFill>
                  <a:srgbClr val="000000"/>
                </a:solidFill>
                <a:latin typeface="Source Sans Pro Light"/>
              </a:rPr>
              <a:t>Fourth Outline Level</a:t>
            </a:r>
          </a:p>
          <a:p>
            <a:pPr marL="2879712" lvl="4" indent="-287971">
              <a:spcAft>
                <a:spcPts val="37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33" b="0" strike="noStrike" spc="-1" dirty="0">
                <a:solidFill>
                  <a:srgbClr val="000000"/>
                </a:solidFill>
                <a:latin typeface="Source Sans Pro Light"/>
              </a:rPr>
              <a:t>Fifth Outline Level</a:t>
            </a:r>
          </a:p>
          <a:p>
            <a:pPr marL="3455654" lvl="5" indent="-287971">
              <a:spcAft>
                <a:spcPts val="37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33" b="0" strike="noStrike" spc="-1" dirty="0">
                <a:solidFill>
                  <a:srgbClr val="000000"/>
                </a:solidFill>
                <a:latin typeface="Source Sans Pro Light"/>
              </a:rPr>
              <a:t>Sixth Outline Level</a:t>
            </a:r>
          </a:p>
          <a:p>
            <a:pPr marL="4031597" lvl="6" indent="-287971">
              <a:spcAft>
                <a:spcPts val="37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133" b="0" strike="noStrike" spc="-1" dirty="0">
                <a:solidFill>
                  <a:srgbClr val="000000"/>
                </a:solidFill>
                <a:latin typeface="Source Sans Pro Light"/>
              </a:rPr>
              <a:t>Seventh Outline Level</a:t>
            </a: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D60C71D8-4CFA-4B3A-8F7F-306A5D9EA64A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239980" y="6839675"/>
            <a:ext cx="719943" cy="54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ctr"/>
            <a:fld id="{0C7BFD0A-EDD3-46B3-9567-20479936400C}" type="slidenum">
              <a:rPr lang="en-US" sz="2400" b="1" spc="-1" smtClean="0">
                <a:latin typeface="Source Sans Pro Black"/>
              </a:rPr>
              <a:pPr algn="ctr"/>
              <a:t>‹#›</a:t>
            </a:fld>
            <a:endParaRPr lang="en-US" sz="2400" b="1" spc="-1" dirty="0">
              <a:latin typeface="Source Sans Pro Black"/>
            </a:endParaRPr>
          </a:p>
        </p:txBody>
      </p:sp>
    </p:spTree>
    <p:extLst>
      <p:ext uri="{BB962C8B-B14F-4D97-AF65-F5344CB8AC3E}">
        <p14:creationId xmlns:p14="http://schemas.microsoft.com/office/powerpoint/2010/main" val="234120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86E1A-5D20-5A74-E467-7AC8D968E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84FDD6-4D14-677F-8F07-77B911E68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F5073A-D010-9406-F020-EAF98FF8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192143-62DE-268A-739C-52DFBB9F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1ABB2D-15B2-79B0-18CA-699EDB2D0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4448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9F741-211C-987C-8A10-FFDB533BE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CDF56E-52FF-F3C7-B188-4D60944EDFF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3pPr>
              <a:buFont typeface="Wingdings" panose="05000000000000000000" pitchFamily="2" charset="2"/>
              <a:buChar char="ü"/>
              <a:defRPr>
                <a:solidFill>
                  <a:srgbClr val="324160"/>
                </a:solidFill>
              </a:defRPr>
            </a:lvl3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FBA2A3-F225-517A-584B-C30E615A8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E65719-2A8D-559E-85A5-347A02CF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E55B12-2F19-B051-0048-1591CFAC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187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8757D-4EE2-D603-DE7A-DEA76E49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8F8EA3-070D-C325-9952-428E2CBE9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0979B7-FF87-E119-A97B-9F644899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1422FE-D7C1-67C0-4548-525DB374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BB912-C02B-19AE-631D-6CD9B164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6360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18A02-60FE-3A36-642E-B86C907D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0DE9B8-8ADF-ABA8-E645-04E5C3C82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CE1D9F-4BEC-D67D-F8D5-1C376D82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48D83F-D636-1C69-AFDA-B978672C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4A8DC1-BBEF-0DD5-54BB-AFE735B16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39EC06-89F3-02D7-5026-2FE272953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06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DC88F-4ECE-DA04-9E2A-BE963C1C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9DEFD0-5DFD-BB81-21AD-AAF876C08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8E3431-56E2-7364-78B9-BE419AAD7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1B379F-6DE9-BC29-C4A5-2FD4BB24D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303D73-4E47-89F5-955B-C8012C9E2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CD203A-BA0D-9A8A-6FEE-976C77F2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98F422-D8D2-5F90-BD87-FB472F7F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B59EE4-3529-EA85-B1E6-C99B8F2A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7075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AED5E-BDC3-3F05-3FEE-BA9EF16F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054BC4-0944-001F-7EA5-C736A4C4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49496B-CE66-031D-CE83-9F1FFEC8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981D49-1F5A-1BA5-3C55-41F1AD72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261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363D743-3341-0B35-87A1-C2A74F2B6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558AB7-9DD5-8770-1B9F-68F249EC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8DC790-4B47-3A43-DAF6-334D1408C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4663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4EB06-F648-346C-F8C6-07E38D36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B38E32-754A-6D93-E54A-61DDE9090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E427F6-9C65-155A-26FB-D9185394B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C66448-E9EE-CCA5-8FC5-94353D92A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CA799B-4737-87D0-1A13-3FE64261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D9F80A-EF4F-3F33-0724-D3A8A0CC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321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F4575-6834-9007-41CF-D5B9958F5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B10D7EE-B85B-377A-F919-52AE8604C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8FD9B31-0E8D-B034-6408-8E3EBBD8D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3AEEA7-56A3-9E4B-DEBB-C511693B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9E09C1-902A-6CAF-1AF2-5F7804FE0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CC99DA-BC19-635D-B853-E25D14D0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483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54534-4236-0AC2-43F1-420117B5C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B21282C-D8FA-FBC2-1DE4-E4378F6D7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07953C-AC4D-96D6-61B2-068B7B82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025F7A-703E-6F9C-2F3A-9DAF75AE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803CEB-6CB6-6D10-2C1F-FD574AEE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4486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AC980B-FFE6-4AE6-8B52-6B3667599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6D3FE0-2723-39E4-6D5E-D727D8D53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840A6-AEAE-0A98-7A27-312DE919D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C22550-C2CC-9933-B525-31F47704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9E6CF5-2961-BF82-F787-38890B03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2925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39775" cy="75596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357" y="7118694"/>
            <a:ext cx="1582419" cy="3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895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39775" cy="75596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357" y="7118694"/>
            <a:ext cx="1582419" cy="3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117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39775" cy="75596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357" y="7118694"/>
            <a:ext cx="1582419" cy="3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0567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39775" cy="75596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357" y="7118694"/>
            <a:ext cx="1582419" cy="3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11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439775" cy="755967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3439775" cy="7559675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4357" y="7118694"/>
            <a:ext cx="1582419" cy="3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BD4786-88E0-4341-A17D-EB4CD76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FDBA2-2D4B-4A9D-8973-8ED82BEF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199"/>
            <a:ext cx="12374879" cy="5823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9CA22-AA7E-4292-A008-BE16173FB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832080" y="7022465"/>
            <a:ext cx="46101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8F4C2-5AD9-4F35-9375-C447F9EA536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8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pt-BR" sz="4400" b="1" i="1" strike="noStrike" kern="1200" spc="-1" dirty="0">
          <a:solidFill>
            <a:schemeClr val="accent1">
              <a:lumMod val="75000"/>
            </a:schemeClr>
          </a:solidFill>
          <a:latin typeface="+mn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200" kern="1200">
          <a:solidFill>
            <a:srgbClr val="0206BE"/>
          </a:solidFill>
          <a:latin typeface="+mn-lt"/>
          <a:ea typeface="+mn-ea"/>
          <a:cs typeface="+mn-cs"/>
        </a:defRPr>
      </a:lvl2pPr>
      <a:lvl3pPr marL="1341438" indent="-42703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5FA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B4C809-2D14-A0E4-9906-79C726444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64334D-6BFD-A420-5D93-CDD404FD9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7F9DB2-CF8B-CFDA-8142-51CF8F85CB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4772F-4088-41CF-9815-BFD17AD52CAA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70AE557-76E5-C76A-1C95-55A6574BF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236BA-F52E-9684-F48F-A5C587747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9C7F0-67D9-4F67-90F3-D80A908054E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59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lopespereira/idp_mestrado" TargetMode="External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eWiGZBZaTVGcXun77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hiiEeMN7vbQ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E3AFBB6-4171-5CDB-9C00-121EDD2FC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473"/>
            <a:ext cx="13439775" cy="7596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191017-04F8-4B09-8AFA-6B0AC8736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-28473"/>
            <a:ext cx="13439774" cy="1511198"/>
          </a:xfrm>
          <a:solidFill>
            <a:srgbClr val="F8EECA">
              <a:alpha val="8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sz="5400" dirty="0"/>
              <a:t>Introdução a Programação em Python</a:t>
            </a:r>
          </a:p>
        </p:txBody>
      </p:sp>
      <p:sp>
        <p:nvSpPr>
          <p:cNvPr id="4" name="CustomShape 2">
            <a:extLst>
              <a:ext uri="{FF2B5EF4-FFF2-40B4-BE49-F238E27FC236}">
                <a16:creationId xmlns:a16="http://schemas.microsoft.com/office/drawing/2014/main" id="{531F1CC8-6E18-4F38-AD35-ABFFF58303B0}"/>
              </a:ext>
            </a:extLst>
          </p:cNvPr>
          <p:cNvSpPr/>
          <p:nvPr/>
        </p:nvSpPr>
        <p:spPr>
          <a:xfrm>
            <a:off x="2579383" y="7158038"/>
            <a:ext cx="3035605" cy="4098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103"/>
              </a:spcBef>
            </a:pPr>
            <a:r>
              <a:rPr lang="pt-BR" sz="24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Professor: Alex Pereira</a:t>
            </a:r>
            <a:endParaRPr lang="pt-BR" sz="240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60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CustomShape 2"/>
          <p:cNvSpPr/>
          <p:nvPr/>
        </p:nvSpPr>
        <p:spPr>
          <a:xfrm>
            <a:off x="2937477" y="1051013"/>
            <a:ext cx="10391116" cy="650866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33115" rIns="0" bIns="0"/>
          <a:lstStyle/>
          <a:p>
            <a:pPr defTabSz="914412">
              <a:lnSpc>
                <a:spcPct val="150000"/>
              </a:lnSpc>
              <a:spcAft>
                <a:spcPts val="1897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2000 a 2004 – Graduação em Engenharia de Computação no ITA</a:t>
            </a:r>
            <a:endParaRPr lang="pt-BR" sz="2400" spc="-1" dirty="0">
              <a:solidFill>
                <a:prstClr val="black"/>
              </a:solidFill>
              <a:latin typeface="Source Sans Pro"/>
            </a:endParaRPr>
          </a:p>
          <a:p>
            <a:pPr defTabSz="914412">
              <a:lnSpc>
                <a:spcPct val="150000"/>
              </a:lnSpc>
              <a:spcAft>
                <a:spcPts val="1897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2005 a 2008 – Mestrado em Eng. de Computação e Eletrônica no ITA</a:t>
            </a:r>
            <a:endParaRPr lang="pt-BR" sz="2400" spc="-1" dirty="0">
              <a:solidFill>
                <a:prstClr val="black"/>
              </a:solidFill>
              <a:latin typeface="Source Sans Pro"/>
            </a:endParaRPr>
          </a:p>
          <a:p>
            <a:pPr defTabSz="914412">
              <a:lnSpc>
                <a:spcPct val="150000"/>
              </a:lnSpc>
              <a:spcAft>
                <a:spcPts val="1897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2009 a 2015 – Doutorado em Eng. de Computação e Eletrônica no ITA</a:t>
            </a:r>
            <a:endParaRPr lang="pt-BR" sz="600" b="1" spc="-1" dirty="0">
              <a:solidFill>
                <a:srgbClr val="333333"/>
              </a:solidFill>
              <a:latin typeface="Arial"/>
              <a:ea typeface="Segoe UI"/>
            </a:endParaRP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2004 a 2010 – Empreendedor, sócio em empresa de base tecnológica</a:t>
            </a:r>
            <a:endParaRPr lang="pt-BR" sz="2400" spc="-1" dirty="0">
              <a:solidFill>
                <a:prstClr val="black"/>
              </a:solidFill>
              <a:latin typeface="Source Sans Pro"/>
            </a:endParaRP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2013 a 2017 – Censipam / Ministério da Defesa</a:t>
            </a: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</a:rPr>
              <a:t>2016 </a:t>
            </a: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–</a:t>
            </a:r>
            <a:r>
              <a:rPr lang="pt-BR" sz="2400" b="1" spc="-1" dirty="0">
                <a:solidFill>
                  <a:srgbClr val="333333"/>
                </a:solidFill>
                <a:latin typeface="Arial"/>
              </a:rPr>
              <a:t> Professor</a:t>
            </a:r>
            <a:endParaRPr lang="pt-BR" sz="2400" spc="-1" dirty="0">
              <a:solidFill>
                <a:prstClr val="black"/>
              </a:solidFill>
              <a:latin typeface="Source Sans Pro"/>
            </a:endParaRP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2017 – Ministério da Economia</a:t>
            </a: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r>
              <a:rPr lang="pt-BR" sz="2400" b="1" spc="-1" dirty="0">
                <a:solidFill>
                  <a:srgbClr val="333333"/>
                </a:solidFill>
                <a:latin typeface="Arial"/>
                <a:ea typeface="Segoe UI"/>
              </a:rPr>
              <a:t>2024 – Presidente da Associação dos Engenheiros do ITA</a:t>
            </a:r>
            <a:endParaRPr lang="pt-BR" sz="2400" spc="-1" dirty="0">
              <a:solidFill>
                <a:prstClr val="black"/>
              </a:solidFill>
              <a:latin typeface="Source Sans Pro"/>
            </a:endParaRPr>
          </a:p>
          <a:p>
            <a:pPr defTabSz="914412">
              <a:lnSpc>
                <a:spcPct val="150000"/>
              </a:lnSpc>
              <a:spcBef>
                <a:spcPts val="193"/>
              </a:spcBef>
              <a:spcAft>
                <a:spcPts val="2113"/>
              </a:spcAft>
              <a:defRPr/>
            </a:pPr>
            <a:endParaRPr lang="pt-BR" sz="2400" spc="-1" dirty="0">
              <a:solidFill>
                <a:prstClr val="black"/>
              </a:solidFill>
              <a:latin typeface="Source Sans Pro"/>
            </a:endParaRPr>
          </a:p>
        </p:txBody>
      </p:sp>
      <p:pic>
        <p:nvPicPr>
          <p:cNvPr id="422" name="Imagem 421"/>
          <p:cNvPicPr/>
          <p:nvPr/>
        </p:nvPicPr>
        <p:blipFill>
          <a:blip r:embed="rId2"/>
          <a:srcRect r="79264" b="-9341"/>
          <a:stretch/>
        </p:blipFill>
        <p:spPr>
          <a:xfrm>
            <a:off x="1351323" y="3558329"/>
            <a:ext cx="676711" cy="548089"/>
          </a:xfrm>
          <a:prstGeom prst="rect">
            <a:avLst/>
          </a:prstGeom>
          <a:ln>
            <a:noFill/>
          </a:ln>
        </p:spPr>
      </p:pic>
      <p:pic>
        <p:nvPicPr>
          <p:cNvPr id="423" name="Imagem 422"/>
          <p:cNvPicPr/>
          <p:nvPr/>
        </p:nvPicPr>
        <p:blipFill>
          <a:blip r:embed="rId3"/>
          <a:stretch/>
        </p:blipFill>
        <p:spPr>
          <a:xfrm>
            <a:off x="1004088" y="1178836"/>
            <a:ext cx="1371180" cy="526972"/>
          </a:xfrm>
          <a:prstGeom prst="rect">
            <a:avLst/>
          </a:prstGeom>
          <a:ln>
            <a:noFill/>
          </a:ln>
        </p:spPr>
      </p:pic>
      <p:pic>
        <p:nvPicPr>
          <p:cNvPr id="424" name="Imagem 423"/>
          <p:cNvPicPr/>
          <p:nvPr/>
        </p:nvPicPr>
        <p:blipFill>
          <a:blip r:embed="rId4"/>
          <a:stretch/>
        </p:blipFill>
        <p:spPr>
          <a:xfrm>
            <a:off x="1004088" y="2016806"/>
            <a:ext cx="1371180" cy="524572"/>
          </a:xfrm>
          <a:prstGeom prst="rect">
            <a:avLst/>
          </a:prstGeom>
          <a:ln>
            <a:noFill/>
          </a:ln>
        </p:spPr>
      </p:pic>
      <p:pic>
        <p:nvPicPr>
          <p:cNvPr id="425" name="Imagem 424"/>
          <p:cNvPicPr/>
          <p:nvPr/>
        </p:nvPicPr>
        <p:blipFill>
          <a:blip r:embed="rId4"/>
          <a:stretch/>
        </p:blipFill>
        <p:spPr>
          <a:xfrm>
            <a:off x="1004088" y="2815900"/>
            <a:ext cx="1371180" cy="525052"/>
          </a:xfrm>
          <a:prstGeom prst="rect">
            <a:avLst/>
          </a:prstGeom>
          <a:ln>
            <a:noFill/>
          </a:ln>
        </p:spPr>
      </p:pic>
      <p:pic>
        <p:nvPicPr>
          <p:cNvPr id="426" name="Imagem 425"/>
          <p:cNvPicPr/>
          <p:nvPr/>
        </p:nvPicPr>
        <p:blipFill>
          <a:blip r:embed="rId5"/>
          <a:stretch/>
        </p:blipFill>
        <p:spPr>
          <a:xfrm>
            <a:off x="1381798" y="4289869"/>
            <a:ext cx="615760" cy="615760"/>
          </a:xfrm>
          <a:prstGeom prst="rect">
            <a:avLst/>
          </a:prstGeom>
          <a:ln>
            <a:noFill/>
          </a:ln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D05A472-9DF3-408F-B2DE-F8A667608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445" y="6025324"/>
            <a:ext cx="778466" cy="55253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64D4A98-9C9D-C9C9-4EB7-150D262E200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2205"/>
          <a:stretch/>
        </p:blipFill>
        <p:spPr>
          <a:xfrm>
            <a:off x="1093245" y="5089081"/>
            <a:ext cx="1192866" cy="65363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7AA81CD5-FD31-2AFC-01EC-847DAC595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136" y="51085"/>
            <a:ext cx="11591502" cy="776354"/>
          </a:xfrm>
        </p:spPr>
        <p:txBody>
          <a:bodyPr/>
          <a:lstStyle/>
          <a:p>
            <a:pPr algn="ctr"/>
            <a:r>
              <a:rPr lang="pt-BR" dirty="0"/>
              <a:t>Apresentação Pessoal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C1F75D4-DEF3-1475-12CC-CA3B462AB0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384" y="6860474"/>
            <a:ext cx="1425134" cy="5051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C9DF3-926F-3D0A-3A88-7FE3E628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4C636-4B3E-0AE2-A5AF-FA5396AF4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Links Importantes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541D89-EE90-6CB0-488F-0E32985C6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5721"/>
            <a:ext cx="12374879" cy="6191729"/>
          </a:xfrm>
        </p:spPr>
        <p:txBody>
          <a:bodyPr>
            <a:normAutofit/>
          </a:bodyPr>
          <a:lstStyle/>
          <a:p>
            <a:r>
              <a:rPr lang="pt-BR" sz="3527" dirty="0"/>
              <a:t>Google Colab (Notebooks)</a:t>
            </a:r>
          </a:p>
          <a:p>
            <a:pPr lvl="1"/>
            <a:r>
              <a:rPr lang="pt-BR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</a:t>
            </a:r>
            <a:r>
              <a:rPr lang="pt-BR" dirty="0"/>
              <a:t> </a:t>
            </a:r>
            <a:r>
              <a:rPr lang="pt-BR" dirty="0">
                <a:solidFill>
                  <a:srgbClr val="FF0000"/>
                </a:solidFill>
              </a:rPr>
              <a:t>(Conta no Google/Gmail)</a:t>
            </a:r>
          </a:p>
          <a:p>
            <a:r>
              <a:rPr lang="pt-BR" sz="3530">
                <a:hlinkClick r:id="rId3"/>
              </a:rPr>
              <a:t>Repositório </a:t>
            </a:r>
            <a:r>
              <a:rPr lang="pt-BR" sz="3530" dirty="0">
                <a:hlinkClick r:id="rId3"/>
              </a:rPr>
              <a:t>da Disciplina</a:t>
            </a:r>
            <a:r>
              <a:rPr lang="pt-BR" sz="3530" dirty="0"/>
              <a:t> </a:t>
            </a:r>
            <a:r>
              <a:rPr lang="pt-BR" sz="3530"/>
              <a:t>no Github</a:t>
            </a:r>
            <a:endParaRPr lang="pt-BR" sz="353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B24236-7A7D-F821-B438-60508CD3F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6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08B9-6D71-7DE7-36C7-F2D370E0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Devo aprender a programar? Será útil no futuro?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DA1AC-C043-9CD8-92C5-74EE62E1A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IA vai escrever quase 100% dos códigos?</a:t>
            </a:r>
          </a:p>
          <a:p>
            <a:pPr lvl="1"/>
            <a:r>
              <a:rPr lang="en-US"/>
              <a:t>A calculadora (ou o Excel) faz quase 100% das operações matemáticas básicas?</a:t>
            </a:r>
          </a:p>
          <a:p>
            <a:pPr lvl="2"/>
            <a:r>
              <a:rPr lang="en-US"/>
              <a:t>Você ainda precisa saber as 4 operações básicas da matemática?</a:t>
            </a:r>
          </a:p>
          <a:p>
            <a:r>
              <a:rPr lang="en-US"/>
              <a:t>O que essa formula de excel faz</a:t>
            </a:r>
          </a:p>
          <a:p>
            <a:pPr lvl="1"/>
            <a:r>
              <a:rPr lang="en-US"/>
              <a:t>=SUMPRODUCT(C3:G3,C2:G2)/(SUM(C2:G2))</a:t>
            </a:r>
          </a:p>
          <a:p>
            <a:pPr lvl="2"/>
            <a:r>
              <a:rPr lang="en-US"/>
              <a:t>Qual o domínio sobre o trabalho Nessa planilha de alguem que nao conhece as operações matemáticas?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D06E2-55FD-C759-5DC6-46B44225D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1" t="3490"/>
          <a:stretch>
            <a:fillRect/>
          </a:stretch>
        </p:blipFill>
        <p:spPr>
          <a:xfrm>
            <a:off x="6719887" y="5548745"/>
            <a:ext cx="6560613" cy="187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9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57DB0-67DD-7E06-6FB3-55985AC69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65990-88F5-D9C0-83CE-9BFC8E001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136" y="20124"/>
            <a:ext cx="11591502" cy="1461188"/>
          </a:xfrm>
        </p:spPr>
        <p:txBody>
          <a:bodyPr>
            <a:normAutofit/>
          </a:bodyPr>
          <a:lstStyle/>
          <a:p>
            <a:pPr algn="ctr" defTabSz="914400"/>
            <a:r>
              <a:rPr lang="pt-BR" sz="4400" b="1" i="1" spc="-1">
                <a:solidFill>
                  <a:schemeClr val="accent1">
                    <a:lumMod val="75000"/>
                  </a:schemeClr>
                </a:solidFill>
                <a:latin typeface="+mn-lt"/>
                <a:cs typeface="Calibri" panose="020F0502020204030204" pitchFamily="34" charset="0"/>
              </a:rPr>
              <a:t>Aprender vs Deixar </a:t>
            </a:r>
            <a:r>
              <a:rPr lang="pt-BR" sz="4400" b="1" i="1" spc="-1" dirty="0">
                <a:solidFill>
                  <a:schemeClr val="accent1">
                    <a:lumMod val="75000"/>
                  </a:schemeClr>
                </a:solidFill>
                <a:latin typeface="+mn-lt"/>
                <a:cs typeface="Calibri" panose="020F0502020204030204" pitchFamily="34" charset="0"/>
              </a:rPr>
              <a:t>de Aprender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32511-848C-E907-10CA-A570F8F747F0}"/>
              </a:ext>
            </a:extLst>
          </p:cNvPr>
          <p:cNvSpPr txBox="1">
            <a:spLocks/>
          </p:cNvSpPr>
          <p:nvPr/>
        </p:nvSpPr>
        <p:spPr>
          <a:xfrm>
            <a:off x="924136" y="1773421"/>
            <a:ext cx="11591502" cy="5053405"/>
          </a:xfrm>
          <a:prstGeom prst="rect">
            <a:avLst/>
          </a:prstGeom>
        </p:spPr>
        <p:txBody>
          <a:bodyPr vert="horz" lIns="100796" tIns="50398" rIns="100796" bIns="50398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/>
              <a:t>Como deveríamos utilizar a IA</a:t>
            </a:r>
          </a:p>
          <a:p>
            <a:pPr marL="898525" lvl="1" indent="-441325">
              <a:buFont typeface="Courier New" panose="02070309020205020404" pitchFamily="49" charset="0"/>
              <a:buChar char="o"/>
            </a:pPr>
            <a:r>
              <a:rPr lang="pt-BR" sz="3200">
                <a:solidFill>
                  <a:srgbClr val="0206BE"/>
                </a:solidFill>
              </a:rPr>
              <a:t>Para aprender, ou para não precisar aprender?</a:t>
            </a:r>
          </a:p>
          <a:p>
            <a:pPr marL="1341438" lvl="2" indent="-427038">
              <a:buFont typeface="Wingdings" panose="05000000000000000000" pitchFamily="2" charset="2"/>
              <a:buChar char="ü"/>
            </a:pPr>
            <a:r>
              <a:rPr 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Um importante skill na próxima década será conseguir navegar bem entre essas duas estratégias</a:t>
            </a:r>
          </a:p>
          <a:p>
            <a:r>
              <a:rPr lang="pt-BR" sz="3600"/>
              <a:t>Analogia de aprender com o treinamento para uma corrida</a:t>
            </a:r>
          </a:p>
          <a:p>
            <a:pPr marL="898525" lvl="1" indent="-441325">
              <a:buFont typeface="Courier New" panose="02070309020205020404" pitchFamily="49" charset="0"/>
              <a:buChar char="o"/>
            </a:pPr>
            <a:r>
              <a:rPr lang="pt-BR" sz="3200">
                <a:solidFill>
                  <a:srgbClr val="0206BE"/>
                </a:solidFill>
              </a:rPr>
              <a:t>Fazer cada treino indo e voltando de carro</a:t>
            </a:r>
          </a:p>
          <a:p>
            <a:pPr marL="1341438" lvl="2" indent="-427038">
              <a:buFont typeface="Wingdings" panose="05000000000000000000" pitchFamily="2" charset="2"/>
              <a:buChar char="ü"/>
            </a:pPr>
            <a:r>
              <a:rPr lang="pt-BR" sz="2800">
                <a:solidFill>
                  <a:schemeClr val="tx1">
                    <a:lumMod val="75000"/>
                    <a:lumOff val="25000"/>
                  </a:schemeClr>
                </a:solidFill>
              </a:rPr>
              <a:t>Qual era o objetivo? Chegar ao destino ou construir células musculares pelo esforço repetitivo?</a:t>
            </a:r>
          </a:p>
          <a:p>
            <a:pPr>
              <a:lnSpc>
                <a:spcPct val="100000"/>
              </a:lnSpc>
            </a:pPr>
            <a:r>
              <a:rPr lang="en-US" sz="3600"/>
              <a:t>Carga Cognitiva =&gt; Aprendizado</a:t>
            </a:r>
          </a:p>
          <a:p>
            <a:pPr lvl="1"/>
            <a:r>
              <a:rPr lang="en-US" sz="3200">
                <a:solidFill>
                  <a:srgbClr val="0206BE"/>
                </a:solidFill>
              </a:rPr>
              <a:t>Terceirizar a carga cognitiva para um LLM ao tentar aprender algo</a:t>
            </a:r>
          </a:p>
          <a:p>
            <a:pPr marL="1341438" lvl="2" indent="-427038">
              <a:buFont typeface="Wingdings" panose="05000000000000000000" pitchFamily="2" charset="2"/>
              <a:buChar char="ü"/>
            </a:pPr>
            <a:r>
              <a:rPr lang="en-US" sz="2800">
                <a:solidFill>
                  <a:schemeClr val="tx1">
                    <a:lumMod val="75000"/>
                    <a:lumOff val="25000"/>
                  </a:schemeClr>
                </a:solidFill>
              </a:rPr>
              <a:t>É o mesmo que treinar corrida fazendo o percurso de carro</a:t>
            </a:r>
          </a:p>
        </p:txBody>
      </p:sp>
    </p:spTree>
    <p:extLst>
      <p:ext uri="{BB962C8B-B14F-4D97-AF65-F5344CB8AC3E}">
        <p14:creationId xmlns:p14="http://schemas.microsoft.com/office/powerpoint/2010/main" val="218045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BEA5-B4AC-44B1-6732-A7BA1F6C9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Analogia de Aprendizado com Perna-de-pau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C6D8-A2B5-1031-92FE-3D0D66E60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 seu vocabulário fosse sua perna-de-pau</a:t>
            </a:r>
          </a:p>
          <a:p>
            <a:pPr lvl="1"/>
            <a:r>
              <a:rPr lang="en-US"/>
              <a:t>Como seria seu desempenho?</a:t>
            </a:r>
          </a:p>
          <a:p>
            <a:endParaRPr lang="en-US"/>
          </a:p>
        </p:txBody>
      </p:sp>
      <p:pic>
        <p:nvPicPr>
          <p:cNvPr id="1028" name="Picture 4" descr="Pernas de pau, uma mania que está em alta no Rio - Jornal O Globo">
            <a:extLst>
              <a:ext uri="{FF2B5EF4-FFF2-40B4-BE49-F238E27FC236}">
                <a16:creationId xmlns:a16="http://schemas.microsoft.com/office/drawing/2014/main" id="{D77CC30A-4284-584D-28BF-613B1C22E2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66"/>
          <a:stretch>
            <a:fillRect/>
          </a:stretch>
        </p:blipFill>
        <p:spPr bwMode="auto">
          <a:xfrm>
            <a:off x="4402827" y="3779836"/>
            <a:ext cx="6228596" cy="3056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SSISTAM ATÉ O FINAL! Nossa mais velha arrasa na perna de pau! Por aqui  todos andam de perna de pau. É uma diversão para a família toda. A  adrenalina e a sensação de ver tudo do alto são maravilhosas! ...">
            <a:extLst>
              <a:ext uri="{FF2B5EF4-FFF2-40B4-BE49-F238E27FC236}">
                <a16:creationId xmlns:a16="http://schemas.microsoft.com/office/drawing/2014/main" id="{16694266-64AC-54E3-1DBA-D3D4938D8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0171" y="3778355"/>
            <a:ext cx="1712404" cy="305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F648E2-BC72-98B4-81DB-351AE7FB46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933"/>
          <a:stretch>
            <a:fillRect/>
          </a:stretch>
        </p:blipFill>
        <p:spPr>
          <a:xfrm>
            <a:off x="713232" y="3261360"/>
            <a:ext cx="2857500" cy="409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60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Estruturas de Fluxo Alternativo: Condicional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1D3DAA-06EA-4752-A6A2-8EB565106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6" y="1206500"/>
            <a:ext cx="83439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86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Fluxograma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ACF8C578-700F-46D1-86CB-9BBB696F21F6}"/>
              </a:ext>
            </a:extLst>
          </p:cNvPr>
          <p:cNvSpPr/>
          <p:nvPr/>
        </p:nvSpPr>
        <p:spPr>
          <a:xfrm>
            <a:off x="19375" y="2428380"/>
            <a:ext cx="6864022" cy="295038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coffeeEmpty==true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541EFB-4519-4964-B5DE-69216B48CE98}"/>
              </a:ext>
            </a:extLst>
          </p:cNvPr>
          <p:cNvCxnSpPr>
            <a:cxnSpLocks/>
            <a:stCxn id="17" idx="4"/>
            <a:endCxn id="3" idx="0"/>
          </p:cNvCxnSpPr>
          <p:nvPr/>
        </p:nvCxnSpPr>
        <p:spPr>
          <a:xfrm>
            <a:off x="3451386" y="1608328"/>
            <a:ext cx="0" cy="8200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C0EA8D7-7BFE-4EAD-B31D-2E16649A2D92}"/>
              </a:ext>
            </a:extLst>
          </p:cNvPr>
          <p:cNvCxnSpPr>
            <a:cxnSpLocks/>
          </p:cNvCxnSpPr>
          <p:nvPr/>
        </p:nvCxnSpPr>
        <p:spPr>
          <a:xfrm>
            <a:off x="3448759" y="5378764"/>
            <a:ext cx="0" cy="90841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B4F96D-6316-4E88-83CD-5B3652FA9209}"/>
              </a:ext>
            </a:extLst>
          </p:cNvPr>
          <p:cNvCxnSpPr>
            <a:cxnSpLocks/>
          </p:cNvCxnSpPr>
          <p:nvPr/>
        </p:nvCxnSpPr>
        <p:spPr>
          <a:xfrm>
            <a:off x="6883397" y="3908242"/>
            <a:ext cx="93279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021A0E-FFF4-4E07-867F-683294F9E607}"/>
              </a:ext>
            </a:extLst>
          </p:cNvPr>
          <p:cNvSpPr/>
          <p:nvPr/>
        </p:nvSpPr>
        <p:spPr>
          <a:xfrm>
            <a:off x="7821690" y="3406966"/>
            <a:ext cx="3424734" cy="9932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RefillCoffe()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71539-3A69-45CB-BEDC-7BE5E7DDF54B}"/>
              </a:ext>
            </a:extLst>
          </p:cNvPr>
          <p:cNvGrpSpPr/>
          <p:nvPr/>
        </p:nvGrpSpPr>
        <p:grpSpPr>
          <a:xfrm>
            <a:off x="3049365" y="887307"/>
            <a:ext cx="804041" cy="721021"/>
            <a:chOff x="2837793" y="898634"/>
            <a:chExt cx="804041" cy="72102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BEB2E93-6F51-443E-9D8A-00F62F68A883}"/>
                </a:ext>
              </a:extLst>
            </p:cNvPr>
            <p:cNvSpPr/>
            <p:nvPr/>
          </p:nvSpPr>
          <p:spPr>
            <a:xfrm>
              <a:off x="2837793" y="898634"/>
              <a:ext cx="804041" cy="7210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E2DBD5-4BCF-4F7E-BE2C-D9FC42ED2D35}"/>
                </a:ext>
              </a:extLst>
            </p:cNvPr>
            <p:cNvSpPr/>
            <p:nvPr/>
          </p:nvSpPr>
          <p:spPr>
            <a:xfrm>
              <a:off x="2990194" y="1019502"/>
              <a:ext cx="493986" cy="46892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4188D9-83F7-4D1A-A69E-E7CA47AEA70B}"/>
              </a:ext>
            </a:extLst>
          </p:cNvPr>
          <p:cNvSpPr/>
          <p:nvPr/>
        </p:nvSpPr>
        <p:spPr>
          <a:xfrm>
            <a:off x="1640347" y="6287180"/>
            <a:ext cx="3424734" cy="9932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DrinkCoffe()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A7A78EE-8964-4203-A6E9-AA3CC7E218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465" r="9675"/>
          <a:stretch/>
        </p:blipFill>
        <p:spPr>
          <a:xfrm>
            <a:off x="10390410" y="12146"/>
            <a:ext cx="3029990" cy="32559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D735C40-82A5-42E3-A698-A0A5A86289F6}"/>
              </a:ext>
            </a:extLst>
          </p:cNvPr>
          <p:cNvSpPr txBox="1"/>
          <p:nvPr/>
        </p:nvSpPr>
        <p:spPr>
          <a:xfrm>
            <a:off x="6883397" y="3283876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sim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7635FD-A42B-4979-9C83-A2E0E79615DF}"/>
              </a:ext>
            </a:extLst>
          </p:cNvPr>
          <p:cNvSpPr txBox="1"/>
          <p:nvPr/>
        </p:nvSpPr>
        <p:spPr>
          <a:xfrm>
            <a:off x="3562499" y="548467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não</a:t>
            </a:r>
          </a:p>
        </p:txBody>
      </p:sp>
    </p:spTree>
    <p:extLst>
      <p:ext uri="{BB962C8B-B14F-4D97-AF65-F5344CB8AC3E}">
        <p14:creationId xmlns:p14="http://schemas.microsoft.com/office/powerpoint/2010/main" val="125885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Estruturas de Fluxo Alternativo: Condicional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40EC8-D23F-4824-911C-D9BC5AC95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71625-35C4-4EBC-8A90-43BA2D4E1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137" y="1063625"/>
            <a:ext cx="8324850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8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Fluxograma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413720-1382-45DE-BD38-195616A1D104}"/>
              </a:ext>
            </a:extLst>
          </p:cNvPr>
          <p:cNvSpPr txBox="1"/>
          <p:nvPr/>
        </p:nvSpPr>
        <p:spPr>
          <a:xfrm>
            <a:off x="4435690" y="6989237"/>
            <a:ext cx="4003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! é o operador de negação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8A2D47-FAA8-4ABC-88A9-9979EDC53F86}"/>
              </a:ext>
            </a:extLst>
          </p:cNvPr>
          <p:cNvGrpSpPr/>
          <p:nvPr/>
        </p:nvGrpSpPr>
        <p:grpSpPr>
          <a:xfrm>
            <a:off x="772346" y="898634"/>
            <a:ext cx="6574390" cy="6381757"/>
            <a:chOff x="1429571" y="898634"/>
            <a:chExt cx="6574390" cy="6381757"/>
          </a:xfrm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ACF8C578-700F-46D1-86CB-9BBB696F21F6}"/>
                </a:ext>
              </a:extLst>
            </p:cNvPr>
            <p:cNvSpPr/>
            <p:nvPr/>
          </p:nvSpPr>
          <p:spPr>
            <a:xfrm>
              <a:off x="1429571" y="2428380"/>
              <a:ext cx="3501238" cy="295038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! </a:t>
              </a:r>
              <a:r>
                <a:rPr lang="pt-BR" sz="4000" dirty="0" err="1"/>
                <a:t>tired</a:t>
              </a:r>
              <a:r>
                <a:rPr lang="pt-BR" sz="4000" dirty="0"/>
                <a:t>()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5541EFB-4519-4964-B5DE-69216B48CE98}"/>
                </a:ext>
              </a:extLst>
            </p:cNvPr>
            <p:cNvCxnSpPr>
              <a:cxnSpLocks/>
              <a:stCxn id="17" idx="4"/>
              <a:endCxn id="3" idx="0"/>
            </p:cNvCxnSpPr>
            <p:nvPr/>
          </p:nvCxnSpPr>
          <p:spPr>
            <a:xfrm flipH="1">
              <a:off x="3180190" y="1619655"/>
              <a:ext cx="2474" cy="808725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0EA8D7-7BFE-4EAD-B31D-2E16649A2D92}"/>
                </a:ext>
              </a:extLst>
            </p:cNvPr>
            <p:cNvCxnSpPr>
              <a:cxnSpLocks/>
            </p:cNvCxnSpPr>
            <p:nvPr/>
          </p:nvCxnSpPr>
          <p:spPr>
            <a:xfrm>
              <a:off x="3194157" y="5378764"/>
              <a:ext cx="0" cy="90841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1B4F96D-6316-4E88-83CD-5B3652FA9209}"/>
                </a:ext>
              </a:extLst>
            </p:cNvPr>
            <p:cNvCxnSpPr>
              <a:cxnSpLocks/>
            </p:cNvCxnSpPr>
            <p:nvPr/>
          </p:nvCxnSpPr>
          <p:spPr>
            <a:xfrm>
              <a:off x="4959565" y="3903008"/>
              <a:ext cx="72686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B021A0E-FFF4-4E07-867F-683294F9E607}"/>
                </a:ext>
              </a:extLst>
            </p:cNvPr>
            <p:cNvSpPr/>
            <p:nvPr/>
          </p:nvSpPr>
          <p:spPr>
            <a:xfrm>
              <a:off x="5702517" y="3406402"/>
              <a:ext cx="2301444" cy="9932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200" dirty="0"/>
                <a:t>KeepCoding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BEB2E93-6F51-443E-9D8A-00F62F68A883}"/>
                </a:ext>
              </a:extLst>
            </p:cNvPr>
            <p:cNvSpPr/>
            <p:nvPr/>
          </p:nvSpPr>
          <p:spPr>
            <a:xfrm>
              <a:off x="2780643" y="898634"/>
              <a:ext cx="804041" cy="7210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E2DBD5-4BCF-4F7E-BE2C-D9FC42ED2D35}"/>
                </a:ext>
              </a:extLst>
            </p:cNvPr>
            <p:cNvSpPr/>
            <p:nvPr/>
          </p:nvSpPr>
          <p:spPr>
            <a:xfrm>
              <a:off x="2933044" y="1019502"/>
              <a:ext cx="493986" cy="46892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C4188D9-83F7-4D1A-A69E-E7CA47AEA70B}"/>
                </a:ext>
              </a:extLst>
            </p:cNvPr>
            <p:cNvSpPr/>
            <p:nvPr/>
          </p:nvSpPr>
          <p:spPr>
            <a:xfrm>
              <a:off x="1524820" y="6287180"/>
              <a:ext cx="3424734" cy="99321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4000" dirty="0"/>
                <a:t>DrinkCoffee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284C9E-6EAA-45BC-BD58-B232D28DF1A4}"/>
                </a:ext>
              </a:extLst>
            </p:cNvPr>
            <p:cNvSpPr txBox="1"/>
            <p:nvPr/>
          </p:nvSpPr>
          <p:spPr>
            <a:xfrm>
              <a:off x="5092915" y="3256617"/>
              <a:ext cx="6944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sim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327C046-77C4-482B-B1E9-89E5733DE942}"/>
                </a:ext>
              </a:extLst>
            </p:cNvPr>
            <p:cNvSpPr txBox="1"/>
            <p:nvPr/>
          </p:nvSpPr>
          <p:spPr>
            <a:xfrm>
              <a:off x="3410099" y="5527158"/>
              <a:ext cx="7344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não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7DEE52A-411F-4495-93B5-F00D687B8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917" y="40889"/>
            <a:ext cx="3501238" cy="2732087"/>
          </a:xfrm>
          <a:prstGeom prst="rect">
            <a:avLst/>
          </a:prstGeom>
        </p:spPr>
      </p:pic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9B52B40A-2785-429C-9E4E-2691830AC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349" y="3256617"/>
            <a:ext cx="5000425" cy="3463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PROGRAMA </a:t>
            </a:r>
            <a:r>
              <a:rPr lang="en-US" sz="3200" dirty="0" err="1"/>
              <a:t>Codificar</a:t>
            </a:r>
            <a:r>
              <a:rPr lang="en-US" sz="3200" dirty="0"/>
              <a:t>:</a:t>
            </a:r>
          </a:p>
          <a:p>
            <a:pPr marL="0" indent="0">
              <a:buNone/>
            </a:pPr>
            <a:r>
              <a:rPr lang="en-US" sz="3200" b="1" dirty="0"/>
              <a:t>se</a:t>
            </a:r>
            <a:r>
              <a:rPr lang="en-US" sz="3200" dirty="0"/>
              <a:t> !</a:t>
            </a:r>
            <a:r>
              <a:rPr lang="en-US" sz="3200" dirty="0" err="1"/>
              <a:t>cansado</a:t>
            </a:r>
            <a:r>
              <a:rPr lang="en-US" sz="3200" dirty="0"/>
              <a:t>() </a:t>
            </a:r>
            <a:r>
              <a:rPr lang="en-US" sz="3200" b="1" dirty="0" err="1"/>
              <a:t>então</a:t>
            </a:r>
            <a:endParaRPr lang="en-US" sz="3200" b="1" dirty="0"/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err="1"/>
              <a:t>continuarCodificando</a:t>
            </a:r>
            <a:r>
              <a:rPr lang="en-US" sz="3200" dirty="0"/>
              <a:t>()</a:t>
            </a:r>
          </a:p>
          <a:p>
            <a:pPr marL="0" indent="0">
              <a:buNone/>
            </a:pPr>
            <a:r>
              <a:rPr lang="en-US" sz="3200" b="1" dirty="0"/>
              <a:t>se </a:t>
            </a:r>
            <a:r>
              <a:rPr lang="en-US" sz="3200" b="1" dirty="0" err="1"/>
              <a:t>não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	</a:t>
            </a:r>
            <a:r>
              <a:rPr lang="en-US" sz="3200" dirty="0" err="1"/>
              <a:t>beberCafe</a:t>
            </a:r>
            <a:r>
              <a:rPr lang="en-US" sz="3200" dirty="0"/>
              <a:t>()</a:t>
            </a:r>
          </a:p>
          <a:p>
            <a:pPr marL="0" indent="0">
              <a:buNone/>
            </a:pPr>
            <a:r>
              <a:rPr lang="en-US" sz="3200" b="1" dirty="0"/>
              <a:t>FINALIZAR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901993-AED4-44EC-B44B-620F65C02637}"/>
              </a:ext>
            </a:extLst>
          </p:cNvPr>
          <p:cNvGrpSpPr/>
          <p:nvPr/>
        </p:nvGrpSpPr>
        <p:grpSpPr>
          <a:xfrm>
            <a:off x="5533239" y="4676775"/>
            <a:ext cx="3867936" cy="1540977"/>
            <a:chOff x="5533239" y="4676775"/>
            <a:chExt cx="3867936" cy="1540977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896E199-FA13-4101-AECD-964C40B80DDD}"/>
                </a:ext>
              </a:extLst>
            </p:cNvPr>
            <p:cNvCxnSpPr>
              <a:cxnSpLocks/>
            </p:cNvCxnSpPr>
            <p:nvPr/>
          </p:nvCxnSpPr>
          <p:spPr>
            <a:xfrm>
              <a:off x="8543925" y="4676775"/>
              <a:ext cx="85725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A707BF2C-B4ED-4C07-BFB1-20C7E4E0E59A}"/>
                </a:ext>
              </a:extLst>
            </p:cNvPr>
            <p:cNvSpPr/>
            <p:nvPr/>
          </p:nvSpPr>
          <p:spPr>
            <a:xfrm>
              <a:off x="5533239" y="5448192"/>
              <a:ext cx="2301427" cy="769560"/>
            </a:xfrm>
            <a:prstGeom prst="wedgeRoundRectCallout">
              <a:avLst>
                <a:gd name="adj1" fmla="val 78083"/>
                <a:gd name="adj2" fmla="val -15038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/>
                <a:t>Indentação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06D43EA-1C6A-459D-8A2D-86CE4A155F8F}"/>
              </a:ext>
            </a:extLst>
          </p:cNvPr>
          <p:cNvGrpSpPr/>
          <p:nvPr/>
        </p:nvGrpSpPr>
        <p:grpSpPr>
          <a:xfrm>
            <a:off x="8521363" y="2512487"/>
            <a:ext cx="907863" cy="4476750"/>
            <a:chOff x="7629525" y="1076325"/>
            <a:chExt cx="907863" cy="447675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106BFF8-F560-4D45-ADCC-A20AE19A63FF}"/>
                </a:ext>
              </a:extLst>
            </p:cNvPr>
            <p:cNvCxnSpPr/>
            <p:nvPr/>
          </p:nvCxnSpPr>
          <p:spPr>
            <a:xfrm>
              <a:off x="7629525" y="1076325"/>
              <a:ext cx="0" cy="4476750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62344B6-AA2E-4D1B-8659-C1E9E9D0CEFD}"/>
                </a:ext>
              </a:extLst>
            </p:cNvPr>
            <p:cNvCxnSpPr>
              <a:cxnSpLocks/>
            </p:cNvCxnSpPr>
            <p:nvPr/>
          </p:nvCxnSpPr>
          <p:spPr>
            <a:xfrm>
              <a:off x="8537388" y="2821513"/>
              <a:ext cx="0" cy="828675"/>
            </a:xfrm>
            <a:prstGeom prst="line">
              <a:avLst/>
            </a:prstGeom>
            <a:ln w="28575"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725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Estruturas de Fluxo Alternativo: Loop/Laço Enquanto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BD3F44E9-2B95-4E0D-B794-E84C6E6FE36D}"/>
              </a:ext>
            </a:extLst>
          </p:cNvPr>
          <p:cNvSpPr/>
          <p:nvPr/>
        </p:nvSpPr>
        <p:spPr>
          <a:xfrm>
            <a:off x="3552822" y="4398343"/>
            <a:ext cx="4333877" cy="156761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condição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43577A-F30F-4FF2-8347-76A1DFD6E6AB}"/>
              </a:ext>
            </a:extLst>
          </p:cNvPr>
          <p:cNvGrpSpPr/>
          <p:nvPr/>
        </p:nvGrpSpPr>
        <p:grpSpPr>
          <a:xfrm>
            <a:off x="5317739" y="1362584"/>
            <a:ext cx="804041" cy="721021"/>
            <a:chOff x="2837793" y="898634"/>
            <a:chExt cx="804041" cy="72102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DC94A3-9ACC-4427-8ADA-1A8D07BC1E71}"/>
                </a:ext>
              </a:extLst>
            </p:cNvPr>
            <p:cNvSpPr/>
            <p:nvPr/>
          </p:nvSpPr>
          <p:spPr>
            <a:xfrm>
              <a:off x="2837793" y="898634"/>
              <a:ext cx="804041" cy="7210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DC53C29-3FEF-4D81-8243-6DEA7AB1BEDE}"/>
                </a:ext>
              </a:extLst>
            </p:cNvPr>
            <p:cNvSpPr/>
            <p:nvPr/>
          </p:nvSpPr>
          <p:spPr>
            <a:xfrm>
              <a:off x="2990194" y="1019502"/>
              <a:ext cx="493986" cy="46892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2C0C36-596C-456F-A59C-28B8B9386582}"/>
              </a:ext>
            </a:extLst>
          </p:cNvPr>
          <p:cNvSpPr/>
          <p:nvPr/>
        </p:nvSpPr>
        <p:spPr>
          <a:xfrm>
            <a:off x="4007393" y="2804626"/>
            <a:ext cx="3424734" cy="603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Ação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498B90-2008-4521-9BF7-EF7C795B3A2C}"/>
              </a:ext>
            </a:extLst>
          </p:cNvPr>
          <p:cNvCxnSpPr>
            <a:cxnSpLocks/>
            <a:stCxn id="18" idx="4"/>
            <a:endCxn id="20" idx="0"/>
          </p:cNvCxnSpPr>
          <p:nvPr/>
        </p:nvCxnSpPr>
        <p:spPr>
          <a:xfrm>
            <a:off x="5719760" y="2083605"/>
            <a:ext cx="0" cy="72102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29472F-D521-4DFA-A904-C884402D528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5719760" y="3408352"/>
            <a:ext cx="0" cy="98999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9DFC2AB-8986-4E27-9270-790EAFE850D4}"/>
              </a:ext>
            </a:extLst>
          </p:cNvPr>
          <p:cNvGrpSpPr/>
          <p:nvPr/>
        </p:nvGrpSpPr>
        <p:grpSpPr>
          <a:xfrm>
            <a:off x="5398700" y="6815138"/>
            <a:ext cx="643591" cy="635803"/>
            <a:chOff x="5470140" y="6815138"/>
            <a:chExt cx="643591" cy="6358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3A0D33F-C2DA-4268-8323-53A5C30B7670}"/>
                </a:ext>
              </a:extLst>
            </p:cNvPr>
            <p:cNvSpPr/>
            <p:nvPr/>
          </p:nvSpPr>
          <p:spPr>
            <a:xfrm>
              <a:off x="5470140" y="6815138"/>
              <a:ext cx="643591" cy="635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85DE615-595D-4784-9BF4-CAB6A64B495F}"/>
                </a:ext>
              </a:extLst>
            </p:cNvPr>
            <p:cNvCxnSpPr>
              <a:cxnSpLocks/>
              <a:stCxn id="28" idx="1"/>
              <a:endCxn id="28" idx="5"/>
            </p:cNvCxnSpPr>
            <p:nvPr/>
          </p:nvCxnSpPr>
          <p:spPr>
            <a:xfrm>
              <a:off x="5564392" y="6908249"/>
              <a:ext cx="455087" cy="4495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0F3753-962D-46DA-9603-394129247A73}"/>
                </a:ext>
              </a:extLst>
            </p:cNvPr>
            <p:cNvCxnSpPr>
              <a:stCxn id="28" idx="3"/>
              <a:endCxn id="28" idx="7"/>
            </p:cNvCxnSpPr>
            <p:nvPr/>
          </p:nvCxnSpPr>
          <p:spPr>
            <a:xfrm flipV="1">
              <a:off x="5564392" y="6908249"/>
              <a:ext cx="455087" cy="4495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5DA73F-9ADA-45E5-B6CA-1161E7EA5EC9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>
            <a:off x="5719761" y="5965958"/>
            <a:ext cx="735" cy="84918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B6A207-9808-4961-8652-F9B3DEEB507D}"/>
              </a:ext>
            </a:extLst>
          </p:cNvPr>
          <p:cNvSpPr txBox="1"/>
          <p:nvPr/>
        </p:nvSpPr>
        <p:spPr>
          <a:xfrm>
            <a:off x="6116191" y="6113809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não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25FF4B1-FAE6-415F-80A9-5308F05F19AC}"/>
              </a:ext>
            </a:extLst>
          </p:cNvPr>
          <p:cNvCxnSpPr>
            <a:cxnSpLocks/>
            <a:endCxn id="20" idx="3"/>
          </p:cNvCxnSpPr>
          <p:nvPr/>
        </p:nvCxnSpPr>
        <p:spPr>
          <a:xfrm rot="16200000" flipV="1">
            <a:off x="7056038" y="3482578"/>
            <a:ext cx="2075662" cy="1323483"/>
          </a:xfrm>
          <a:prstGeom prst="bentConnector2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547FAB9-7474-4440-B651-7099E278634A}"/>
              </a:ext>
            </a:extLst>
          </p:cNvPr>
          <p:cNvCxnSpPr>
            <a:stCxn id="16" idx="3"/>
          </p:cNvCxnSpPr>
          <p:nvPr/>
        </p:nvCxnSpPr>
        <p:spPr>
          <a:xfrm flipV="1">
            <a:off x="7886699" y="5182150"/>
            <a:ext cx="878431" cy="1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0582C5-5A4D-4FDD-8C8A-1EE42B40E4EF}"/>
              </a:ext>
            </a:extLst>
          </p:cNvPr>
          <p:cNvSpPr txBox="1"/>
          <p:nvPr/>
        </p:nvSpPr>
        <p:spPr>
          <a:xfrm>
            <a:off x="8150056" y="5265426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3648847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Estruturas de Fluxo Alternativo: Loop/Laço Enquanto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BD3F44E9-2B95-4E0D-B794-E84C6E6FE36D}"/>
              </a:ext>
            </a:extLst>
          </p:cNvPr>
          <p:cNvSpPr/>
          <p:nvPr/>
        </p:nvSpPr>
        <p:spPr>
          <a:xfrm>
            <a:off x="413482" y="5016885"/>
            <a:ext cx="4333877" cy="127700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/>
              <a:t>n &lt; 10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43577A-F30F-4FF2-8347-76A1DFD6E6AB}"/>
              </a:ext>
            </a:extLst>
          </p:cNvPr>
          <p:cNvGrpSpPr/>
          <p:nvPr/>
        </p:nvGrpSpPr>
        <p:grpSpPr>
          <a:xfrm>
            <a:off x="2126864" y="1362584"/>
            <a:ext cx="804041" cy="721021"/>
            <a:chOff x="2837793" y="898634"/>
            <a:chExt cx="804041" cy="72102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DC94A3-9ACC-4427-8ADA-1A8D07BC1E71}"/>
                </a:ext>
              </a:extLst>
            </p:cNvPr>
            <p:cNvSpPr/>
            <p:nvPr/>
          </p:nvSpPr>
          <p:spPr>
            <a:xfrm>
              <a:off x="2837793" y="898634"/>
              <a:ext cx="804041" cy="72102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DC53C29-3FEF-4D81-8243-6DEA7AB1BEDE}"/>
                </a:ext>
              </a:extLst>
            </p:cNvPr>
            <p:cNvSpPr/>
            <p:nvPr/>
          </p:nvSpPr>
          <p:spPr>
            <a:xfrm>
              <a:off x="2990194" y="1019502"/>
              <a:ext cx="493986" cy="468929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2C0C36-596C-456F-A59C-28B8B9386582}"/>
              </a:ext>
            </a:extLst>
          </p:cNvPr>
          <p:cNvSpPr/>
          <p:nvPr/>
        </p:nvSpPr>
        <p:spPr>
          <a:xfrm>
            <a:off x="868054" y="3601301"/>
            <a:ext cx="3424734" cy="86833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n = n + 1</a:t>
            </a:r>
          </a:p>
          <a:p>
            <a:pPr algn="ctr"/>
            <a:r>
              <a:rPr lang="pt-BR" sz="2800" dirty="0"/>
              <a:t>imprimir(n)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498B90-2008-4521-9BF7-EF7C795B3A2C}"/>
              </a:ext>
            </a:extLst>
          </p:cNvPr>
          <p:cNvCxnSpPr>
            <a:cxnSpLocks/>
            <a:stCxn id="18" idx="4"/>
            <a:endCxn id="60" idx="0"/>
          </p:cNvCxnSpPr>
          <p:nvPr/>
        </p:nvCxnSpPr>
        <p:spPr>
          <a:xfrm flipH="1">
            <a:off x="2523360" y="2083605"/>
            <a:ext cx="5525" cy="42077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29472F-D521-4DFA-A904-C884402D5285}"/>
              </a:ext>
            </a:extLst>
          </p:cNvPr>
          <p:cNvCxnSpPr>
            <a:cxnSpLocks/>
            <a:stCxn id="20" idx="2"/>
            <a:endCxn id="16" idx="0"/>
          </p:cNvCxnSpPr>
          <p:nvPr/>
        </p:nvCxnSpPr>
        <p:spPr>
          <a:xfrm>
            <a:off x="2580421" y="4469637"/>
            <a:ext cx="0" cy="5472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9DFC2AB-8986-4E27-9270-790EAFE850D4}"/>
              </a:ext>
            </a:extLst>
          </p:cNvPr>
          <p:cNvGrpSpPr/>
          <p:nvPr/>
        </p:nvGrpSpPr>
        <p:grpSpPr>
          <a:xfrm>
            <a:off x="2258625" y="6815138"/>
            <a:ext cx="643591" cy="635803"/>
            <a:chOff x="5470140" y="6815138"/>
            <a:chExt cx="643591" cy="63580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3A0D33F-C2DA-4268-8323-53A5C30B7670}"/>
                </a:ext>
              </a:extLst>
            </p:cNvPr>
            <p:cNvSpPr/>
            <p:nvPr/>
          </p:nvSpPr>
          <p:spPr>
            <a:xfrm>
              <a:off x="5470140" y="6815138"/>
              <a:ext cx="643591" cy="635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85DE615-595D-4784-9BF4-CAB6A64B495F}"/>
                </a:ext>
              </a:extLst>
            </p:cNvPr>
            <p:cNvCxnSpPr>
              <a:cxnSpLocks/>
              <a:stCxn id="28" idx="1"/>
              <a:endCxn id="28" idx="5"/>
            </p:cNvCxnSpPr>
            <p:nvPr/>
          </p:nvCxnSpPr>
          <p:spPr>
            <a:xfrm>
              <a:off x="5564392" y="6908249"/>
              <a:ext cx="455087" cy="4495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0F3753-962D-46DA-9603-394129247A73}"/>
                </a:ext>
              </a:extLst>
            </p:cNvPr>
            <p:cNvCxnSpPr>
              <a:stCxn id="28" idx="3"/>
              <a:endCxn id="28" idx="7"/>
            </p:cNvCxnSpPr>
            <p:nvPr/>
          </p:nvCxnSpPr>
          <p:spPr>
            <a:xfrm flipV="1">
              <a:off x="5564392" y="6908249"/>
              <a:ext cx="455087" cy="44958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D5DA73F-9ADA-45E5-B6CA-1161E7EA5EC9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>
            <a:off x="2580421" y="6293890"/>
            <a:ext cx="0" cy="5212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B6A207-9808-4961-8652-F9B3DEEB507D}"/>
              </a:ext>
            </a:extLst>
          </p:cNvPr>
          <p:cNvSpPr txBox="1"/>
          <p:nvPr/>
        </p:nvSpPr>
        <p:spPr>
          <a:xfrm>
            <a:off x="2976116" y="6113809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não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25FF4B1-FAE6-415F-80A9-5308F05F19AC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03716" y="4388524"/>
            <a:ext cx="1555936" cy="977790"/>
          </a:xfrm>
          <a:prstGeom prst="bentConnector3">
            <a:avLst>
              <a:gd name="adj1" fmla="val 99790"/>
            </a:avLst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547FAB9-7474-4440-B651-7099E278634A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747359" y="5655387"/>
            <a:ext cx="523220" cy="1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0582C5-5A4D-4FDD-8C8A-1EE42B40E4EF}"/>
              </a:ext>
            </a:extLst>
          </p:cNvPr>
          <p:cNvSpPr txBox="1"/>
          <p:nvPr/>
        </p:nvSpPr>
        <p:spPr>
          <a:xfrm>
            <a:off x="4747359" y="5713028"/>
            <a:ext cx="6944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sim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2684279-F67A-4DFA-87DC-6827CF8BCF94}"/>
              </a:ext>
            </a:extLst>
          </p:cNvPr>
          <p:cNvSpPr/>
          <p:nvPr/>
        </p:nvSpPr>
        <p:spPr>
          <a:xfrm>
            <a:off x="810993" y="2504377"/>
            <a:ext cx="3424734" cy="603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n = 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FF5FCEA-5837-42FF-9724-4D3A13DD8138}"/>
              </a:ext>
            </a:extLst>
          </p:cNvPr>
          <p:cNvCxnSpPr>
            <a:cxnSpLocks/>
          </p:cNvCxnSpPr>
          <p:nvPr/>
        </p:nvCxnSpPr>
        <p:spPr>
          <a:xfrm>
            <a:off x="2560516" y="3134103"/>
            <a:ext cx="0" cy="5212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Espaço Reservado para Conteúdo 2">
            <a:extLst>
              <a:ext uri="{FF2B5EF4-FFF2-40B4-BE49-F238E27FC236}">
                <a16:creationId xmlns:a16="http://schemas.microsoft.com/office/drawing/2014/main" id="{9BCA09E6-E547-41F0-9B43-43F6F1B1C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8213" y="1509297"/>
            <a:ext cx="5729008" cy="5741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PROGRAMA </a:t>
            </a:r>
            <a:r>
              <a:rPr lang="en-US" dirty="0" err="1"/>
              <a:t>ImprimirNums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n=1</a:t>
            </a:r>
          </a:p>
          <a:p>
            <a:pPr marL="0" indent="0">
              <a:buNone/>
            </a:pPr>
            <a:r>
              <a:rPr lang="en-US" b="1" dirty="0" err="1"/>
              <a:t>enquanto</a:t>
            </a:r>
            <a:r>
              <a:rPr lang="en-US" dirty="0"/>
              <a:t> n &lt; 10</a:t>
            </a:r>
          </a:p>
          <a:p>
            <a:pPr marL="0" indent="0">
              <a:buNone/>
            </a:pPr>
            <a:r>
              <a:rPr lang="en-US" dirty="0"/>
              <a:t>        n = n + 1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imprimir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b="1" dirty="0"/>
              <a:t>FINALIZAR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ADE417-B0BF-4E6C-8BEF-B6072E133520}"/>
              </a:ext>
            </a:extLst>
          </p:cNvPr>
          <p:cNvGrpSpPr/>
          <p:nvPr/>
        </p:nvGrpSpPr>
        <p:grpSpPr>
          <a:xfrm>
            <a:off x="4485618" y="1076325"/>
            <a:ext cx="3918420" cy="4476750"/>
            <a:chOff x="4485618" y="1076325"/>
            <a:chExt cx="3918420" cy="44767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6E0D7C-B132-47FA-85EA-95CF9F20D671}"/>
                </a:ext>
              </a:extLst>
            </p:cNvPr>
            <p:cNvGrpSpPr/>
            <p:nvPr/>
          </p:nvGrpSpPr>
          <p:grpSpPr>
            <a:xfrm>
              <a:off x="4485618" y="2659908"/>
              <a:ext cx="3918420" cy="1665555"/>
              <a:chOff x="4485618" y="2659908"/>
              <a:chExt cx="3918420" cy="166555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8E4DA25-4726-4688-93B1-2253A6E9817B}"/>
                  </a:ext>
                </a:extLst>
              </p:cNvPr>
              <p:cNvGrpSpPr/>
              <p:nvPr/>
            </p:nvGrpSpPr>
            <p:grpSpPr>
              <a:xfrm>
                <a:off x="4485618" y="2659908"/>
                <a:ext cx="3918420" cy="1665555"/>
                <a:chOff x="5533239" y="5448192"/>
                <a:chExt cx="3918420" cy="1665555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89DFFC6C-FCDF-4E9F-B70E-83C444A3BD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5721" y="7113747"/>
                  <a:ext cx="745938" cy="0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Speech Bubble: Rectangle with Corners Rounded 24">
                  <a:extLst>
                    <a:ext uri="{FF2B5EF4-FFF2-40B4-BE49-F238E27FC236}">
                      <a16:creationId xmlns:a16="http://schemas.microsoft.com/office/drawing/2014/main" id="{F1D0E45A-C184-421D-B3B5-8262533A188A}"/>
                    </a:ext>
                  </a:extLst>
                </p:cNvPr>
                <p:cNvSpPr/>
                <p:nvPr/>
              </p:nvSpPr>
              <p:spPr>
                <a:xfrm>
                  <a:off x="5533239" y="5448192"/>
                  <a:ext cx="2301427" cy="769560"/>
                </a:xfrm>
                <a:prstGeom prst="wedgeRoundRectCallout">
                  <a:avLst>
                    <a:gd name="adj1" fmla="val 76428"/>
                    <a:gd name="adj2" fmla="val 107058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2400" dirty="0"/>
                    <a:t>Indentação</a:t>
                  </a:r>
                </a:p>
              </p:txBody>
            </p:sp>
          </p:grp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A28DBC7-3E0A-475D-B9BD-9712D20B1E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8100" y="3685039"/>
                <a:ext cx="745938" cy="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5B0928C-9B73-4ECD-A883-2AC05FB858C6}"/>
                </a:ext>
              </a:extLst>
            </p:cNvPr>
            <p:cNvGrpSpPr/>
            <p:nvPr/>
          </p:nvGrpSpPr>
          <p:grpSpPr>
            <a:xfrm>
              <a:off x="7629525" y="1076325"/>
              <a:ext cx="774513" cy="4476750"/>
              <a:chOff x="7629525" y="1076325"/>
              <a:chExt cx="774513" cy="447675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BD543FD-7530-4081-8CCC-EE05F650F5BB}"/>
                  </a:ext>
                </a:extLst>
              </p:cNvPr>
              <p:cNvCxnSpPr/>
              <p:nvPr/>
            </p:nvCxnSpPr>
            <p:spPr>
              <a:xfrm>
                <a:off x="7629525" y="1076325"/>
                <a:ext cx="0" cy="4476750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442B88B-D1CA-4634-B785-48F0C5169B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04038" y="3333750"/>
                <a:ext cx="0" cy="1219786"/>
              </a:xfrm>
              <a:prstGeom prst="line">
                <a:avLst/>
              </a:prstGeom>
              <a:ln w="28575"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45846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49DFA6-A727-4CF6-B1BC-96DCAFD961B4}"/>
              </a:ext>
            </a:extLst>
          </p:cNvPr>
          <p:cNvSpPr/>
          <p:nvPr/>
        </p:nvSpPr>
        <p:spPr>
          <a:xfrm>
            <a:off x="7327900" y="1295350"/>
            <a:ext cx="4813300" cy="372115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3EB8CE2-7644-467C-8372-9F26636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61697"/>
            <a:ext cx="6222999" cy="5589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PROGRAMA</a:t>
            </a:r>
            <a:r>
              <a:rPr lang="en-US" dirty="0"/>
              <a:t> </a:t>
            </a:r>
            <a:r>
              <a:rPr lang="en-US" dirty="0" err="1"/>
              <a:t>ImprimirNums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n=1</a:t>
            </a:r>
          </a:p>
          <a:p>
            <a:pPr marL="0" indent="0">
              <a:buNone/>
            </a:pPr>
            <a:r>
              <a:rPr lang="en-US" b="1" dirty="0" err="1"/>
              <a:t>enquanto</a:t>
            </a:r>
            <a:r>
              <a:rPr lang="en-US" dirty="0"/>
              <a:t> n &lt; 10</a:t>
            </a:r>
          </a:p>
          <a:p>
            <a:pPr marL="0" indent="0">
              <a:buNone/>
            </a:pPr>
            <a:r>
              <a:rPr lang="en-US" dirty="0"/>
              <a:t>        n = n + 1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imprimir</a:t>
            </a:r>
            <a:r>
              <a:rPr lang="en-US" dirty="0"/>
              <a:t>(n)</a:t>
            </a:r>
          </a:p>
          <a:p>
            <a:pPr marL="0" indent="0">
              <a:buNone/>
            </a:pPr>
            <a:r>
              <a:rPr lang="en-US" b="1" dirty="0"/>
              <a:t>FINALIZAR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 err="1"/>
              <a:t>Pseudo-código</a:t>
            </a:r>
            <a:r>
              <a:rPr lang="pt-BR" dirty="0"/>
              <a:t> (Código em Linguagem Natural)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1187422A-016E-47C3-BB84-747F5868A419}"/>
              </a:ext>
            </a:extLst>
          </p:cNvPr>
          <p:cNvSpPr txBox="1">
            <a:spLocks/>
          </p:cNvSpPr>
          <p:nvPr/>
        </p:nvSpPr>
        <p:spPr>
          <a:xfrm>
            <a:off x="7518213" y="2324099"/>
            <a:ext cx="4508687" cy="2578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n=1</a:t>
            </a:r>
          </a:p>
          <a:p>
            <a:pPr marL="0" indent="0">
              <a:buNone/>
            </a:pPr>
            <a:r>
              <a:rPr lang="en-US" b="1" dirty="0"/>
              <a:t>while</a:t>
            </a:r>
            <a:r>
              <a:rPr lang="en-US" dirty="0"/>
              <a:t> n &lt; 10: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n = n + 1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     print(n)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63465-D784-431E-8E62-C645C0555A84}"/>
              </a:ext>
            </a:extLst>
          </p:cNvPr>
          <p:cNvSpPr txBox="1"/>
          <p:nvPr/>
        </p:nvSpPr>
        <p:spPr>
          <a:xfrm>
            <a:off x="8191500" y="1295350"/>
            <a:ext cx="26709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</a:rPr>
              <a:t>Em python</a:t>
            </a:r>
            <a:endParaRPr lang="pt-BR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4347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Laço </a:t>
            </a:r>
            <a:r>
              <a:rPr lang="pt-BR" dirty="0" err="1"/>
              <a:t>Enquato</a:t>
            </a:r>
            <a:r>
              <a:rPr lang="pt-BR" dirty="0"/>
              <a:t> (</a:t>
            </a:r>
            <a:r>
              <a:rPr lang="pt-BR" dirty="0" err="1"/>
              <a:t>while</a:t>
            </a:r>
            <a:r>
              <a:rPr lang="pt-BR" dirty="0"/>
              <a:t>) em Python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9D9EDE-AB4B-4F8F-9A48-F7F80B2EF9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823" t="3449"/>
          <a:stretch/>
        </p:blipFill>
        <p:spPr>
          <a:xfrm>
            <a:off x="5092700" y="1249989"/>
            <a:ext cx="3441699" cy="629176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288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Estruturas de Fluxo Alternativo: Loop/Laço Enquanto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00B852-6BE3-4BD5-9440-972DBA2EFD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" t="8364" r="-362" b="7052"/>
          <a:stretch/>
        </p:blipFill>
        <p:spPr>
          <a:xfrm>
            <a:off x="514350" y="1077461"/>
            <a:ext cx="7454900" cy="6305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A3C72C-2728-480A-A86C-9F9CA973A636}"/>
              </a:ext>
            </a:extLst>
          </p:cNvPr>
          <p:cNvSpPr txBox="1"/>
          <p:nvPr/>
        </p:nvSpPr>
        <p:spPr>
          <a:xfrm>
            <a:off x="8187485" y="3425894"/>
            <a:ext cx="4328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CoffePot = Cafeteira</a:t>
            </a:r>
          </a:p>
        </p:txBody>
      </p:sp>
    </p:spTree>
    <p:extLst>
      <p:ext uri="{BB962C8B-B14F-4D97-AF65-F5344CB8AC3E}">
        <p14:creationId xmlns:p14="http://schemas.microsoft.com/office/powerpoint/2010/main" val="3017821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Estruturas de Fluxo Alternativo: Loop/Laço Enquanto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516FDA-F711-42E2-8F58-D39FA60E4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6" b="10941"/>
          <a:stretch/>
        </p:blipFill>
        <p:spPr>
          <a:xfrm>
            <a:off x="2768600" y="1371599"/>
            <a:ext cx="6783082" cy="6188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8E80A2-A3D8-4B43-8C58-A2193C373B42}"/>
              </a:ext>
            </a:extLst>
          </p:cNvPr>
          <p:cNvSpPr txBox="1"/>
          <p:nvPr/>
        </p:nvSpPr>
        <p:spPr>
          <a:xfrm>
            <a:off x="10047288" y="5757990"/>
            <a:ext cx="3031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mug = caneca</a:t>
            </a:r>
          </a:p>
        </p:txBody>
      </p:sp>
    </p:spTree>
    <p:extLst>
      <p:ext uri="{BB962C8B-B14F-4D97-AF65-F5344CB8AC3E}">
        <p14:creationId xmlns:p14="http://schemas.microsoft.com/office/powerpoint/2010/main" val="3904628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83EB8CE2-7644-467C-8372-9F266367A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61697"/>
            <a:ext cx="12468225" cy="26055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PROGRAMA</a:t>
            </a:r>
            <a:r>
              <a:rPr lang="en-US" dirty="0"/>
              <a:t> </a:t>
            </a:r>
            <a:r>
              <a:rPr lang="en-US" dirty="0" err="1"/>
              <a:t>ImprimirPalavras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Para </a:t>
            </a:r>
            <a:r>
              <a:rPr lang="en-US" b="1" dirty="0" err="1"/>
              <a:t>Cada</a:t>
            </a:r>
            <a:r>
              <a:rPr lang="en-US" dirty="0"/>
              <a:t> p </a:t>
            </a:r>
            <a:r>
              <a:rPr lang="en-US" b="1" dirty="0"/>
              <a:t>em</a:t>
            </a:r>
            <a:r>
              <a:rPr lang="en-US" dirty="0"/>
              <a:t> ['</a:t>
            </a:r>
            <a:r>
              <a:rPr lang="en-US" dirty="0" err="1"/>
              <a:t>ontem</a:t>
            </a:r>
            <a:r>
              <a:rPr lang="en-US" dirty="0"/>
              <a:t>','</a:t>
            </a:r>
            <a:r>
              <a:rPr lang="en-US" dirty="0" err="1"/>
              <a:t>hoje</a:t>
            </a:r>
            <a:r>
              <a:rPr lang="en-US" dirty="0"/>
              <a:t>','</a:t>
            </a:r>
            <a:r>
              <a:rPr lang="en-US" dirty="0" err="1"/>
              <a:t>amanha</a:t>
            </a:r>
            <a:r>
              <a:rPr lang="en-US" dirty="0"/>
              <a:t>']: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imprimir</a:t>
            </a:r>
            <a:r>
              <a:rPr lang="en-US" dirty="0"/>
              <a:t>(p)</a:t>
            </a:r>
          </a:p>
          <a:p>
            <a:pPr marL="0" indent="0">
              <a:buNone/>
            </a:pPr>
            <a:r>
              <a:rPr lang="en-US" b="1" dirty="0"/>
              <a:t>FINALIZAR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Loop/Laço "Para cada" (for)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AAD19-3BD6-4021-BB2F-B5A9D2B32B71}"/>
              </a:ext>
            </a:extLst>
          </p:cNvPr>
          <p:cNvSpPr/>
          <p:nvPr/>
        </p:nvSpPr>
        <p:spPr>
          <a:xfrm>
            <a:off x="97048" y="4149765"/>
            <a:ext cx="5717156" cy="32739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EAA1EBA0-EE23-4DBB-ABE6-0C2EE3C68059}"/>
              </a:ext>
            </a:extLst>
          </p:cNvPr>
          <p:cNvSpPr txBox="1">
            <a:spLocks/>
          </p:cNvSpPr>
          <p:nvPr/>
        </p:nvSpPr>
        <p:spPr>
          <a:xfrm>
            <a:off x="114301" y="5301542"/>
            <a:ext cx="5840802" cy="1739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for </a:t>
            </a:r>
            <a:r>
              <a:rPr lang="en-US" sz="3200" dirty="0"/>
              <a:t>p</a:t>
            </a:r>
            <a:r>
              <a:rPr lang="en-US" sz="3200" b="1" dirty="0"/>
              <a:t> in </a:t>
            </a:r>
            <a:r>
              <a:rPr lang="en-US" sz="3200" dirty="0"/>
              <a:t>['</a:t>
            </a:r>
            <a:r>
              <a:rPr lang="en-US" sz="3200" dirty="0" err="1"/>
              <a:t>ontem</a:t>
            </a:r>
            <a:r>
              <a:rPr lang="en-US" sz="3200" dirty="0"/>
              <a:t>','</a:t>
            </a:r>
            <a:r>
              <a:rPr lang="en-US" sz="3200" dirty="0" err="1"/>
              <a:t>hoje</a:t>
            </a:r>
            <a:r>
              <a:rPr lang="en-US" sz="3200" dirty="0"/>
              <a:t>','</a:t>
            </a:r>
            <a:r>
              <a:rPr lang="en-US" sz="3200" dirty="0" err="1"/>
              <a:t>amanha</a:t>
            </a:r>
            <a:r>
              <a:rPr lang="en-US" sz="3200" dirty="0"/>
              <a:t>']: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/>
              <a:t>   print(p)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EB98D-B0C6-4BD0-B3FD-74D404106B95}"/>
              </a:ext>
            </a:extLst>
          </p:cNvPr>
          <p:cNvSpPr txBox="1"/>
          <p:nvPr/>
        </p:nvSpPr>
        <p:spPr>
          <a:xfrm>
            <a:off x="1689323" y="4267200"/>
            <a:ext cx="2215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</a:rPr>
              <a:t>Em python</a:t>
            </a:r>
            <a:endParaRPr lang="pt-BR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3F1A7B-8655-40E3-839B-8D6037A41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968" y="4637644"/>
            <a:ext cx="7514096" cy="15626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747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uiExpand="1" build="p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Loop for em python: O que esse programa faz ?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51C9F9-D6F7-4615-9558-3FE2D7B23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28" y="1509297"/>
            <a:ext cx="12358325" cy="50301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4379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Loop for em python: O que esse programa faz ?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3666B-9A1C-494C-BD48-22A34D036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5213"/>
            <a:ext cx="6007100" cy="4457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F91D82-03FA-4DBB-92AA-F38D9A025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113" y="1745213"/>
            <a:ext cx="6299188" cy="44575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4505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Loop for com condicional: O que esse programa faz ?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FA6EBA0F-A973-4D2C-983E-9B1663E5A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551" y="6654800"/>
            <a:ext cx="7664450" cy="698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 </a:t>
            </a:r>
            <a:r>
              <a:rPr lang="en-US" dirty="0" err="1"/>
              <a:t>operador</a:t>
            </a:r>
            <a:r>
              <a:rPr lang="en-US" dirty="0"/>
              <a:t> </a:t>
            </a:r>
            <a:r>
              <a:rPr lang="en-US" b="1" dirty="0"/>
              <a:t>%</a:t>
            </a:r>
            <a:r>
              <a:rPr lang="en-US" dirty="0"/>
              <a:t> </a:t>
            </a:r>
            <a:r>
              <a:rPr lang="en-US" dirty="0" err="1"/>
              <a:t>calcula</a:t>
            </a:r>
            <a:r>
              <a:rPr lang="en-US" dirty="0"/>
              <a:t> o resto da </a:t>
            </a:r>
            <a:r>
              <a:rPr lang="en-US" dirty="0" err="1"/>
              <a:t>divisão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18973A-AFF9-4E34-9ECD-7E05FCB8E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006" y="1249990"/>
            <a:ext cx="8814294" cy="52543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622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/>
          </a:bodyPr>
          <a:lstStyle/>
          <a:p>
            <a:r>
              <a:rPr lang="pt-BR" dirty="0"/>
              <a:t>Loop for com condicional e operador lógico E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C0D0DA48-D627-43C3-88AC-DB68096F7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553914"/>
              </p:ext>
            </p:extLst>
          </p:nvPr>
        </p:nvGraphicFramePr>
        <p:xfrm>
          <a:off x="9391651" y="1854826"/>
          <a:ext cx="353377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887">
                  <a:extLst>
                    <a:ext uri="{9D8B030D-6E8A-4147-A177-3AD203B41FA5}">
                      <a16:colId xmlns:a16="http://schemas.microsoft.com/office/drawing/2014/main" val="1596631372"/>
                    </a:ext>
                  </a:extLst>
                </a:gridCol>
                <a:gridCol w="1766887">
                  <a:extLst>
                    <a:ext uri="{9D8B030D-6E8A-4147-A177-3AD203B41FA5}">
                      <a16:colId xmlns:a16="http://schemas.microsoft.com/office/drawing/2014/main" val="1456929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800" dirty="0"/>
                        <a:t>n*n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64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2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7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1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5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08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111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4701098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5F05231-CAED-43F7-8CB9-C537C240B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45" y="1854826"/>
            <a:ext cx="8862893" cy="41955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9636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>
            <a:normAutofit fontScale="90000"/>
          </a:bodyPr>
          <a:lstStyle/>
          <a:p>
            <a:r>
              <a:rPr lang="pt-BR" dirty="0"/>
              <a:t>Loop for com condicional, operador lógico E </a:t>
            </a:r>
            <a:r>
              <a:rPr lang="pt-BR" dirty="0" err="1"/>
              <a:t>e</a:t>
            </a:r>
            <a:r>
              <a:rPr lang="pt-BR" dirty="0"/>
              <a:t> acumulador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3F810773-10F2-4C3F-A970-C0477D8BD59E}"/>
              </a:ext>
            </a:extLst>
          </p:cNvPr>
          <p:cNvSpPr txBox="1">
            <a:spLocks/>
          </p:cNvSpPr>
          <p:nvPr/>
        </p:nvSpPr>
        <p:spPr>
          <a:xfrm>
            <a:off x="457200" y="1509297"/>
            <a:ext cx="12468225" cy="6050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4F935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9664F-8F3B-479F-964B-8BE33A2F6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54" y="1407109"/>
            <a:ext cx="8325618" cy="485399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044C36B4-EA03-4184-B6E9-3FF7B2636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97859"/>
              </p:ext>
            </p:extLst>
          </p:nvPr>
        </p:nvGraphicFramePr>
        <p:xfrm>
          <a:off x="8926512" y="1407109"/>
          <a:ext cx="39989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971">
                  <a:extLst>
                    <a:ext uri="{9D8B030D-6E8A-4147-A177-3AD203B41FA5}">
                      <a16:colId xmlns:a16="http://schemas.microsoft.com/office/drawing/2014/main" val="1596631372"/>
                    </a:ext>
                  </a:extLst>
                </a:gridCol>
                <a:gridCol w="1332971">
                  <a:extLst>
                    <a:ext uri="{9D8B030D-6E8A-4147-A177-3AD203B41FA5}">
                      <a16:colId xmlns:a16="http://schemas.microsoft.com/office/drawing/2014/main" val="1456929234"/>
                    </a:ext>
                  </a:extLst>
                </a:gridCol>
                <a:gridCol w="1332971">
                  <a:extLst>
                    <a:ext uri="{9D8B030D-6E8A-4147-A177-3AD203B41FA5}">
                      <a16:colId xmlns:a16="http://schemas.microsoft.com/office/drawing/2014/main" val="3451838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n*n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642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20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870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514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45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08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09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06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0024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Cadernos (notebooks</a:t>
            </a:r>
            <a:r>
              <a:rPr lang="pt-BR"/>
              <a:t>) Colab </a:t>
            </a:r>
            <a:r>
              <a:rPr lang="pt-BR" dirty="0"/>
              <a:t>desse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4776"/>
            <a:ext cx="12374879" cy="6172673"/>
          </a:xfrm>
        </p:spPr>
        <p:txBody>
          <a:bodyPr>
            <a:normAutofit/>
          </a:bodyPr>
          <a:lstStyle/>
          <a:p>
            <a:r>
              <a:rPr lang="pt-BR" dirty="0" err="1"/>
              <a:t>AulaX_Teoria_ZZZ</a:t>
            </a:r>
            <a:r>
              <a:rPr lang="pt-BR" dirty="0"/>
              <a:t>                                </a:t>
            </a:r>
            <a:r>
              <a:rPr lang="pt-BR" dirty="0">
                <a:solidFill>
                  <a:srgbClr val="FF0000"/>
                </a:solidFill>
              </a:rPr>
              <a:t>-    1. Lembrar / 2.Entender</a:t>
            </a:r>
          </a:p>
          <a:p>
            <a:pPr lvl="1"/>
            <a:r>
              <a:rPr lang="pt-BR" dirty="0"/>
              <a:t>Códigos apresentados nos slides</a:t>
            </a:r>
          </a:p>
          <a:p>
            <a:r>
              <a:rPr lang="pt-BR" dirty="0" err="1"/>
              <a:t>AulaX_Warmup</a:t>
            </a:r>
            <a:r>
              <a:rPr lang="pt-BR" dirty="0"/>
              <a:t>(_</a:t>
            </a:r>
            <a:r>
              <a:rPr lang="pt-BR" dirty="0" err="1"/>
              <a:t>Solucoes</a:t>
            </a:r>
            <a:r>
              <a:rPr lang="pt-BR" dirty="0"/>
              <a:t>)               </a:t>
            </a:r>
            <a:r>
              <a:rPr lang="pt-BR" dirty="0">
                <a:solidFill>
                  <a:srgbClr val="FF0000"/>
                </a:solidFill>
              </a:rPr>
              <a:t>-    1. Lembrar / 2.Entender</a:t>
            </a:r>
            <a:endParaRPr lang="pt-BR" dirty="0"/>
          </a:p>
          <a:p>
            <a:pPr lvl="1"/>
            <a:r>
              <a:rPr lang="pt-BR" dirty="0"/>
              <a:t>Exercícios básicos (elementares) de aquecimento</a:t>
            </a:r>
          </a:p>
          <a:p>
            <a:r>
              <a:rPr lang="pt-BR" dirty="0" err="1"/>
              <a:t>AulaX_Exercicio</a:t>
            </a:r>
            <a:r>
              <a:rPr lang="pt-BR" dirty="0"/>
              <a:t>                                   </a:t>
            </a:r>
            <a:r>
              <a:rPr lang="pt-BR" dirty="0">
                <a:solidFill>
                  <a:srgbClr val="FF0000"/>
                </a:solidFill>
              </a:rPr>
              <a:t>-    3. Aplicar</a:t>
            </a:r>
            <a:endParaRPr lang="pt-BR" dirty="0"/>
          </a:p>
          <a:p>
            <a:pPr lvl="1"/>
            <a:r>
              <a:rPr lang="pt-BR" dirty="0"/>
              <a:t>Exercícios práticos</a:t>
            </a:r>
          </a:p>
          <a:p>
            <a:r>
              <a:rPr lang="pt-BR" dirty="0" err="1"/>
              <a:t>AulaX_Exercicio_Extra</a:t>
            </a:r>
            <a:r>
              <a:rPr lang="pt-BR" dirty="0"/>
              <a:t>(_</a:t>
            </a:r>
            <a:r>
              <a:rPr lang="pt-BR" dirty="0" err="1"/>
              <a:t>Solucoes</a:t>
            </a:r>
            <a:r>
              <a:rPr lang="pt-BR" dirty="0"/>
              <a:t>)   </a:t>
            </a:r>
            <a:r>
              <a:rPr lang="pt-BR" dirty="0">
                <a:solidFill>
                  <a:srgbClr val="FF0000"/>
                </a:solidFill>
              </a:rPr>
              <a:t>-    3. Aplicar</a:t>
            </a:r>
            <a:endParaRPr lang="pt-BR" dirty="0"/>
          </a:p>
          <a:p>
            <a:pPr lvl="1"/>
            <a:r>
              <a:rPr lang="pt-BR"/>
              <a:t>Exercícios extra</a:t>
            </a:r>
            <a:endParaRPr lang="pt-BR" dirty="0"/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3DE1D80A-CAAD-4418-B495-FA153E6B7081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23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1C321FA-840D-4BE5-9B5A-EC9D12CC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2698" y="5291540"/>
            <a:ext cx="4991692" cy="224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07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>
            <a:spLocks noGrp="1"/>
          </p:cNvSpPr>
          <p:nvPr>
            <p:ph type="ctrTitle"/>
          </p:nvPr>
        </p:nvSpPr>
        <p:spPr>
          <a:xfrm>
            <a:off x="1679574" y="155598"/>
            <a:ext cx="10080625" cy="939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Calibri"/>
              <a:buNone/>
            </a:pPr>
            <a:r>
              <a:rPr lang="en-US" dirty="0" err="1"/>
              <a:t>Comece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lhe</a:t>
            </a:r>
            <a:r>
              <a:rPr lang="en-US" dirty="0"/>
              <a:t> </a:t>
            </a:r>
            <a:r>
              <a:rPr lang="en-US" dirty="0" err="1"/>
              <a:t>convier</a:t>
            </a:r>
            <a:endParaRPr dirty="0"/>
          </a:p>
        </p:txBody>
      </p:sp>
      <p:sp>
        <p:nvSpPr>
          <p:cNvPr id="362" name="Google Shape;362;p35"/>
          <p:cNvSpPr txBox="1"/>
          <p:nvPr/>
        </p:nvSpPr>
        <p:spPr>
          <a:xfrm>
            <a:off x="333315" y="1008408"/>
            <a:ext cx="12773142" cy="2768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Escolham por onde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começar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Teoria, Warmup </a:t>
            </a:r>
            <a:r>
              <a:rPr lang="en-US" sz="36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Exercícios;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warmups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já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estão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publicadas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exercícios extra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serão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disponibilizadas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final do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dia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;</a:t>
            </a:r>
            <a:endParaRPr sz="3200" dirty="0">
              <a:solidFill>
                <a:srgbClr val="0206BE"/>
              </a:solidFill>
              <a:ea typeface="Source Code Pro" panose="020B0509030403020204" pitchFamily="49" charset="0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É esperado que </a:t>
            </a:r>
            <a:r>
              <a:rPr lang="en-US" sz="3600" dirty="0" err="1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não</a:t>
            </a:r>
            <a:r>
              <a:rPr lang="en-US" sz="3600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 terminem todos os exercícios durante a aula; </a:t>
            </a:r>
          </a:p>
          <a:p>
            <a:pPr marL="898525" marR="0" lvl="1" indent="-44132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Façam o restante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longo da semana.</a:t>
            </a:r>
            <a:endParaRPr sz="3200" dirty="0">
              <a:solidFill>
                <a:srgbClr val="0206BE"/>
              </a:solidFill>
              <a:ea typeface="Source Code Pro" panose="020B0509030403020204" pitchFamily="49" charset="0"/>
              <a:sym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7893F81-54CF-42B0-AFF6-3EAB49B88B50}"/>
              </a:ext>
            </a:extLst>
          </p:cNvPr>
          <p:cNvGraphicFramePr/>
          <p:nvPr/>
        </p:nvGraphicFramePr>
        <p:xfrm>
          <a:off x="76491" y="4714863"/>
          <a:ext cx="13286792" cy="2743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Left Brace 1">
            <a:extLst>
              <a:ext uri="{FF2B5EF4-FFF2-40B4-BE49-F238E27FC236}">
                <a16:creationId xmlns:a16="http://schemas.microsoft.com/office/drawing/2014/main" id="{45920099-2B37-47E3-9D7D-3C9DC56451A5}"/>
              </a:ext>
            </a:extLst>
          </p:cNvPr>
          <p:cNvSpPr/>
          <p:nvPr/>
        </p:nvSpPr>
        <p:spPr>
          <a:xfrm rot="5400000">
            <a:off x="9958331" y="1309911"/>
            <a:ext cx="342899" cy="6467006"/>
          </a:xfrm>
          <a:prstGeom prst="leftBrace">
            <a:avLst>
              <a:gd name="adj1" fmla="val 25000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C532D-A081-4864-9187-AE9BE5114D7F}"/>
              </a:ext>
            </a:extLst>
          </p:cNvPr>
          <p:cNvSpPr txBox="1"/>
          <p:nvPr/>
        </p:nvSpPr>
        <p:spPr>
          <a:xfrm>
            <a:off x="9246429" y="3777331"/>
            <a:ext cx="176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2556"/>
            <a:ext cx="11591925" cy="1239044"/>
          </a:xfrm>
        </p:spPr>
        <p:txBody>
          <a:bodyPr>
            <a:normAutofit/>
          </a:bodyPr>
          <a:lstStyle/>
          <a:p>
            <a:r>
              <a:rPr lang="pt-BR" dirty="0"/>
              <a:t>Exercícios de Lógica de Programação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EF2AFD5B-077F-4BD2-B46F-83148F0A9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58" y="1513491"/>
            <a:ext cx="12593052" cy="5608526"/>
          </a:xfrm>
        </p:spPr>
        <p:txBody>
          <a:bodyPr>
            <a:normAutofit/>
          </a:bodyPr>
          <a:lstStyle/>
          <a:p>
            <a:r>
              <a:rPr lang="pt-BR" dirty="0"/>
              <a:t>Link de acesso</a:t>
            </a:r>
          </a:p>
          <a:p>
            <a:pPr lvl="1"/>
            <a:r>
              <a:rPr lang="pt-BR" dirty="0">
                <a:hlinkClick r:id="rId2"/>
              </a:rPr>
              <a:t>https://forms.gle/eWiGZBZaTVGcXun77</a:t>
            </a:r>
            <a:endParaRPr lang="pt-BR" dirty="0"/>
          </a:p>
          <a:p>
            <a:r>
              <a:rPr lang="pt-BR" dirty="0"/>
              <a:t>Para as questões de fluxograma, </a:t>
            </a:r>
          </a:p>
          <a:p>
            <a:pPr lvl="1"/>
            <a:r>
              <a:rPr lang="pt-BR" dirty="0"/>
              <a:t>utilize qualquer meio para desenhá-los </a:t>
            </a:r>
          </a:p>
          <a:p>
            <a:pPr lvl="2"/>
            <a:r>
              <a:rPr lang="pt-BR" dirty="0"/>
              <a:t>preferencialmente desenho manual com papel e caneta</a:t>
            </a:r>
          </a:p>
          <a:p>
            <a:pPr lvl="1"/>
            <a:r>
              <a:rPr lang="pt-BR" dirty="0"/>
              <a:t>tire uma foto e faça o upload do arquivo da foto no formulário.</a:t>
            </a:r>
          </a:p>
          <a:p>
            <a:r>
              <a:rPr lang="pt-BR" dirty="0"/>
              <a:t>Atente para a indentação / </a:t>
            </a:r>
            <a:r>
              <a:rPr lang="pt-BR" dirty="0" err="1"/>
              <a:t>aninhamento</a:t>
            </a:r>
            <a:r>
              <a:rPr lang="pt-BR" dirty="0"/>
              <a:t> de </a:t>
            </a:r>
            <a:r>
              <a:rPr lang="pt-BR"/>
              <a:t>sentenças compostas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660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760CB075-D757-4024-A220-E146A3D9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 do Curso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7E6259-88FA-4ED5-999D-1FC7C4C6F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McKinney, W. (2018). Python for data analysis: Data wrangling with pandas, NumPy, and </a:t>
            </a:r>
            <a:r>
              <a:rPr lang="en-US" sz="3600" b="1" dirty="0" err="1"/>
              <a:t>IPython</a:t>
            </a:r>
            <a:r>
              <a:rPr lang="en-US" sz="3600" b="1" dirty="0"/>
              <a:t>.</a:t>
            </a:r>
          </a:p>
          <a:p>
            <a:r>
              <a:rPr lang="en-US" dirty="0"/>
              <a:t>Downey, Allen. </a:t>
            </a:r>
            <a:r>
              <a:rPr lang="en-US" i="1" dirty="0"/>
              <a:t>Python for Software Design: How to Think Like a Computer Scientist</a:t>
            </a:r>
            <a:r>
              <a:rPr lang="en-US" dirty="0"/>
              <a:t>. Leiden: Cambridge University Press, 2009. </a:t>
            </a:r>
            <a:r>
              <a:rPr lang="en-US"/>
              <a:t>Internet resource. </a:t>
            </a:r>
            <a:endParaRPr lang="en-US" sz="3600" b="1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DFA134D8-A00C-48BD-A45E-539A1EF4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12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Quando você pensar que não vale a pena experimentar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Se você falha ao planejar, está planejando falhar.</a:t>
            </a:r>
          </a:p>
          <a:p>
            <a:pPr lvl="1"/>
            <a:r>
              <a:rPr lang="pt-BR" i="1" dirty="0"/>
              <a:t>Benjamin Franklin</a:t>
            </a:r>
          </a:p>
          <a:p>
            <a:r>
              <a:rPr lang="pt-BR" dirty="0"/>
              <a:t>Se enxerguei mais longe, foi porque me apoiei em ombros de gigantes.</a:t>
            </a:r>
          </a:p>
          <a:p>
            <a:pPr lvl="1">
              <a:lnSpc>
                <a:spcPct val="100000"/>
              </a:lnSpc>
            </a:pPr>
            <a:r>
              <a:rPr lang="pt-BR" i="1" dirty="0"/>
              <a:t>Bernard of Chartres / Isaac Newton </a:t>
            </a:r>
          </a:p>
          <a:p>
            <a:r>
              <a:rPr lang="pt-BR" dirty="0"/>
              <a:t>Dê-me seis horas para derrubar uma árvore e passarei as quatro primeiras afiando o machado.</a:t>
            </a:r>
          </a:p>
          <a:p>
            <a:pPr lvl="1">
              <a:lnSpc>
                <a:spcPct val="100000"/>
              </a:lnSpc>
            </a:pPr>
            <a:r>
              <a:rPr lang="pt-BR" i="1" dirty="0"/>
              <a:t>Abraham Lincoln</a:t>
            </a:r>
          </a:p>
          <a:p>
            <a:r>
              <a:rPr lang="pt-BR" dirty="0"/>
              <a:t>A definição de insanidade é fazer a mesma coisa repetidamente e esperar resultados diferentes.</a:t>
            </a:r>
          </a:p>
          <a:p>
            <a:pPr lvl="1">
              <a:lnSpc>
                <a:spcPct val="100000"/>
              </a:lnSpc>
            </a:pPr>
            <a:r>
              <a:rPr lang="pt-BR" i="1" dirty="0"/>
              <a:t>Rita Mae Brown / Albert Einstein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042506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62631"/>
          </a:xfrm>
        </p:spPr>
        <p:txBody>
          <a:bodyPr/>
          <a:lstStyle/>
          <a:p>
            <a:r>
              <a:rPr lang="pt-BR" dirty="0"/>
              <a:t>Porque agregar novas habilidades (capacitação)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00766"/>
            <a:ext cx="12374879" cy="61233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noProof="1"/>
              <a:t>Manter-se atualizado com as tendências</a:t>
            </a:r>
          </a:p>
          <a:p>
            <a:pPr lvl="1">
              <a:lnSpc>
                <a:spcPct val="100000"/>
              </a:lnSpc>
            </a:pPr>
            <a:r>
              <a:rPr lang="pt-BR" noProof="1"/>
              <a:t>Que vão dominar o futuro</a:t>
            </a:r>
          </a:p>
          <a:p>
            <a:endParaRPr lang="pt-BR" noProof="1"/>
          </a:p>
          <a:p>
            <a:endParaRPr lang="pt-BR" noProof="1"/>
          </a:p>
          <a:p>
            <a:r>
              <a:rPr lang="pt-BR" noProof="1"/>
              <a:t>Atitude de crescimento (Growth mindset)</a:t>
            </a:r>
          </a:p>
          <a:p>
            <a:pPr lvl="1"/>
            <a:r>
              <a:rPr lang="pt-BR" noProof="1"/>
              <a:t>Quando acreditamos que nossa </a:t>
            </a:r>
          </a:p>
          <a:p>
            <a:pPr lvl="2"/>
            <a:r>
              <a:rPr lang="pt-BR" noProof="1"/>
              <a:t>inteligência, </a:t>
            </a:r>
          </a:p>
          <a:p>
            <a:pPr lvl="2"/>
            <a:r>
              <a:rPr lang="pt-BR" noProof="1"/>
              <a:t>habilidades criativas e </a:t>
            </a:r>
          </a:p>
          <a:p>
            <a:pPr lvl="2"/>
            <a:r>
              <a:rPr lang="pt-BR" noProof="1"/>
              <a:t>caráter </a:t>
            </a:r>
          </a:p>
          <a:p>
            <a:pPr lvl="3"/>
            <a:r>
              <a:rPr lang="pt-BR" noProof="1"/>
              <a:t>são coisas que podemos melhorar significativamente. </a:t>
            </a:r>
          </a:p>
          <a:p>
            <a:pPr lvl="4"/>
            <a:r>
              <a:rPr lang="pt-BR" noProof="1"/>
              <a:t>Não saber é visto como uma oportunidade.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ABA46C-B2B2-4AB2-A12B-5496264B22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75" b="23313"/>
          <a:stretch/>
        </p:blipFill>
        <p:spPr>
          <a:xfrm>
            <a:off x="9265436" y="4031088"/>
            <a:ext cx="4091338" cy="216883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092D28B-610D-4C7F-80B3-0A389FEB31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4"/>
          <a:stretch/>
        </p:blipFill>
        <p:spPr>
          <a:xfrm>
            <a:off x="9265436" y="1184856"/>
            <a:ext cx="4091338" cy="23871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02CEA3A-8BF3-4DA8-95D5-2E975C667501}"/>
              </a:ext>
            </a:extLst>
          </p:cNvPr>
          <p:cNvSpPr txBox="1"/>
          <p:nvPr/>
        </p:nvSpPr>
        <p:spPr>
          <a:xfrm>
            <a:off x="923925" y="7091346"/>
            <a:ext cx="106761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Growth Mindset (Carow Dweck): </a:t>
            </a:r>
            <a:r>
              <a:rPr lang="pt-BR" sz="2400" dirty="0">
                <a:hlinkClick r:id="rId4"/>
              </a:rPr>
              <a:t>https://www.youtube.com/watch?v=hiiEeMN7vbQ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218795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1419368"/>
            <a:ext cx="12694194" cy="6071286"/>
          </a:xfrm>
        </p:spPr>
        <p:txBody>
          <a:bodyPr>
            <a:normAutofit/>
          </a:bodyPr>
          <a:lstStyle/>
          <a:p>
            <a:r>
              <a:rPr lang="en-US" sz="3200" dirty="0"/>
              <a:t>"Challenges are what make life interesting. </a:t>
            </a:r>
          </a:p>
          <a:p>
            <a:pPr marL="0" indent="0">
              <a:buNone/>
            </a:pPr>
            <a:r>
              <a:rPr lang="en-US" sz="3200" dirty="0"/>
              <a:t>Overcoming them is what makes life meaningful." </a:t>
            </a:r>
          </a:p>
          <a:p>
            <a:pPr lvl="1"/>
            <a:r>
              <a:rPr lang="en-US" sz="2800" dirty="0"/>
              <a:t>Joshua Marine</a:t>
            </a:r>
          </a:p>
          <a:p>
            <a:r>
              <a:rPr lang="en-US" sz="3200" dirty="0"/>
              <a:t>"It's kind of fun to do the impossible." </a:t>
            </a:r>
          </a:p>
          <a:p>
            <a:pPr lvl="1"/>
            <a:r>
              <a:rPr lang="en-US" sz="2800" dirty="0"/>
              <a:t>Walt Disney</a:t>
            </a:r>
          </a:p>
          <a:p>
            <a:r>
              <a:rPr lang="en-US" sz="3200" dirty="0"/>
              <a:t>"The problem human beings face is not that we aim too high and fail, but that we aim too low and succeed." </a:t>
            </a:r>
          </a:p>
          <a:p>
            <a:pPr lvl="1"/>
            <a:r>
              <a:rPr lang="en-US" sz="2800" dirty="0"/>
              <a:t>Michelangelo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B8A88F5-EA54-4B0F-B3B6-5631C768D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6" y="172353"/>
            <a:ext cx="7698000" cy="941161"/>
          </a:xfrm>
        </p:spPr>
        <p:txBody>
          <a:bodyPr/>
          <a:lstStyle/>
          <a:p>
            <a:r>
              <a:rPr lang="pt-BR" dirty="0"/>
              <a:t>Growth Mindset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E04C97-EECE-58FF-8D6B-41A7C3CBF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7" r="16105"/>
          <a:stretch/>
        </p:blipFill>
        <p:spPr>
          <a:xfrm>
            <a:off x="9115622" y="172353"/>
            <a:ext cx="4107119" cy="366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67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941161"/>
          </a:xfrm>
        </p:spPr>
        <p:txBody>
          <a:bodyPr/>
          <a:lstStyle/>
          <a:p>
            <a:r>
              <a:rPr lang="pt-BR" dirty="0"/>
              <a:t>Growth Mindset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4856"/>
            <a:ext cx="12385343" cy="6239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"Becoming is better than being." </a:t>
            </a:r>
          </a:p>
          <a:p>
            <a:pPr lvl="1"/>
            <a:r>
              <a:rPr lang="en-US" dirty="0"/>
              <a:t>Carol Dweck</a:t>
            </a:r>
          </a:p>
          <a:p>
            <a:r>
              <a:rPr lang="en-US" dirty="0"/>
              <a:t>"Life isn't about finding yourself. Life is about creating yourself." </a:t>
            </a:r>
          </a:p>
          <a:p>
            <a:pPr lvl="1"/>
            <a:r>
              <a:rPr lang="en-US" dirty="0"/>
              <a:t>George Bernard Shaw</a:t>
            </a:r>
            <a:endParaRPr lang="pt-BR" dirty="0"/>
          </a:p>
          <a:p>
            <a:endParaRPr lang="pt-BR" dirty="0"/>
          </a:p>
          <a:p>
            <a:r>
              <a:rPr lang="en-US" dirty="0" err="1"/>
              <a:t>Pessoas</a:t>
            </a:r>
            <a:r>
              <a:rPr lang="en-US" dirty="0"/>
              <a:t> com </a:t>
            </a:r>
            <a:r>
              <a:rPr lang="en-US" i="1" dirty="0"/>
              <a:t>Growth mindset </a:t>
            </a:r>
            <a:r>
              <a:rPr lang="en-US" dirty="0" err="1"/>
              <a:t>estão</a:t>
            </a:r>
            <a:r>
              <a:rPr lang="en-US" dirty="0"/>
              <a:t> mais </a:t>
            </a:r>
            <a:r>
              <a:rPr lang="en-US" dirty="0" err="1"/>
              <a:t>propensas</a:t>
            </a:r>
            <a:r>
              <a:rPr lang="en-US" dirty="0"/>
              <a:t> a:</a:t>
            </a:r>
          </a:p>
          <a:p>
            <a:pPr lvl="1"/>
            <a:r>
              <a:rPr lang="en-US" dirty="0"/>
              <a:t>Ver </a:t>
            </a:r>
            <a:r>
              <a:rPr lang="en-US" dirty="0" err="1"/>
              <a:t>desafios</a:t>
            </a:r>
            <a:r>
              <a:rPr lang="en-US" dirty="0"/>
              <a:t> e </a:t>
            </a:r>
            <a:r>
              <a:rPr lang="en-US" dirty="0" err="1"/>
              <a:t>falhas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oportunidades</a:t>
            </a:r>
            <a:r>
              <a:rPr lang="en-US" dirty="0"/>
              <a:t> de </a:t>
            </a:r>
            <a:r>
              <a:rPr lang="en-US" dirty="0" err="1"/>
              <a:t>crescimento</a:t>
            </a:r>
            <a:r>
              <a:rPr lang="en-US" dirty="0"/>
              <a:t> e </a:t>
            </a:r>
            <a:r>
              <a:rPr lang="en-US" dirty="0" err="1"/>
              <a:t>adotar</a:t>
            </a:r>
            <a:r>
              <a:rPr lang="en-US" dirty="0"/>
              <a:t> feedback</a:t>
            </a:r>
          </a:p>
          <a:p>
            <a:pPr lvl="2"/>
            <a:r>
              <a:rPr lang="en-US" dirty="0"/>
              <a:t>Tyler Folkman (https://towardsdatascience.com/standing-out-in-a-sea-of-data-scientists-c82e42a1e62b)</a:t>
            </a:r>
          </a:p>
          <a:p>
            <a:r>
              <a:rPr lang="pt-BR" i="1" dirty="0"/>
              <a:t>Growth </a:t>
            </a:r>
            <a:r>
              <a:rPr lang="pt-BR" i="1" dirty="0" err="1"/>
              <a:t>mindset</a:t>
            </a:r>
            <a:r>
              <a:rPr lang="pt-BR" i="1" dirty="0"/>
              <a:t> </a:t>
            </a:r>
            <a:r>
              <a:rPr lang="pt-BR" dirty="0"/>
              <a:t>é um dos atributos vitais de gerentes eficazes</a:t>
            </a:r>
          </a:p>
          <a:p>
            <a:pPr lvl="1"/>
            <a:r>
              <a:rPr lang="pt-BR" dirty="0"/>
              <a:t>Project </a:t>
            </a:r>
            <a:r>
              <a:rPr lang="pt-BR" dirty="0" err="1"/>
              <a:t>Oxygen</a:t>
            </a:r>
            <a:r>
              <a:rPr lang="pt-BR" dirty="0"/>
              <a:t> (Google)</a:t>
            </a:r>
          </a:p>
          <a:p>
            <a:pPr lvl="2"/>
            <a:r>
              <a:rPr lang="pt-BR" dirty="0"/>
              <a:t>https://www.inc.com/michael-schneider/googles-best-managers-have-growth-mindsets-not-fixed-mindsets-heres-how-to-tell-difference.html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A245A1-8464-4A6A-BD46-BE8A9D096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642" y="22226"/>
            <a:ext cx="2112132" cy="211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65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A77EC-6F71-46B8-92C4-41AB5CEE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Capacitando-se em TI com eficiência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872E-1291-4864-8067-43408F6E2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8468"/>
            <a:ext cx="12374879" cy="6231207"/>
          </a:xfrm>
        </p:spPr>
        <p:txBody>
          <a:bodyPr>
            <a:normAutofit/>
          </a:bodyPr>
          <a:lstStyle/>
          <a:p>
            <a:r>
              <a:rPr lang="pt-BR" dirty="0"/>
              <a:t>Recomendações pedagógicas</a:t>
            </a:r>
          </a:p>
          <a:p>
            <a:pPr lvl="1"/>
            <a:r>
              <a:rPr lang="pt-BR" dirty="0"/>
              <a:t>Meta: tornar-se independente/autossuficiente em TI. </a:t>
            </a:r>
          </a:p>
          <a:p>
            <a:pPr lvl="2"/>
            <a:r>
              <a:rPr lang="pt-BR" dirty="0"/>
              <a:t>Descobrir a solução para os seus próprios problemas sozinho. Lendo e buscando alternativas.</a:t>
            </a:r>
          </a:p>
          <a:p>
            <a:r>
              <a:rPr lang="pt-BR" dirty="0"/>
              <a:t>Não existe gene da TI. </a:t>
            </a:r>
          </a:p>
          <a:p>
            <a:pPr lvl="1"/>
            <a:r>
              <a:rPr lang="pt-BR" dirty="0"/>
              <a:t>Essa habilidade pode ser aprendida e melhorada.</a:t>
            </a:r>
          </a:p>
          <a:p>
            <a:r>
              <a:rPr lang="pt-BR" dirty="0"/>
              <a:t>Inglês (e Português)</a:t>
            </a:r>
          </a:p>
          <a:p>
            <a:pPr lvl="1"/>
            <a:r>
              <a:rPr lang="pt-BR" dirty="0"/>
              <a:t>Vocabulário </a:t>
            </a:r>
          </a:p>
          <a:p>
            <a:pPr lvl="2"/>
            <a:r>
              <a:rPr lang="pt-BR" dirty="0"/>
              <a:t>aprender língua / linguagem de programação</a:t>
            </a:r>
          </a:p>
          <a:p>
            <a:pPr lvl="1"/>
            <a:r>
              <a:rPr lang="pt-BR" dirty="0"/>
              <a:t>Aprender a se expressar </a:t>
            </a:r>
          </a:p>
          <a:p>
            <a:pPr lvl="2"/>
            <a:r>
              <a:rPr lang="pt-BR" dirty="0"/>
              <a:t>buscar aprender os termos exatos</a:t>
            </a:r>
          </a:p>
          <a:p>
            <a:r>
              <a:rPr lang="pt-BR" dirty="0"/>
              <a:t>Comportamentos / atitudes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72813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F36BCE7-CF68-4186-9EB5-D3990492D817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29138</TotalTime>
  <Words>1237</Words>
  <Application>Microsoft Office PowerPoint</Application>
  <PresentationFormat>Custom</PresentationFormat>
  <Paragraphs>205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Arial</vt:lpstr>
      <vt:lpstr>Calibri</vt:lpstr>
      <vt:lpstr>Calibri Light</vt:lpstr>
      <vt:lpstr>Courier New</vt:lpstr>
      <vt:lpstr>Source Code Pro</vt:lpstr>
      <vt:lpstr>Source Sans Pro</vt:lpstr>
      <vt:lpstr>Source Sans Pro Black</vt:lpstr>
      <vt:lpstr>Source Sans Pro Light</vt:lpstr>
      <vt:lpstr>Source Sans Pro Semibold</vt:lpstr>
      <vt:lpstr>Symbol</vt:lpstr>
      <vt:lpstr>Wingdings</vt:lpstr>
      <vt:lpstr>Personalizar design</vt:lpstr>
      <vt:lpstr>Tema do Office</vt:lpstr>
      <vt:lpstr>Introdução a Programação em Python</vt:lpstr>
      <vt:lpstr>Apresentação Pessoal</vt:lpstr>
      <vt:lpstr>Links Importantes</vt:lpstr>
      <vt:lpstr>Devo aprender a programar? Será útil no futuro?</vt:lpstr>
      <vt:lpstr>Aprender vs Deixar de Aprender</vt:lpstr>
      <vt:lpstr>Analogia de Aprendizado com Perna-de-pau </vt:lpstr>
      <vt:lpstr>Estruturas de Fluxo Alternativo: Condicional</vt:lpstr>
      <vt:lpstr>Fluxograma</vt:lpstr>
      <vt:lpstr>Estruturas de Fluxo Alternativo: Condicional</vt:lpstr>
      <vt:lpstr>Fluxograma</vt:lpstr>
      <vt:lpstr>Estruturas de Fluxo Alternativo: Loop/Laço Enquanto</vt:lpstr>
      <vt:lpstr>Estruturas de Fluxo Alternativo: Loop/Laço Enquanto</vt:lpstr>
      <vt:lpstr>Pseudo-código (Código em Linguagem Natural)</vt:lpstr>
      <vt:lpstr>Laço Enquato (while) em Python</vt:lpstr>
      <vt:lpstr>Estruturas de Fluxo Alternativo: Loop/Laço Enquanto</vt:lpstr>
      <vt:lpstr>Estruturas de Fluxo Alternativo: Loop/Laço Enquanto</vt:lpstr>
      <vt:lpstr>Loop/Laço "Para cada" (for)</vt:lpstr>
      <vt:lpstr>Loop for em python: O que esse programa faz ?</vt:lpstr>
      <vt:lpstr>Loop for em python: O que esse programa faz ?</vt:lpstr>
      <vt:lpstr>Loop for com condicional: O que esse programa faz ?</vt:lpstr>
      <vt:lpstr>Loop for com condicional e operador lógico E</vt:lpstr>
      <vt:lpstr>Loop for com condicional, operador lógico E e acumulador</vt:lpstr>
      <vt:lpstr>Cadernos (notebooks) Colab desse curso</vt:lpstr>
      <vt:lpstr>Comece por onde lhe convier</vt:lpstr>
      <vt:lpstr>Exercícios de Lógica de Programação</vt:lpstr>
      <vt:lpstr>Bibliografia do Curso</vt:lpstr>
      <vt:lpstr>Quando você pensar que não vale a pena experimentar</vt:lpstr>
      <vt:lpstr>Porque agregar novas habilidades (capacitação)</vt:lpstr>
      <vt:lpstr>Growth Mindset</vt:lpstr>
      <vt:lpstr>Growth Mindset</vt:lpstr>
      <vt:lpstr>Capacitando-se em TI com eficiência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subject/>
  <dc:creator>alexlopespereira alexlopespereira</dc:creator>
  <dc:description/>
  <cp:lastModifiedBy>ALEX LOPES  PEREIRA</cp:lastModifiedBy>
  <cp:revision>884</cp:revision>
  <dcterms:created xsi:type="dcterms:W3CDTF">2018-04-21T22:11:37Z</dcterms:created>
  <dcterms:modified xsi:type="dcterms:W3CDTF">2026-02-21T01:11:51Z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</Properties>
</file>